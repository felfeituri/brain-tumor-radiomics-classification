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10287000" cx="18288000"/>
  <p:notesSz cx="6858000" cy="9144000"/>
  <p:embeddedFontLst>
    <p:embeddedFont>
      <p:font typeface="League Spartan"/>
      <p:regular r:id="rId34"/>
      <p:bold r:id="rId35"/>
    </p:embeddedFont>
    <p:embeddedFont>
      <p:font typeface="Poppins"/>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0" roundtripDataSignature="AMtx7mht47ZKe61wG/WvTQTbDnN/L+iC+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E100FA3-2363-4569-B0D9-8915101A3F80}">
  <a:tblStyle styleId="{DE100FA3-2363-4569-B0D9-8915101A3F80}" styleName="Table_0">
    <a:wholeTbl>
      <a:tcTxStyle>
        <a:font>
          <a:latin typeface="Arial"/>
          <a:ea typeface="Arial"/>
          <a:cs typeface="Arial"/>
        </a:font>
        <a:srgbClr val="000000"/>
      </a:tcTxStyle>
      <a:tcStyle>
        <a:tcBdr>
          <a:left>
            <a:ln cap="flat" cmpd="sng">
              <a:solidFill>
                <a:srgbClr val="808080"/>
              </a:solidFill>
              <a:prstDash val="solid"/>
              <a:round/>
              <a:headEnd len="sm" w="sm" type="none"/>
              <a:tailEnd len="sm" w="sm" type="none"/>
            </a:ln>
          </a:left>
          <a:right>
            <a:ln cap="flat" cmpd="sng">
              <a:solidFill>
                <a:srgbClr val="808080"/>
              </a:solidFill>
              <a:prstDash val="solid"/>
              <a:round/>
              <a:headEnd len="sm" w="sm" type="none"/>
              <a:tailEnd len="sm" w="sm" type="none"/>
            </a:ln>
          </a:right>
          <a:top>
            <a:ln cap="flat" cmpd="sng">
              <a:solidFill>
                <a:srgbClr val="808080"/>
              </a:solidFill>
              <a:prstDash val="solid"/>
              <a:round/>
              <a:headEnd len="sm" w="sm" type="none"/>
              <a:tailEnd len="sm" w="sm" type="none"/>
            </a:ln>
          </a:top>
          <a:bottom>
            <a:ln cap="flat" cmpd="sng">
              <a:solidFill>
                <a:srgbClr val="808080"/>
              </a:solidFill>
              <a:prstDash val="solid"/>
              <a:round/>
              <a:headEnd len="sm" w="sm" type="none"/>
              <a:tailEnd len="sm" w="sm" type="none"/>
            </a:ln>
          </a:bottom>
          <a:insideH>
            <a:ln cap="flat" cmpd="sng">
              <a:solidFill>
                <a:srgbClr val="808080"/>
              </a:solidFill>
              <a:prstDash val="solid"/>
              <a:round/>
              <a:headEnd len="sm" w="sm" type="none"/>
              <a:tailEnd len="sm" w="sm" type="none"/>
            </a:ln>
          </a:insideH>
          <a:insideV>
            <a:ln cap="flat" cmpd="sng">
              <a:solidFill>
                <a:srgbClr val="80808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LeagueSpartan-bold.fntdata"/><Relationship Id="rId12" Type="http://schemas.openxmlformats.org/officeDocument/2006/relationships/slide" Target="slides/slide6.xml"/><Relationship Id="rId34" Type="http://schemas.openxmlformats.org/officeDocument/2006/relationships/font" Target="fonts/LeagueSpartan-regular.fntdata"/><Relationship Id="rId15" Type="http://schemas.openxmlformats.org/officeDocument/2006/relationships/slide" Target="slides/slide9.xml"/><Relationship Id="rId37" Type="http://schemas.openxmlformats.org/officeDocument/2006/relationships/font" Target="fonts/Poppins-bold.fntdata"/><Relationship Id="rId14" Type="http://schemas.openxmlformats.org/officeDocument/2006/relationships/slide" Target="slides/slide8.xml"/><Relationship Id="rId36" Type="http://schemas.openxmlformats.org/officeDocument/2006/relationships/font" Target="fonts/Poppins-regular.fntdata"/><Relationship Id="rId17" Type="http://schemas.openxmlformats.org/officeDocument/2006/relationships/slide" Target="slides/slide11.xml"/><Relationship Id="rId39" Type="http://schemas.openxmlformats.org/officeDocument/2006/relationships/font" Target="fonts/Poppins-boldItalic.fntdata"/><Relationship Id="rId16" Type="http://schemas.openxmlformats.org/officeDocument/2006/relationships/slide" Target="slides/slide10.xml"/><Relationship Id="rId38" Type="http://schemas.openxmlformats.org/officeDocument/2006/relationships/font" Target="fonts/Poppins-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400"/>
              <a:t>"</a:t>
            </a:r>
            <a:r>
              <a:rPr b="1" lang="en-US" sz="1400"/>
              <a:t>Gliomas</a:t>
            </a:r>
            <a:r>
              <a:rPr lang="en-US" sz="1400"/>
              <a:t> are the </a:t>
            </a:r>
            <a:r>
              <a:rPr b="1" lang="en-US" sz="1400"/>
              <a:t>most prevalent type </a:t>
            </a:r>
            <a:r>
              <a:rPr lang="en-US" sz="1400"/>
              <a:t>of malignant primary brain tumors, originating from glial cells that support neuronal function. </a:t>
            </a:r>
            <a:endParaRPr sz="1400"/>
          </a:p>
          <a:p>
            <a:pPr indent="0" lvl="0" marL="0" rtl="0" algn="l">
              <a:lnSpc>
                <a:spcPct val="115000"/>
              </a:lnSpc>
              <a:spcBef>
                <a:spcPts val="1200"/>
              </a:spcBef>
              <a:spcAft>
                <a:spcPts val="0"/>
              </a:spcAft>
              <a:buClr>
                <a:schemeClr val="dk1"/>
              </a:buClr>
              <a:buSzPts val="1100"/>
              <a:buFont typeface="Arial"/>
              <a:buNone/>
            </a:pPr>
            <a:r>
              <a:rPr lang="en-US" sz="1400"/>
              <a:t>Subclassification of these tumors is based on</a:t>
            </a:r>
            <a:r>
              <a:rPr b="1" lang="en-US" sz="1400"/>
              <a:t> both histopathological features and molecular biomarkers, </a:t>
            </a:r>
            <a:r>
              <a:rPr lang="en-US" sz="1400"/>
              <a:t>including mutations and chromosomal alterations.</a:t>
            </a:r>
            <a:endParaRPr sz="1400"/>
          </a:p>
          <a:p>
            <a:pPr indent="0" lvl="0" marL="0" rtl="0" algn="l">
              <a:lnSpc>
                <a:spcPct val="115000"/>
              </a:lnSpc>
              <a:spcBef>
                <a:spcPts val="1200"/>
              </a:spcBef>
              <a:spcAft>
                <a:spcPts val="0"/>
              </a:spcAft>
              <a:buClr>
                <a:schemeClr val="dk1"/>
              </a:buClr>
              <a:buSzPts val="1100"/>
              <a:buFont typeface="Arial"/>
              <a:buNone/>
            </a:pPr>
            <a:r>
              <a:rPr b="1" lang="en-US" sz="1400"/>
              <a:t>Accurate subtype classification</a:t>
            </a:r>
            <a:r>
              <a:rPr lang="en-US" sz="1400"/>
              <a:t> is critical for </a:t>
            </a:r>
            <a:r>
              <a:rPr b="1" lang="en-US" sz="1400"/>
              <a:t>informing therapeutic decisions and predicting clinical outcomes.</a:t>
            </a:r>
            <a:r>
              <a:rPr lang="en-US" sz="1400"/>
              <a:t> As such, developing reliable tools for</a:t>
            </a:r>
            <a:r>
              <a:rPr b="1" lang="en-US" sz="1400"/>
              <a:t> distinguishing between glioma subtypes has significant implications</a:t>
            </a:r>
            <a:r>
              <a:rPr lang="en-US" sz="1400"/>
              <a:t> for </a:t>
            </a:r>
            <a:r>
              <a:rPr b="1" lang="en-US" sz="1400"/>
              <a:t>personalized treatment planning and prognosis</a:t>
            </a:r>
            <a:endParaRPr b="1" sz="1400"/>
          </a:p>
          <a:p>
            <a:pPr indent="0" lvl="0" marL="0" rtl="0" algn="l">
              <a:spcBef>
                <a:spcPts val="1200"/>
              </a:spcBef>
              <a:spcAft>
                <a:spcPts val="0"/>
              </a:spcAft>
              <a:buNone/>
            </a:pPr>
            <a:r>
              <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500">
                <a:solidFill>
                  <a:schemeClr val="dk1"/>
                </a:solidFill>
              </a:rPr>
              <a:t>GBM</a:t>
            </a:r>
            <a:r>
              <a:rPr lang="en-US" sz="1500">
                <a:solidFill>
                  <a:schemeClr val="dk1"/>
                </a:solidFill>
              </a:rPr>
              <a:t> is the most aggressive, with poor survival despite treatment.</a:t>
            </a:r>
            <a:endParaRPr sz="1500">
              <a:solidFill>
                <a:schemeClr val="dk1"/>
              </a:solidFill>
            </a:endParaRPr>
          </a:p>
          <a:p>
            <a:pPr indent="0" lvl="0" marL="0" rtl="0" algn="l">
              <a:spcBef>
                <a:spcPts val="0"/>
              </a:spcBef>
              <a:spcAft>
                <a:spcPts val="0"/>
              </a:spcAft>
              <a:buClr>
                <a:schemeClr val="dk1"/>
              </a:buClr>
              <a:buSzPts val="1100"/>
              <a:buFont typeface="Arial"/>
              <a:buNone/>
            </a:pPr>
            <a:r>
              <a:rPr b="1" lang="en-US" sz="1500">
                <a:solidFill>
                  <a:schemeClr val="dk1"/>
                </a:solidFill>
              </a:rPr>
              <a:t>Astrocytoma</a:t>
            </a:r>
            <a:r>
              <a:rPr lang="en-US" sz="1500">
                <a:solidFill>
                  <a:schemeClr val="dk1"/>
                </a:solidFill>
              </a:rPr>
              <a:t>, especially IDH-mutant, grows more slowly and has a better prognosis.</a:t>
            </a:r>
            <a:endParaRPr sz="1500">
              <a:solidFill>
                <a:schemeClr val="dk1"/>
              </a:solidFill>
            </a:endParaRPr>
          </a:p>
          <a:p>
            <a:pPr indent="0" lvl="0" marL="0" rtl="0" algn="l">
              <a:spcBef>
                <a:spcPts val="0"/>
              </a:spcBef>
              <a:spcAft>
                <a:spcPts val="0"/>
              </a:spcAft>
              <a:buNone/>
            </a:pPr>
            <a:r>
              <a:rPr b="1" lang="en-US" sz="1500">
                <a:solidFill>
                  <a:schemeClr val="dk1"/>
                </a:solidFill>
              </a:rPr>
              <a:t>Oligodendroglioma</a:t>
            </a:r>
            <a:r>
              <a:rPr lang="en-US" sz="1500">
                <a:solidFill>
                  <a:schemeClr val="dk1"/>
                </a:solidFill>
              </a:rPr>
              <a:t> is typically slow-growing and responds well to therapy, with the best overall outcome among the three.</a:t>
            </a:r>
            <a:endParaRPr sz="1500"/>
          </a:p>
        </p:txBody>
      </p:sp>
      <p:sp>
        <p:nvSpPr>
          <p:cNvPr id="105" name="Google Shape;10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30200" lvl="0" marL="457200" rtl="0" algn="l">
              <a:lnSpc>
                <a:spcPct val="140045"/>
              </a:lnSpc>
              <a:spcBef>
                <a:spcPts val="1000"/>
              </a:spcBef>
              <a:spcAft>
                <a:spcPts val="0"/>
              </a:spcAft>
              <a:buClr>
                <a:schemeClr val="dk1"/>
              </a:buClr>
              <a:buSzPts val="1600"/>
              <a:buFont typeface="Poppins"/>
              <a:buChar char="●"/>
            </a:pPr>
            <a:r>
              <a:t/>
            </a:r>
            <a:endParaRPr sz="1600"/>
          </a:p>
        </p:txBody>
      </p:sp>
      <p:sp>
        <p:nvSpPr>
          <p:cNvPr id="119" name="Google Shape;11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Stephen</a:t>
            </a:r>
            <a:endParaRPr/>
          </a:p>
        </p:txBody>
      </p:sp>
      <p:sp>
        <p:nvSpPr>
          <p:cNvPr id="127" name="Google Shape;12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1200">
                <a:solidFill>
                  <a:schemeClr val="dk1"/>
                </a:solidFill>
              </a:rPr>
              <a:t>Austin</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200">
                <a:solidFill>
                  <a:schemeClr val="dk1"/>
                </a:solidFill>
              </a:rPr>
              <a:t>The One-vs-Rest strategy is a decomposition method that trains a separate binary classifier for each class, allowing each model to learn to distinguish one specific tumor type from the rest. During prediction, each classifier outputs a probability score, and the final class label is selected based on the highest probability across all models [9]. This modular approach allowed us to tailor the choice of algorithm to the characteristics of each tumor subtype and interpret feature importance independently per class.</a:t>
            </a:r>
            <a:endParaRPr/>
          </a:p>
        </p:txBody>
      </p:sp>
      <p:sp>
        <p:nvSpPr>
          <p:cNvPr id="141" name="Google Shape;14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Austin</a:t>
            </a:r>
            <a:endParaRPr/>
          </a:p>
        </p:txBody>
      </p:sp>
      <p:sp>
        <p:nvSpPr>
          <p:cNvPr id="151" name="Google Shape;15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0504478cd7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Austin</a:t>
            </a:r>
            <a:endParaRPr/>
          </a:p>
        </p:txBody>
      </p:sp>
      <p:sp>
        <p:nvSpPr>
          <p:cNvPr id="173" name="Google Shape;173;g30504478cd7_0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0504478cd7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Austin</a:t>
            </a:r>
            <a:endParaRPr/>
          </a:p>
        </p:txBody>
      </p:sp>
      <p:sp>
        <p:nvSpPr>
          <p:cNvPr id="185" name="Google Shape;185;g30504478cd7_0_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0504478cd7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Austin</a:t>
            </a:r>
            <a:endParaRPr/>
          </a:p>
        </p:txBody>
      </p:sp>
      <p:sp>
        <p:nvSpPr>
          <p:cNvPr id="197" name="Google Shape;197;g30504478cd7_0_1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0504478cd7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Austin</a:t>
            </a:r>
            <a:endParaRPr/>
          </a:p>
        </p:txBody>
      </p:sp>
      <p:sp>
        <p:nvSpPr>
          <p:cNvPr id="209" name="Google Shape;209;g30504478cd7_0_1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0504478cd7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Austin</a:t>
            </a:r>
            <a:endParaRPr/>
          </a:p>
        </p:txBody>
      </p:sp>
      <p:sp>
        <p:nvSpPr>
          <p:cNvPr id="222" name="Google Shape;222;g30504478cd7_0_1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0504478cd7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Austin</a:t>
            </a:r>
            <a:endParaRPr/>
          </a:p>
        </p:txBody>
      </p:sp>
      <p:sp>
        <p:nvSpPr>
          <p:cNvPr id="234" name="Google Shape;234;g30504478cd7_0_1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0504478cd7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Austin</a:t>
            </a:r>
            <a:endParaRPr/>
          </a:p>
        </p:txBody>
      </p:sp>
      <p:sp>
        <p:nvSpPr>
          <p:cNvPr id="246" name="Google Shape;246;g30504478cd7_0_1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0504478cd7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natalie</a:t>
            </a:r>
            <a:endParaRPr/>
          </a:p>
          <a:p>
            <a:pPr indent="0" lvl="0" marL="0" rtl="0" algn="l">
              <a:lnSpc>
                <a:spcPct val="115000"/>
              </a:lnSpc>
              <a:spcBef>
                <a:spcPts val="0"/>
              </a:spcBef>
              <a:spcAft>
                <a:spcPts val="0"/>
              </a:spcAft>
              <a:buNone/>
            </a:pPr>
            <a:r>
              <a:rPr lang="en-US" sz="1200">
                <a:solidFill>
                  <a:schemeClr val="dk1"/>
                </a:solidFill>
              </a:rPr>
              <a:t>based on cross-validation performance of tcga dataset - base classifiers - </a:t>
            </a:r>
            <a:r>
              <a:rPr lang="en-US" sz="1200">
                <a:solidFill>
                  <a:schemeClr val="dk1"/>
                </a:solidFill>
              </a:rPr>
              <a:t>distinguishing its class for others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200">
                <a:solidFill>
                  <a:schemeClr val="dk1"/>
                </a:solidFill>
              </a:rPr>
              <a:t>three different models - xgboosrt, svm, </a:t>
            </a:r>
            <a:r>
              <a:rPr lang="en-US" sz="1200">
                <a:solidFill>
                  <a:schemeClr val="dk1"/>
                </a:solidFill>
              </a:rPr>
              <a:t>gradient</a:t>
            </a:r>
            <a:r>
              <a:rPr lang="en-US" sz="1200">
                <a:solidFill>
                  <a:schemeClr val="dk1"/>
                </a:solidFill>
              </a:rPr>
              <a:t> </a:t>
            </a:r>
            <a:endParaRPr sz="1200">
              <a:solidFill>
                <a:schemeClr val="dk1"/>
              </a:solidFill>
            </a:endParaRPr>
          </a:p>
          <a:p>
            <a:pPr indent="0" lvl="0" marL="0" rtl="0" algn="l">
              <a:spcBef>
                <a:spcPts val="0"/>
              </a:spcBef>
              <a:spcAft>
                <a:spcPts val="1200"/>
              </a:spcAft>
              <a:buClr>
                <a:schemeClr val="dk1"/>
              </a:buClr>
              <a:buSzPts val="1100"/>
              <a:buFont typeface="Arial"/>
              <a:buNone/>
            </a:pPr>
            <a:r>
              <a:rPr lang="en-US" sz="1200">
                <a:solidFill>
                  <a:schemeClr val="dk1"/>
                </a:solidFill>
              </a:rPr>
              <a:t>XGBoost achieved the highest F1 score (0.868 ± 0.028) for GBM, indicating strong performance in capturing the dominant class. Astrocytoma's Gradient Boosting classifier achieved the highest accuracy (0.866 ± 0.048), but with lower recall (0.370 ± 0.218). The Oligodendroglioma SVM classifier performed moderately across all metrics. The F1 scores for each classifier, in order of performance, were: GBM (0.868), Oligodendroglioma (0.489), and Astrocytoma (0.414).</a:t>
            </a:r>
            <a:endParaRPr/>
          </a:p>
        </p:txBody>
      </p:sp>
      <p:sp>
        <p:nvSpPr>
          <p:cNvPr id="258" name="Google Shape;258;g30504478cd7_0_1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0504478cd7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natalie</a:t>
            </a:r>
            <a:endParaRPr/>
          </a:p>
          <a:p>
            <a:pPr indent="0" lvl="0" marL="0" rtl="0" algn="l">
              <a:lnSpc>
                <a:spcPct val="115000"/>
              </a:lnSpc>
              <a:spcBef>
                <a:spcPts val="0"/>
              </a:spcBef>
              <a:spcAft>
                <a:spcPts val="0"/>
              </a:spcAft>
              <a:buNone/>
            </a:pPr>
            <a:r>
              <a:rPr lang="en-US" sz="1200">
                <a:solidFill>
                  <a:schemeClr val="dk1"/>
                </a:solidFill>
              </a:rPr>
              <a:t>This table presents the performance metrics of the one-vs-rest classifiers tested exclusively on the REMBRANDT dataset after being trained on TCGA data. </a:t>
            </a:r>
            <a:endParaRPr sz="1200">
              <a:solidFill>
                <a:schemeClr val="dk1"/>
              </a:solidFill>
            </a:endParaRPr>
          </a:p>
          <a:p>
            <a:pPr indent="0" lvl="0" marL="0" rtl="0" algn="l">
              <a:lnSpc>
                <a:spcPct val="115000"/>
              </a:lnSpc>
              <a:spcBef>
                <a:spcPts val="0"/>
              </a:spcBef>
              <a:spcAft>
                <a:spcPts val="0"/>
              </a:spcAft>
              <a:buNone/>
            </a:pPr>
            <a:r>
              <a:rPr lang="en-US" sz="1200">
                <a:solidFill>
                  <a:schemeClr val="dk1"/>
                </a:solidFill>
              </a:rPr>
              <a:t>The overall accuracy on the test set was 0.43, and the weighted average F1-score, which accounts for class imbalance, was 0.38. </a:t>
            </a:r>
            <a:r>
              <a:rPr lang="en-US" sz="1200">
                <a:solidFill>
                  <a:schemeClr val="dk1"/>
                </a:solidFill>
              </a:rPr>
              <a:t>The macro average F1-score across all classes, regardless of support, was 0.31, highlighting the uneven performance across tumor subtypes. </a:t>
            </a:r>
            <a:r>
              <a:rPr lang="en-US" sz="1200">
                <a:solidFill>
                  <a:schemeClr val="dk1"/>
                </a:solidFill>
              </a:rPr>
              <a:t>Among the three tumor classes, Astrocytoma had the highest individual F1-score (0.54) and recall (0.61), then GBM, then oligo </a:t>
            </a:r>
            <a:endParaRPr sz="1200">
              <a:solidFill>
                <a:schemeClr val="dk1"/>
              </a:solidFill>
            </a:endParaRPr>
          </a:p>
          <a:p>
            <a:pPr indent="0" lvl="0" marL="0" rtl="0" algn="l">
              <a:lnSpc>
                <a:spcPct val="115000"/>
              </a:lnSpc>
              <a:spcBef>
                <a:spcPts val="0"/>
              </a:spcBef>
              <a:spcAft>
                <a:spcPts val="0"/>
              </a:spcAft>
              <a:buNone/>
            </a:pPr>
            <a:r>
              <a:rPr b="1" lang="en-US">
                <a:solidFill>
                  <a:schemeClr val="dk1"/>
                </a:solidFill>
              </a:rPr>
              <a:t>Precision = 0.00</a:t>
            </a:r>
            <a:r>
              <a:rPr lang="en-US">
                <a:solidFill>
                  <a:schemeClr val="dk1"/>
                </a:solidFill>
              </a:rPr>
              <a:t>: None of the predicted samples were classified as Oligodendroglioma.</a:t>
            </a:r>
            <a:br>
              <a:rPr lang="en-US">
                <a:solidFill>
                  <a:schemeClr val="dk1"/>
                </a:solidFill>
              </a:rPr>
            </a:br>
            <a:endParaRPr>
              <a:solidFill>
                <a:schemeClr val="dk1"/>
              </a:solidFill>
            </a:endParaRPr>
          </a:p>
          <a:p>
            <a:pPr indent="0" lvl="0" marL="0" rtl="0" algn="l">
              <a:lnSpc>
                <a:spcPct val="115000"/>
              </a:lnSpc>
              <a:spcBef>
                <a:spcPts val="0"/>
              </a:spcBef>
              <a:spcAft>
                <a:spcPts val="0"/>
              </a:spcAft>
              <a:buNone/>
            </a:pPr>
            <a:r>
              <a:rPr b="1" lang="en-US">
                <a:solidFill>
                  <a:schemeClr val="dk1"/>
                </a:solidFill>
              </a:rPr>
              <a:t>Recall = 0.00</a:t>
            </a:r>
            <a:r>
              <a:rPr lang="en-US">
                <a:solidFill>
                  <a:schemeClr val="dk1"/>
                </a:solidFill>
              </a:rPr>
              <a:t>: The model </a:t>
            </a:r>
            <a:r>
              <a:rPr b="1" lang="en-US">
                <a:solidFill>
                  <a:schemeClr val="dk1"/>
                </a:solidFill>
              </a:rPr>
              <a:t>failed to correctly identify any</a:t>
            </a:r>
            <a:r>
              <a:rPr lang="en-US">
                <a:solidFill>
                  <a:schemeClr val="dk1"/>
                </a:solidFill>
              </a:rPr>
              <a:t> of the 12 actual Oligodendroglioma cases.</a:t>
            </a:r>
            <a:br>
              <a:rPr lang="en-US">
                <a:solidFill>
                  <a:schemeClr val="dk1"/>
                </a:solidFill>
              </a:rPr>
            </a:br>
            <a:endParaRPr>
              <a:solidFill>
                <a:schemeClr val="dk1"/>
              </a:solidFill>
            </a:endParaRPr>
          </a:p>
          <a:p>
            <a:pPr indent="0" lvl="0" marL="0" rtl="0" algn="l">
              <a:lnSpc>
                <a:spcPct val="115000"/>
              </a:lnSpc>
              <a:spcBef>
                <a:spcPts val="0"/>
              </a:spcBef>
              <a:spcAft>
                <a:spcPts val="0"/>
              </a:spcAft>
              <a:buNone/>
            </a:pPr>
            <a:r>
              <a:rPr b="1" lang="en-US">
                <a:solidFill>
                  <a:schemeClr val="dk1"/>
                </a:solidFill>
              </a:rPr>
              <a:t>F1 Score = 0.00</a:t>
            </a:r>
            <a:r>
              <a:rPr lang="en-US">
                <a:solidFill>
                  <a:schemeClr val="dk1"/>
                </a:solidFill>
              </a:rPr>
              <a:t>: Since both precision and recall are 0, the F1 score (their harmonic mean) is also 0. This reflects a complete classification failure for this class.</a:t>
            </a:r>
            <a:endParaRPr>
              <a:solidFill>
                <a:schemeClr val="dk1"/>
              </a:solidFill>
            </a:endParaRPr>
          </a:p>
          <a:p>
            <a:pPr indent="0" lvl="0" marL="0" rtl="0" algn="l">
              <a:lnSpc>
                <a:spcPct val="115000"/>
              </a:lnSpc>
              <a:spcBef>
                <a:spcPts val="0"/>
              </a:spcBef>
              <a:spcAft>
                <a:spcPts val="0"/>
              </a:spcAft>
              <a:buNone/>
            </a:pPr>
            <a:r>
              <a:rPr b="1" lang="en-US">
                <a:solidFill>
                  <a:schemeClr val="dk1"/>
                </a:solidFill>
              </a:rPr>
              <a:t>Specificity = 1.00</a:t>
            </a:r>
            <a:r>
              <a:rPr lang="en-US">
                <a:solidFill>
                  <a:schemeClr val="dk1"/>
                </a:solidFill>
              </a:rPr>
              <a:t>: The model correctly identified </a:t>
            </a:r>
            <a:r>
              <a:rPr b="1" lang="en-US">
                <a:solidFill>
                  <a:schemeClr val="dk1"/>
                </a:solidFill>
              </a:rPr>
              <a:t>all non-Oligodendroglioma cases as not Oligodendroglioma</a:t>
            </a:r>
            <a:r>
              <a:rPr lang="en-US">
                <a:solidFill>
                  <a:schemeClr val="dk1"/>
                </a:solidFill>
              </a:rPr>
              <a:t>. In other words, there were </a:t>
            </a:r>
            <a:r>
              <a:rPr b="1" lang="en-US">
                <a:solidFill>
                  <a:schemeClr val="dk1"/>
                </a:solidFill>
              </a:rPr>
              <a:t>no false positives</a:t>
            </a:r>
            <a:r>
              <a:rPr lang="en-US">
                <a:solidFill>
                  <a:schemeClr val="dk1"/>
                </a:solidFill>
              </a:rPr>
              <a:t> for this class.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AUC -&gt; </a:t>
            </a:r>
            <a:r>
              <a:rPr lang="en-US">
                <a:solidFill>
                  <a:schemeClr val="dk1"/>
                </a:solidFill>
              </a:rPr>
              <a:t>oligo</a:t>
            </a:r>
            <a:r>
              <a:rPr lang="en-US">
                <a:solidFill>
                  <a:schemeClr val="dk1"/>
                </a:solidFill>
              </a:rPr>
              <a:t> did well </a:t>
            </a:r>
            <a:endParaRPr>
              <a:solidFill>
                <a:schemeClr val="dk1"/>
              </a:solidFill>
            </a:endParaRPr>
          </a:p>
        </p:txBody>
      </p:sp>
      <p:sp>
        <p:nvSpPr>
          <p:cNvPr id="271" name="Google Shape;271;g30504478cd7_0_1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0504478cd7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natalie</a:t>
            </a:r>
            <a:endParaRPr/>
          </a:p>
          <a:p>
            <a:pPr indent="0" lvl="0" marL="0" rtl="0" algn="l">
              <a:spcBef>
                <a:spcPts val="0"/>
              </a:spcBef>
              <a:spcAft>
                <a:spcPts val="0"/>
              </a:spcAft>
              <a:buNone/>
            </a:pPr>
            <a:r>
              <a:rPr lang="en-US" sz="1200">
                <a:solidFill>
                  <a:schemeClr val="dk1"/>
                </a:solidFill>
              </a:rPr>
              <a:t>This table summarizes the classification performance on the combined test dataset, highlighting the model’s accuracy of 0.60. Among individual classes, GBM achieved the highest F1-score of 0.74 with strong recall (0.83), while Oligodendroglioma performed the worst, with an F1-score of 0.20 due to very low recall (0.12), despite high specificity (0.971). Astrocytoma showed moderate performance, with balanced precision and recall, resulting in an F1-score of 0.40. The macro-averaged F1-score was 0.45, indicating variability across classes, whereas the weighted average F1-score, accounting for class imbalance, was 0.56. </a:t>
            </a:r>
            <a:endParaRPr/>
          </a:p>
        </p:txBody>
      </p:sp>
      <p:sp>
        <p:nvSpPr>
          <p:cNvPr id="284" name="Google Shape;284;g30504478cd7_0_2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0504478cd7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natalie</a:t>
            </a:r>
            <a:endParaRPr/>
          </a:p>
          <a:p>
            <a:pPr indent="0" lvl="0" marL="0" rtl="0" algn="l">
              <a:lnSpc>
                <a:spcPct val="115000"/>
              </a:lnSpc>
              <a:spcBef>
                <a:spcPts val="0"/>
              </a:spcBef>
              <a:spcAft>
                <a:spcPts val="0"/>
              </a:spcAft>
              <a:buClr>
                <a:schemeClr val="dk1"/>
              </a:buClr>
              <a:buSzPts val="1100"/>
              <a:buFont typeface="Arial"/>
              <a:buNone/>
            </a:pPr>
            <a:r>
              <a:rPr lang="en-US" sz="1200">
                <a:solidFill>
                  <a:schemeClr val="dk1"/>
                </a:solidFill>
              </a:rPr>
              <a:t>Figure 3 shows the One-vs-Rest confusion matrix on the combined test set. GBM was the most accurately predicted class, with 20 out of 24 cases correctly identified. </a:t>
            </a:r>
            <a:r>
              <a:rPr lang="en-US" sz="1200">
                <a:solidFill>
                  <a:schemeClr val="dk1"/>
                </a:solidFill>
              </a:rPr>
              <a:t>Misclassification was most pronounced for Oligodendroglioma and astro, which was often confused with GBM - true label others, classified instead as the other GBM.</a:t>
            </a:r>
            <a:r>
              <a:rPr lang="en-US" sz="1200">
                <a:solidFill>
                  <a:schemeClr val="dk1"/>
                </a:solidFill>
              </a:rPr>
              <a:t> reflecting class imbalance and possibly less distinctive radiomic features. </a:t>
            </a:r>
            <a:endParaRPr/>
          </a:p>
        </p:txBody>
      </p:sp>
      <p:sp>
        <p:nvSpPr>
          <p:cNvPr id="297" name="Google Shape;297;g30504478cd7_0_2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0504478cd7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natalie</a:t>
            </a:r>
            <a:endParaRPr/>
          </a:p>
          <a:p>
            <a:pPr indent="0" lvl="0" marL="0" rtl="0" algn="l">
              <a:lnSpc>
                <a:spcPct val="115000"/>
              </a:lnSpc>
              <a:spcBef>
                <a:spcPts val="0"/>
              </a:spcBef>
              <a:spcAft>
                <a:spcPts val="0"/>
              </a:spcAft>
              <a:buClr>
                <a:schemeClr val="dk1"/>
              </a:buClr>
              <a:buSzPts val="1100"/>
              <a:buFont typeface="Arial"/>
              <a:buNone/>
            </a:pPr>
            <a:r>
              <a:rPr lang="en-US" sz="1200">
                <a:solidFill>
                  <a:schemeClr val="dk1"/>
                </a:solidFill>
              </a:rPr>
              <a:t>Figure 4 displays the ROC curves for each class under the combined evaluation. GBM achieved the highest AUC (0.82), followed by Astrocytoma (0.70), and Oligodendroglioma (0.64). While Oligodendroglioma had a poor F1 score and was rarely predicted correctly, the ROC curve indicates that its model still assigned relatively higher probabilities to true positive cases. However, when all three models competed in the One-vs-Rest setup, Oligodendroglioma predictions were typically not the highest among the three, and therefore it was rarely selected as the final class label. This explains the discrepancy between its AUC and its low F1 performance.</a:t>
            </a:r>
            <a:endParaRPr/>
          </a:p>
        </p:txBody>
      </p:sp>
      <p:sp>
        <p:nvSpPr>
          <p:cNvPr id="310" name="Google Shape;310;g30504478cd7_0_2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0504478cd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Stephen</a:t>
            </a:r>
            <a:endParaRPr/>
          </a:p>
        </p:txBody>
      </p:sp>
      <p:sp>
        <p:nvSpPr>
          <p:cNvPr id="323" name="Google Shape;323;g30504478cd7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0504478cd7_2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Stephen</a:t>
            </a:r>
            <a:endParaRPr/>
          </a:p>
        </p:txBody>
      </p:sp>
      <p:sp>
        <p:nvSpPr>
          <p:cNvPr id="335" name="Google Shape;335;g30504478cd7_2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0504478cd7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sz="1400">
                <a:solidFill>
                  <a:schemeClr val="dk1"/>
                </a:solidFill>
              </a:rPr>
              <a:t>Glioblastoma</a:t>
            </a:r>
            <a:r>
              <a:rPr lang="en-US" sz="1400">
                <a:solidFill>
                  <a:schemeClr val="dk1"/>
                </a:solidFill>
              </a:rPr>
              <a:t> stands out because of </a:t>
            </a:r>
            <a:r>
              <a:rPr b="1" lang="en-US" sz="1400">
                <a:solidFill>
                  <a:schemeClr val="dk1"/>
                </a:solidFill>
              </a:rPr>
              <a:t>its aggressive nature, </a:t>
            </a:r>
            <a:r>
              <a:rPr lang="en-US" sz="1400">
                <a:solidFill>
                  <a:schemeClr val="dk1"/>
                </a:solidFill>
              </a:rPr>
              <a:t>and that shows clearly in its </a:t>
            </a:r>
            <a:r>
              <a:rPr b="1" lang="en-US" sz="1400">
                <a:solidFill>
                  <a:schemeClr val="dk1"/>
                </a:solidFill>
              </a:rPr>
              <a:t>radiomic features composed of both  texture and shape-based features</a:t>
            </a:r>
            <a:endParaRPr b="1"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400">
                <a:solidFill>
                  <a:schemeClr val="dk1"/>
                </a:solidFill>
              </a:rPr>
              <a:t>One of the</a:t>
            </a:r>
            <a:r>
              <a:rPr b="1" lang="en-US" sz="1400">
                <a:solidFill>
                  <a:schemeClr val="dk1"/>
                </a:solidFill>
              </a:rPr>
              <a:t> strongest predictors</a:t>
            </a:r>
            <a:r>
              <a:rPr lang="en-US" sz="1400">
                <a:solidFill>
                  <a:schemeClr val="dk1"/>
                </a:solidFill>
              </a:rPr>
              <a:t> was</a:t>
            </a:r>
            <a:r>
              <a:rPr b="1" lang="en-US" sz="1400">
                <a:solidFill>
                  <a:schemeClr val="dk1"/>
                </a:solidFill>
              </a:rPr>
              <a:t> NGTDM Coarseness</a:t>
            </a:r>
            <a:r>
              <a:rPr lang="en-US" sz="1400">
                <a:solidFill>
                  <a:schemeClr val="dk1"/>
                </a:solidFill>
              </a:rPr>
              <a:t>. This captures rapid changes in intensity between nearby pixels. It </a:t>
            </a:r>
            <a:r>
              <a:rPr b="1" lang="en-US" sz="1400">
                <a:solidFill>
                  <a:schemeClr val="dk1"/>
                </a:solidFill>
              </a:rPr>
              <a:t>reflects the patchy, mottled look we often see in GBM due to tissue death and abnormal blood vessels</a:t>
            </a:r>
            <a:r>
              <a:rPr lang="en-US" sz="1400">
                <a:solidFill>
                  <a:schemeClr val="dk1"/>
                </a:solidFill>
              </a:rPr>
              <a:t>—both classic signs of this tumor.</a:t>
            </a:r>
            <a:endParaRPr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400">
                <a:solidFill>
                  <a:schemeClr val="dk1"/>
                </a:solidFill>
              </a:rPr>
              <a:t>Shape features </a:t>
            </a:r>
            <a:r>
              <a:rPr lang="en-US" sz="1400">
                <a:solidFill>
                  <a:schemeClr val="dk1"/>
                </a:solidFill>
              </a:rPr>
              <a:t>were also important. GBM tumors often have a </a:t>
            </a:r>
            <a:r>
              <a:rPr b="1" lang="en-US" sz="1400">
                <a:solidFill>
                  <a:schemeClr val="dk1"/>
                </a:solidFill>
              </a:rPr>
              <a:t>high surface-to-volume ratio</a:t>
            </a:r>
            <a:r>
              <a:rPr lang="en-US" sz="1400">
                <a:solidFill>
                  <a:schemeClr val="dk1"/>
                </a:solidFill>
              </a:rPr>
              <a:t>, </a:t>
            </a:r>
            <a:r>
              <a:rPr b="1" lang="en-US" sz="1400">
                <a:solidFill>
                  <a:schemeClr val="dk1"/>
                </a:solidFill>
              </a:rPr>
              <a:t>are less spherical, and show an elongated shape</a:t>
            </a:r>
            <a:r>
              <a:rPr lang="en-US" sz="1400">
                <a:solidFill>
                  <a:schemeClr val="dk1"/>
                </a:solidFill>
              </a:rPr>
              <a:t>. These patterns suggest the tumor is spreading in a lobulated and infiltrative way along the brain’s white matter—something that matches is known from pathology and</a:t>
            </a:r>
            <a:r>
              <a:rPr b="1" lang="en-US" sz="1400">
                <a:solidFill>
                  <a:schemeClr val="dk1"/>
                </a:solidFill>
              </a:rPr>
              <a:t> also relates to worse survival.</a:t>
            </a:r>
            <a:endParaRPr b="1"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400">
                <a:solidFill>
                  <a:schemeClr val="dk1"/>
                </a:solidFill>
              </a:rPr>
              <a:t>Lastly, the model picked up </a:t>
            </a:r>
            <a:r>
              <a:rPr b="1" lang="en-US" sz="1400">
                <a:solidFill>
                  <a:schemeClr val="dk1"/>
                </a:solidFill>
              </a:rPr>
              <a:t>Low Gray-Level Run Emphasis</a:t>
            </a:r>
            <a:r>
              <a:rPr lang="en-US" sz="1400">
                <a:solidFill>
                  <a:schemeClr val="dk1"/>
                </a:solidFill>
              </a:rPr>
              <a:t>, which </a:t>
            </a:r>
            <a:r>
              <a:rPr b="1" lang="en-US" sz="1400">
                <a:solidFill>
                  <a:schemeClr val="dk1"/>
                </a:solidFill>
              </a:rPr>
              <a:t>highlights long stretches of dark areas on the scan</a:t>
            </a:r>
            <a:r>
              <a:rPr lang="en-US" sz="1400">
                <a:solidFill>
                  <a:schemeClr val="dk1"/>
                </a:solidFill>
              </a:rPr>
              <a:t>. That matches the central necrosis we often see in GBM.</a:t>
            </a:r>
            <a:endParaRPr sz="1400">
              <a:solidFill>
                <a:schemeClr val="dk1"/>
              </a:solidFill>
            </a:endParaRPr>
          </a:p>
          <a:p>
            <a:pPr indent="0" lvl="0" marL="0" rtl="0" algn="l">
              <a:spcBef>
                <a:spcPts val="1200"/>
              </a:spcBef>
              <a:spcAft>
                <a:spcPts val="0"/>
              </a:spcAft>
              <a:buNone/>
            </a:pPr>
            <a:r>
              <a:t/>
            </a:r>
            <a:endParaRPr/>
          </a:p>
        </p:txBody>
      </p:sp>
      <p:sp>
        <p:nvSpPr>
          <p:cNvPr id="347" name="Google Shape;347;g30504478cd7_1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0504478cd7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rPr>
              <a:t>Oligodendroglioma was mainly characterized by </a:t>
            </a:r>
            <a:r>
              <a:rPr b="1" lang="en-US" sz="1300">
                <a:solidFill>
                  <a:schemeClr val="dk1"/>
                </a:solidFill>
              </a:rPr>
              <a:t>texture features</a:t>
            </a:r>
            <a:r>
              <a:rPr lang="en-US" sz="1300">
                <a:solidFill>
                  <a:schemeClr val="dk1"/>
                </a:solidFill>
              </a:rPr>
              <a:t>, which aligns well with what we know histologically—these tumors often show </a:t>
            </a:r>
            <a:r>
              <a:rPr b="1" lang="en-US" sz="1300">
                <a:solidFill>
                  <a:schemeClr val="dk1"/>
                </a:solidFill>
              </a:rPr>
              <a:t>uniform cellularity and coarse calcifications</a:t>
            </a:r>
            <a:r>
              <a:rPr lang="en-US" sz="1300">
                <a:solidFill>
                  <a:schemeClr val="dk1"/>
                </a:solidFill>
              </a:rPr>
              <a:t>.</a:t>
            </a:r>
            <a:endParaRPr sz="1300">
              <a:solidFill>
                <a:schemeClr val="dk1"/>
              </a:solidFill>
            </a:endParaRPr>
          </a:p>
          <a:p>
            <a:pPr indent="-311150" lvl="0" marL="457200" rtl="0" algn="l">
              <a:lnSpc>
                <a:spcPct val="115000"/>
              </a:lnSpc>
              <a:spcBef>
                <a:spcPts val="1200"/>
              </a:spcBef>
              <a:spcAft>
                <a:spcPts val="0"/>
              </a:spcAft>
              <a:buClr>
                <a:schemeClr val="dk1"/>
              </a:buClr>
              <a:buSzPts val="1300"/>
              <a:buChar char="●"/>
            </a:pPr>
            <a:r>
              <a:rPr lang="en-US" sz="1300">
                <a:solidFill>
                  <a:schemeClr val="dk1"/>
                </a:solidFill>
              </a:rPr>
              <a:t>One standout feature was </a:t>
            </a:r>
            <a:r>
              <a:rPr b="1" lang="en-US" sz="1300">
                <a:solidFill>
                  <a:schemeClr val="dk1"/>
                </a:solidFill>
              </a:rPr>
              <a:t>Run-Length Non-Uniformity</a:t>
            </a:r>
            <a:r>
              <a:rPr lang="en-US" sz="1300">
                <a:solidFill>
                  <a:schemeClr val="dk1"/>
                </a:solidFill>
              </a:rPr>
              <a:t>, which captures variation in how long similar intensity regions last. This helps detect the mix of calcified and non-calcified areas—something typical of this tumor type.</a:t>
            </a:r>
            <a:br>
              <a:rPr lang="en-US" sz="1300">
                <a:solidFill>
                  <a:schemeClr val="dk1"/>
                </a:solidFill>
              </a:rPr>
            </a:b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US" sz="1300">
                <a:solidFill>
                  <a:schemeClr val="dk1"/>
                </a:solidFill>
              </a:rPr>
              <a:t>Another important one was </a:t>
            </a:r>
            <a:r>
              <a:rPr b="1" lang="en-US" sz="1300">
                <a:solidFill>
                  <a:schemeClr val="dk1"/>
                </a:solidFill>
              </a:rPr>
              <a:t>Size-Zone Non-Uniformity</a:t>
            </a:r>
            <a:r>
              <a:rPr lang="en-US" sz="1300">
                <a:solidFill>
                  <a:schemeClr val="dk1"/>
                </a:solidFill>
              </a:rPr>
              <a:t>, which measures how patchy or scattered the homogeneous zones are—again reflecting those uneven calcified regions.</a:t>
            </a:r>
            <a:br>
              <a:rPr lang="en-US" sz="1300">
                <a:solidFill>
                  <a:schemeClr val="dk1"/>
                </a:solidFill>
              </a:rPr>
            </a:b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US" sz="1300">
                <a:solidFill>
                  <a:schemeClr val="dk1"/>
                </a:solidFill>
              </a:rPr>
              <a:t>The model also picked up </a:t>
            </a:r>
            <a:r>
              <a:rPr b="1" lang="en-US" sz="1300">
                <a:solidFill>
                  <a:schemeClr val="dk1"/>
                </a:solidFill>
              </a:rPr>
              <a:t>Zone Percentage</a:t>
            </a:r>
            <a:r>
              <a:rPr lang="en-US" sz="1300">
                <a:solidFill>
                  <a:schemeClr val="dk1"/>
                </a:solidFill>
              </a:rPr>
              <a:t> and </a:t>
            </a:r>
            <a:r>
              <a:rPr b="1" lang="en-US" sz="1300">
                <a:solidFill>
                  <a:schemeClr val="dk1"/>
                </a:solidFill>
              </a:rPr>
              <a:t>Low Gray-Level Emphasis</a:t>
            </a:r>
            <a:r>
              <a:rPr lang="en-US" sz="1300">
                <a:solidFill>
                  <a:schemeClr val="dk1"/>
                </a:solidFill>
              </a:rPr>
              <a:t>, which signal a concentration of darker areas in the image—another radiologic sign of calcification.</a:t>
            </a:r>
            <a:br>
              <a:rPr lang="en-US" sz="1300">
                <a:solidFill>
                  <a:schemeClr val="dk1"/>
                </a:solidFill>
              </a:rPr>
            </a:b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US" sz="1300">
                <a:solidFill>
                  <a:schemeClr val="dk1"/>
                </a:solidFill>
              </a:rPr>
              <a:t>These features together align with the known </a:t>
            </a:r>
            <a:r>
              <a:rPr b="1" lang="en-US" sz="1300">
                <a:solidFill>
                  <a:schemeClr val="dk1"/>
                </a:solidFill>
              </a:rPr>
              <a:t>1p/19q codeletion phenotype</a:t>
            </a:r>
            <a:r>
              <a:rPr lang="en-US" sz="1300">
                <a:solidFill>
                  <a:schemeClr val="dk1"/>
                </a:solidFill>
              </a:rPr>
              <a:t>, a key molecular marker for Oligodendroglioma.</a:t>
            </a:r>
            <a:endParaRPr sz="1300">
              <a:solidFill>
                <a:schemeClr val="dk1"/>
              </a:solidFill>
            </a:endParaRPr>
          </a:p>
          <a:p>
            <a:pPr indent="0" lvl="0" marL="0" rtl="0" algn="l">
              <a:spcBef>
                <a:spcPts val="1200"/>
              </a:spcBef>
              <a:spcAft>
                <a:spcPts val="0"/>
              </a:spcAft>
              <a:buNone/>
            </a:pPr>
            <a:r>
              <a:t/>
            </a:r>
            <a:endParaRPr sz="1400">
              <a:solidFill>
                <a:schemeClr val="dk1"/>
              </a:solidFill>
            </a:endParaRPr>
          </a:p>
        </p:txBody>
      </p:sp>
      <p:sp>
        <p:nvSpPr>
          <p:cNvPr id="358" name="Google Shape;358;g30504478cd7_1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0504478cd7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rPr>
              <a:t>Astrocytoma showed a </a:t>
            </a:r>
            <a:r>
              <a:rPr b="1" lang="en-US" sz="1300">
                <a:solidFill>
                  <a:schemeClr val="dk1"/>
                </a:solidFill>
              </a:rPr>
              <a:t>mixed radiomic signature</a:t>
            </a:r>
            <a:r>
              <a:rPr lang="en-US" sz="1300">
                <a:solidFill>
                  <a:schemeClr val="dk1"/>
                </a:solidFill>
              </a:rPr>
              <a:t>, which reflect its </a:t>
            </a:r>
            <a:r>
              <a:rPr b="1" lang="en-US" sz="1300">
                <a:solidFill>
                  <a:schemeClr val="dk1"/>
                </a:solidFill>
              </a:rPr>
              <a:t>diffuse and variable</a:t>
            </a:r>
            <a:r>
              <a:rPr lang="en-US" sz="1300">
                <a:solidFill>
                  <a:schemeClr val="dk1"/>
                </a:solidFill>
              </a:rPr>
              <a:t> growth pattern.</a:t>
            </a:r>
            <a:endParaRPr sz="1300">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US" sz="1300">
                <a:solidFill>
                  <a:schemeClr val="dk1"/>
                </a:solidFill>
              </a:rPr>
              <a:t>Shape features</a:t>
            </a:r>
            <a:r>
              <a:rPr lang="en-US" sz="1300">
                <a:solidFill>
                  <a:schemeClr val="dk1"/>
                </a:solidFill>
              </a:rPr>
              <a:t>—like a high surface-to-volume ratio and low sphericity—highlight the tumor’s </a:t>
            </a:r>
            <a:r>
              <a:rPr b="1" lang="en-US" sz="1300">
                <a:solidFill>
                  <a:schemeClr val="dk1"/>
                </a:solidFill>
              </a:rPr>
              <a:t>irregular, finger-like infiltration</a:t>
            </a:r>
            <a:r>
              <a:rPr lang="en-US" sz="1300">
                <a:solidFill>
                  <a:schemeClr val="dk1"/>
                </a:solidFill>
              </a:rPr>
              <a:t> along white matter. This is a</a:t>
            </a:r>
            <a:r>
              <a:rPr b="1" lang="en-US" sz="1300">
                <a:solidFill>
                  <a:schemeClr val="dk1"/>
                </a:solidFill>
              </a:rPr>
              <a:t> classic radiologic pattern</a:t>
            </a:r>
            <a:r>
              <a:rPr lang="en-US" sz="1300">
                <a:solidFill>
                  <a:schemeClr val="dk1"/>
                </a:solidFill>
              </a:rPr>
              <a:t> for astrocytomas.</a:t>
            </a:r>
            <a:br>
              <a:rPr lang="en-US" sz="1300">
                <a:solidFill>
                  <a:schemeClr val="dk1"/>
                </a:solidFill>
              </a:rPr>
            </a:b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US" sz="1300">
                <a:solidFill>
                  <a:schemeClr val="dk1"/>
                </a:solidFill>
              </a:rPr>
              <a:t>We also saw important </a:t>
            </a:r>
            <a:r>
              <a:rPr b="1" lang="en-US" sz="1300">
                <a:solidFill>
                  <a:schemeClr val="dk1"/>
                </a:solidFill>
              </a:rPr>
              <a:t>first-order features</a:t>
            </a:r>
            <a:r>
              <a:rPr lang="en-US" sz="1300">
                <a:solidFill>
                  <a:schemeClr val="dk1"/>
                </a:solidFill>
              </a:rPr>
              <a:t> such as </a:t>
            </a:r>
            <a:r>
              <a:rPr b="1" lang="en-US" sz="1300">
                <a:solidFill>
                  <a:schemeClr val="dk1"/>
                </a:solidFill>
              </a:rPr>
              <a:t>skewness and kurtosis</a:t>
            </a:r>
            <a:r>
              <a:rPr lang="en-US" sz="1300">
                <a:solidFill>
                  <a:schemeClr val="dk1"/>
                </a:solidFill>
              </a:rPr>
              <a:t>, which point to </a:t>
            </a:r>
            <a:r>
              <a:rPr b="1" lang="en-US" sz="1300">
                <a:solidFill>
                  <a:schemeClr val="dk1"/>
                </a:solidFill>
              </a:rPr>
              <a:t>asymmetric intensity patterns</a:t>
            </a:r>
            <a:r>
              <a:rPr lang="en-US" sz="1300">
                <a:solidFill>
                  <a:schemeClr val="dk1"/>
                </a:solidFill>
              </a:rPr>
              <a:t>—often linked to cysts, swelling, or areas of necrosis.</a:t>
            </a:r>
            <a:br>
              <a:rPr lang="en-US" sz="1300">
                <a:solidFill>
                  <a:schemeClr val="dk1"/>
                </a:solidFill>
              </a:rPr>
            </a:b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US" sz="1300">
                <a:solidFill>
                  <a:schemeClr val="dk1"/>
                </a:solidFill>
              </a:rPr>
              <a:t>Finally, </a:t>
            </a:r>
            <a:r>
              <a:rPr b="1" lang="en-US" sz="1300">
                <a:solidFill>
                  <a:schemeClr val="dk1"/>
                </a:solidFill>
              </a:rPr>
              <a:t>higher-order texture features</a:t>
            </a:r>
            <a:r>
              <a:rPr lang="en-US" sz="1300">
                <a:solidFill>
                  <a:schemeClr val="dk1"/>
                </a:solidFill>
              </a:rPr>
              <a:t> like </a:t>
            </a:r>
            <a:r>
              <a:rPr b="1" lang="en-US" sz="1300">
                <a:solidFill>
                  <a:schemeClr val="dk1"/>
                </a:solidFill>
              </a:rPr>
              <a:t>GLCM cluster shade</a:t>
            </a:r>
            <a:r>
              <a:rPr lang="en-US" sz="1300">
                <a:solidFill>
                  <a:schemeClr val="dk1"/>
                </a:solidFill>
              </a:rPr>
              <a:t> and </a:t>
            </a:r>
            <a:r>
              <a:rPr b="1" lang="en-US" sz="1300">
                <a:solidFill>
                  <a:schemeClr val="dk1"/>
                </a:solidFill>
              </a:rPr>
              <a:t>GLSZM zone entropy</a:t>
            </a:r>
            <a:r>
              <a:rPr lang="en-US" sz="1300">
                <a:solidFill>
                  <a:schemeClr val="dk1"/>
                </a:solidFill>
              </a:rPr>
              <a:t> captured the </a:t>
            </a:r>
            <a:r>
              <a:rPr b="1" lang="en-US" sz="1300">
                <a:solidFill>
                  <a:schemeClr val="dk1"/>
                </a:solidFill>
              </a:rPr>
              <a:t>tissue heterogeneity</a:t>
            </a:r>
            <a:r>
              <a:rPr lang="en-US" sz="1300">
                <a:solidFill>
                  <a:schemeClr val="dk1"/>
                </a:solidFill>
              </a:rPr>
              <a:t> we typically see in more aggressive, higher-grade cases.</a:t>
            </a:r>
            <a:br>
              <a:rPr lang="en-US" sz="1300">
                <a:solidFill>
                  <a:schemeClr val="dk1"/>
                </a:solidFill>
              </a:rPr>
            </a:b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rPr>
              <a:t>So, overall, the model picked up on both the </a:t>
            </a:r>
            <a:r>
              <a:rPr b="1" lang="en-US" sz="1300">
                <a:solidFill>
                  <a:schemeClr val="dk1"/>
                </a:solidFill>
              </a:rPr>
              <a:t>spread and structural complexity</a:t>
            </a:r>
            <a:r>
              <a:rPr lang="en-US" sz="1300">
                <a:solidFill>
                  <a:schemeClr val="dk1"/>
                </a:solidFill>
              </a:rPr>
              <a:t> of astrocytoma.</a:t>
            </a:r>
            <a:endParaRPr sz="1300">
              <a:solidFill>
                <a:schemeClr val="dk1"/>
              </a:solidFill>
            </a:endParaRPr>
          </a:p>
          <a:p>
            <a:pPr indent="0" lvl="0" marL="0" rtl="0" algn="l">
              <a:spcBef>
                <a:spcPts val="1200"/>
              </a:spcBef>
              <a:spcAft>
                <a:spcPts val="0"/>
              </a:spcAft>
              <a:buNone/>
            </a:pPr>
            <a:r>
              <a:t/>
            </a:r>
            <a:endParaRPr sz="1400">
              <a:solidFill>
                <a:schemeClr val="dk1"/>
              </a:solidFill>
            </a:endParaRPr>
          </a:p>
        </p:txBody>
      </p:sp>
      <p:sp>
        <p:nvSpPr>
          <p:cNvPr id="369" name="Google Shape;369;g30504478cd7_1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0504478cd7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Stephen</a:t>
            </a:r>
            <a:endParaRPr/>
          </a:p>
        </p:txBody>
      </p:sp>
      <p:sp>
        <p:nvSpPr>
          <p:cNvPr id="380" name="Google Shape;380;g30504478cd7_1_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5"/>
          <p:cNvSpPr/>
          <p:nvPr>
            <p:ph idx="2" type="pic"/>
          </p:nvPr>
        </p:nvSpPr>
        <p:spPr>
          <a:xfrm>
            <a:off x="1792288" y="612775"/>
            <a:ext cx="5486400" cy="4114800"/>
          </a:xfrm>
          <a:prstGeom prst="rect">
            <a:avLst/>
          </a:prstGeom>
          <a:noFill/>
          <a:ln>
            <a:noFill/>
          </a:ln>
        </p:spPr>
      </p:sp>
      <p:sp>
        <p:nvSpPr>
          <p:cNvPr id="64" name="Google Shape;64;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jp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jp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jp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jp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jp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jp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jp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jp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jp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jp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jp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jp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0311" r="-20309" t="0"/>
            </a:stretch>
          </a:blipFill>
          <a:ln>
            <a:noFill/>
          </a:ln>
        </p:spPr>
      </p:sp>
      <p:grpSp>
        <p:nvGrpSpPr>
          <p:cNvPr id="85" name="Google Shape;85;p1"/>
          <p:cNvGrpSpPr/>
          <p:nvPr/>
        </p:nvGrpSpPr>
        <p:grpSpPr>
          <a:xfrm>
            <a:off x="0" y="-180826"/>
            <a:ext cx="3086100" cy="10467826"/>
            <a:chOff x="0" y="-47625"/>
            <a:chExt cx="812800" cy="2756958"/>
          </a:xfrm>
        </p:grpSpPr>
        <p:sp>
          <p:nvSpPr>
            <p:cNvPr id="86" name="Google Shape;86;p1"/>
            <p:cNvSpPr/>
            <p:nvPr/>
          </p:nvSpPr>
          <p:spPr>
            <a:xfrm>
              <a:off x="0" y="0"/>
              <a:ext cx="812800" cy="2709333"/>
            </a:xfrm>
            <a:custGeom>
              <a:rect b="b" l="l" r="r" t="t"/>
              <a:pathLst>
                <a:path extrusionOk="0" h="2709333" w="812800">
                  <a:moveTo>
                    <a:pt x="0" y="0"/>
                  </a:moveTo>
                  <a:lnTo>
                    <a:pt x="812800" y="0"/>
                  </a:lnTo>
                  <a:lnTo>
                    <a:pt x="812800" y="2709333"/>
                  </a:lnTo>
                  <a:lnTo>
                    <a:pt x="0" y="2709333"/>
                  </a:lnTo>
                  <a:close/>
                </a:path>
              </a:pathLst>
            </a:custGeom>
            <a:solidFill>
              <a:srgbClr val="593C8F"/>
            </a:solidFill>
            <a:ln>
              <a:noFill/>
            </a:ln>
          </p:spPr>
        </p:sp>
        <p:sp>
          <p:nvSpPr>
            <p:cNvPr id="87" name="Google Shape;87;p1"/>
            <p:cNvSpPr txBox="1"/>
            <p:nvPr/>
          </p:nvSpPr>
          <p:spPr>
            <a:xfrm>
              <a:off x="0" y="-47625"/>
              <a:ext cx="812800"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8" name="Google Shape;88;p1"/>
          <p:cNvSpPr txBox="1"/>
          <p:nvPr/>
        </p:nvSpPr>
        <p:spPr>
          <a:xfrm>
            <a:off x="3648300" y="3541625"/>
            <a:ext cx="12265800" cy="19950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None/>
            </a:pPr>
            <a:r>
              <a:rPr b="1" lang="en-US" sz="5400">
                <a:solidFill>
                  <a:srgbClr val="593C8F"/>
                </a:solidFill>
                <a:latin typeface="League Spartan"/>
                <a:ea typeface="League Spartan"/>
                <a:cs typeface="League Spartan"/>
                <a:sym typeface="League Spartan"/>
              </a:rPr>
              <a:t>Radiomics-Based Classification of Brain Tumor Subtypes Using Machine Learning</a:t>
            </a:r>
            <a:endParaRPr b="1" sz="5400"/>
          </a:p>
        </p:txBody>
      </p:sp>
      <p:cxnSp>
        <p:nvCxnSpPr>
          <p:cNvPr id="89" name="Google Shape;89;p1"/>
          <p:cNvCxnSpPr/>
          <p:nvPr/>
        </p:nvCxnSpPr>
        <p:spPr>
          <a:xfrm flipH="1" rot="10800000">
            <a:off x="3648322" y="5611372"/>
            <a:ext cx="9687995" cy="20505"/>
          </a:xfrm>
          <a:prstGeom prst="straightConnector1">
            <a:avLst/>
          </a:prstGeom>
          <a:noFill/>
          <a:ln cap="flat" cmpd="sng" w="38100">
            <a:solidFill>
              <a:srgbClr val="000000"/>
            </a:solidFill>
            <a:prstDash val="solid"/>
            <a:round/>
            <a:headEnd len="sm" w="sm" type="none"/>
            <a:tailEnd len="sm" w="sm" type="none"/>
          </a:ln>
        </p:spPr>
      </p:cxnSp>
      <p:sp>
        <p:nvSpPr>
          <p:cNvPr id="90" name="Google Shape;90;p1"/>
          <p:cNvSpPr/>
          <p:nvPr/>
        </p:nvSpPr>
        <p:spPr>
          <a:xfrm>
            <a:off x="13763158" y="387350"/>
            <a:ext cx="4160184" cy="4114800"/>
          </a:xfrm>
          <a:custGeom>
            <a:rect b="b" l="l" r="r" t="t"/>
            <a:pathLst>
              <a:path extrusionOk="0" h="4114800" w="4160184">
                <a:moveTo>
                  <a:pt x="0" y="0"/>
                </a:moveTo>
                <a:lnTo>
                  <a:pt x="4160184" y="0"/>
                </a:lnTo>
                <a:lnTo>
                  <a:pt x="4160184" y="4114800"/>
                </a:lnTo>
                <a:lnTo>
                  <a:pt x="0" y="4114800"/>
                </a:lnTo>
                <a:lnTo>
                  <a:pt x="0" y="0"/>
                </a:lnTo>
                <a:close/>
              </a:path>
            </a:pathLst>
          </a:custGeom>
          <a:blipFill rotWithShape="1">
            <a:blip r:embed="rId4">
              <a:alphaModFix amt="37000"/>
            </a:blip>
            <a:stretch>
              <a:fillRect b="0" l="0" r="0" t="0"/>
            </a:stretch>
          </a:blipFill>
          <a:ln>
            <a:noFill/>
          </a:ln>
        </p:spPr>
      </p:sp>
      <p:sp>
        <p:nvSpPr>
          <p:cNvPr id="91" name="Google Shape;91;p1"/>
          <p:cNvSpPr txBox="1"/>
          <p:nvPr/>
        </p:nvSpPr>
        <p:spPr>
          <a:xfrm>
            <a:off x="3648325" y="5962800"/>
            <a:ext cx="11371200" cy="891600"/>
          </a:xfrm>
          <a:prstGeom prst="rect">
            <a:avLst/>
          </a:prstGeom>
          <a:noFill/>
          <a:ln>
            <a:noFill/>
          </a:ln>
        </p:spPr>
        <p:txBody>
          <a:bodyPr anchorCtr="0" anchor="t" bIns="0" lIns="0" spcFirstLastPara="1" rIns="0" wrap="square" tIns="0">
            <a:spAutoFit/>
          </a:bodyPr>
          <a:lstStyle/>
          <a:p>
            <a:pPr indent="0" lvl="0" marL="0" marR="0" rtl="0" algn="l">
              <a:lnSpc>
                <a:spcPct val="140033"/>
              </a:lnSpc>
              <a:spcBef>
                <a:spcPts val="0"/>
              </a:spcBef>
              <a:spcAft>
                <a:spcPts val="0"/>
              </a:spcAft>
              <a:buNone/>
            </a:pPr>
            <a:r>
              <a:rPr b="1" lang="en-US" sz="2413">
                <a:latin typeface="Poppins"/>
                <a:ea typeface="Poppins"/>
                <a:cs typeface="Poppins"/>
                <a:sym typeface="Poppins"/>
              </a:rPr>
              <a:t>Group 1: </a:t>
            </a:r>
            <a:r>
              <a:rPr lang="en-US" sz="2413">
                <a:latin typeface="Poppins"/>
                <a:ea typeface="Poppins"/>
                <a:cs typeface="Poppins"/>
                <a:sym typeface="Poppins"/>
              </a:rPr>
              <a:t>Austin Cherian, Natalie Ellis, Fadwa Elfeituri, Stephen Payne</a:t>
            </a:r>
            <a:endParaRPr sz="2413">
              <a:latin typeface="Poppins"/>
              <a:ea typeface="Poppins"/>
              <a:cs typeface="Poppins"/>
              <a:sym typeface="Poppins"/>
            </a:endParaRPr>
          </a:p>
          <a:p>
            <a:pPr indent="0" lvl="0" marL="0" marR="0" rtl="0" algn="l">
              <a:lnSpc>
                <a:spcPct val="140033"/>
              </a:lnSpc>
              <a:spcBef>
                <a:spcPts val="0"/>
              </a:spcBef>
              <a:spcAft>
                <a:spcPts val="0"/>
              </a:spcAft>
              <a:buNone/>
            </a:pPr>
            <a:r>
              <a:t/>
            </a:r>
            <a:endParaRPr sz="2413">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pic>
        <p:nvPicPr>
          <p:cNvPr id="96" name="Google Shape;96;p2"/>
          <p:cNvPicPr preferRelativeResize="0"/>
          <p:nvPr/>
        </p:nvPicPr>
        <p:blipFill>
          <a:blip r:embed="rId3">
            <a:alphaModFix/>
          </a:blip>
          <a:stretch>
            <a:fillRect/>
          </a:stretch>
        </p:blipFill>
        <p:spPr>
          <a:xfrm>
            <a:off x="11429350" y="1776275"/>
            <a:ext cx="6401424" cy="6401424"/>
          </a:xfrm>
          <a:prstGeom prst="rect">
            <a:avLst/>
          </a:prstGeom>
          <a:noFill/>
          <a:ln>
            <a:noFill/>
          </a:ln>
        </p:spPr>
      </p:pic>
      <p:sp>
        <p:nvSpPr>
          <p:cNvPr id="97" name="Google Shape;97;p2"/>
          <p:cNvSpPr/>
          <p:nvPr/>
        </p:nvSpPr>
        <p:spPr>
          <a:xfrm>
            <a:off x="0" y="0"/>
            <a:ext cx="1110996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4">
              <a:alphaModFix/>
            </a:blip>
            <a:stretch>
              <a:fillRect b="0" l="-20311" r="-20309" t="0"/>
            </a:stretch>
          </a:blipFill>
          <a:ln>
            <a:noFill/>
          </a:ln>
        </p:spPr>
      </p:sp>
      <p:sp>
        <p:nvSpPr>
          <p:cNvPr id="98" name="Google Shape;98;p2"/>
          <p:cNvSpPr txBox="1"/>
          <p:nvPr/>
        </p:nvSpPr>
        <p:spPr>
          <a:xfrm>
            <a:off x="1028728" y="1303150"/>
            <a:ext cx="7516200" cy="69270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lang="en-US" sz="4500">
                <a:solidFill>
                  <a:srgbClr val="593C8F"/>
                </a:solidFill>
                <a:latin typeface="League Spartan"/>
                <a:ea typeface="League Spartan"/>
                <a:cs typeface="League Spartan"/>
                <a:sym typeface="League Spartan"/>
              </a:rPr>
              <a:t>Background</a:t>
            </a:r>
            <a:endParaRPr sz="4500"/>
          </a:p>
        </p:txBody>
      </p:sp>
      <p:cxnSp>
        <p:nvCxnSpPr>
          <p:cNvPr id="99" name="Google Shape;99;p2"/>
          <p:cNvCxnSpPr/>
          <p:nvPr/>
        </p:nvCxnSpPr>
        <p:spPr>
          <a:xfrm>
            <a:off x="1028720" y="2186817"/>
            <a:ext cx="0" cy="0"/>
          </a:xfrm>
          <a:prstGeom prst="straightConnector1">
            <a:avLst/>
          </a:prstGeom>
          <a:noFill/>
          <a:ln cap="flat" cmpd="sng" w="19050">
            <a:solidFill>
              <a:srgbClr val="000000"/>
            </a:solidFill>
            <a:prstDash val="solid"/>
            <a:round/>
            <a:headEnd len="sm" w="sm" type="none"/>
            <a:tailEnd len="sm" w="sm" type="none"/>
          </a:ln>
        </p:spPr>
      </p:cxnSp>
      <p:sp>
        <p:nvSpPr>
          <p:cNvPr id="100" name="Google Shape;100;p2"/>
          <p:cNvSpPr txBox="1"/>
          <p:nvPr/>
        </p:nvSpPr>
        <p:spPr>
          <a:xfrm>
            <a:off x="1027650" y="2769160"/>
            <a:ext cx="9242400" cy="1724700"/>
          </a:xfrm>
          <a:prstGeom prst="rect">
            <a:avLst/>
          </a:prstGeom>
          <a:noFill/>
          <a:ln>
            <a:noFill/>
          </a:ln>
        </p:spPr>
        <p:txBody>
          <a:bodyPr anchorCtr="0" anchor="t" bIns="0" lIns="0" spcFirstLastPara="1" rIns="0" wrap="square" tIns="0">
            <a:spAutoFit/>
          </a:bodyPr>
          <a:lstStyle/>
          <a:p>
            <a:pPr indent="0" lvl="0" marL="0" marR="0" rtl="0" algn="l">
              <a:lnSpc>
                <a:spcPct val="140045"/>
              </a:lnSpc>
              <a:spcBef>
                <a:spcPts val="0"/>
              </a:spcBef>
              <a:spcAft>
                <a:spcPts val="0"/>
              </a:spcAft>
              <a:buNone/>
            </a:pPr>
            <a:r>
              <a:rPr b="1" lang="en-US" sz="2948">
                <a:latin typeface="Poppins"/>
                <a:ea typeface="Poppins"/>
                <a:cs typeface="Poppins"/>
                <a:sym typeface="Poppins"/>
              </a:rPr>
              <a:t>Gliomas </a:t>
            </a:r>
            <a:r>
              <a:rPr lang="en-US" sz="2948">
                <a:latin typeface="Poppins"/>
                <a:ea typeface="Poppins"/>
                <a:cs typeface="Poppins"/>
                <a:sym typeface="Poppins"/>
              </a:rPr>
              <a:t>are the most common malignant primary brain tumors, arising from glial cells that support neurons [1].</a:t>
            </a:r>
            <a:endParaRPr sz="2600"/>
          </a:p>
        </p:txBody>
      </p:sp>
      <p:cxnSp>
        <p:nvCxnSpPr>
          <p:cNvPr id="101" name="Google Shape;101;p2"/>
          <p:cNvCxnSpPr/>
          <p:nvPr/>
        </p:nvCxnSpPr>
        <p:spPr>
          <a:xfrm>
            <a:off x="1029792" y="2252109"/>
            <a:ext cx="2618740" cy="0"/>
          </a:xfrm>
          <a:prstGeom prst="straightConnector1">
            <a:avLst/>
          </a:prstGeom>
          <a:noFill/>
          <a:ln cap="flat" cmpd="sng" w="38100">
            <a:solidFill>
              <a:srgbClr val="000000"/>
            </a:solidFill>
            <a:prstDash val="solid"/>
            <a:round/>
            <a:headEnd len="sm" w="sm" type="none"/>
            <a:tailEnd len="sm" w="sm" type="none"/>
          </a:ln>
        </p:spPr>
      </p:cxnSp>
      <p:sp>
        <p:nvSpPr>
          <p:cNvPr id="102" name="Google Shape;102;p2"/>
          <p:cNvSpPr txBox="1"/>
          <p:nvPr/>
        </p:nvSpPr>
        <p:spPr>
          <a:xfrm>
            <a:off x="1116150" y="5267160"/>
            <a:ext cx="9242400" cy="3631200"/>
          </a:xfrm>
          <a:prstGeom prst="rect">
            <a:avLst/>
          </a:prstGeom>
          <a:noFill/>
          <a:ln>
            <a:noFill/>
          </a:ln>
        </p:spPr>
        <p:txBody>
          <a:bodyPr anchorCtr="0" anchor="t" bIns="0" lIns="0" spcFirstLastPara="1" rIns="0" wrap="square" tIns="0">
            <a:spAutoFit/>
          </a:bodyPr>
          <a:lstStyle/>
          <a:p>
            <a:pPr indent="0" lvl="0" marL="0" marR="0" rtl="0" algn="l">
              <a:lnSpc>
                <a:spcPct val="140045"/>
              </a:lnSpc>
              <a:spcBef>
                <a:spcPts val="0"/>
              </a:spcBef>
              <a:spcAft>
                <a:spcPts val="0"/>
              </a:spcAft>
              <a:buNone/>
            </a:pPr>
            <a:r>
              <a:rPr b="1" lang="en-US" sz="2948">
                <a:latin typeface="Poppins"/>
                <a:ea typeface="Poppins"/>
                <a:cs typeface="Poppins"/>
                <a:sym typeface="Poppins"/>
              </a:rPr>
              <a:t>Subtypes</a:t>
            </a:r>
            <a:r>
              <a:rPr lang="en-US" sz="2948">
                <a:latin typeface="Poppins"/>
                <a:ea typeface="Poppins"/>
                <a:cs typeface="Poppins"/>
                <a:sym typeface="Poppins"/>
              </a:rPr>
              <a:t> are defined by both histology and molecular markers </a:t>
            </a:r>
            <a:r>
              <a:rPr lang="en-US" sz="2948">
                <a:latin typeface="Poppins"/>
                <a:ea typeface="Poppins"/>
                <a:cs typeface="Poppins"/>
                <a:sym typeface="Poppins"/>
              </a:rPr>
              <a:t>[2].</a:t>
            </a:r>
            <a:endParaRPr sz="2948">
              <a:latin typeface="Poppins"/>
              <a:ea typeface="Poppins"/>
              <a:cs typeface="Poppins"/>
              <a:sym typeface="Poppins"/>
            </a:endParaRPr>
          </a:p>
          <a:p>
            <a:pPr indent="0" lvl="0" marL="0" marR="0" rtl="0" algn="l">
              <a:lnSpc>
                <a:spcPct val="140045"/>
              </a:lnSpc>
              <a:spcBef>
                <a:spcPts val="0"/>
              </a:spcBef>
              <a:spcAft>
                <a:spcPts val="0"/>
              </a:spcAft>
              <a:buNone/>
            </a:pPr>
            <a:r>
              <a:t/>
            </a:r>
            <a:endParaRPr sz="2948">
              <a:latin typeface="Poppins"/>
              <a:ea typeface="Poppins"/>
              <a:cs typeface="Poppins"/>
              <a:sym typeface="Poppins"/>
            </a:endParaRPr>
          </a:p>
          <a:p>
            <a:pPr indent="0" lvl="0" marL="0" rtl="0" algn="l">
              <a:lnSpc>
                <a:spcPct val="140045"/>
              </a:lnSpc>
              <a:spcBef>
                <a:spcPts val="0"/>
              </a:spcBef>
              <a:spcAft>
                <a:spcPts val="0"/>
              </a:spcAft>
              <a:buClr>
                <a:schemeClr val="dk1"/>
              </a:buClr>
              <a:buFont typeface="Arial"/>
              <a:buNone/>
            </a:pPr>
            <a:r>
              <a:rPr b="1" lang="en-US" sz="2948">
                <a:solidFill>
                  <a:schemeClr val="dk1"/>
                </a:solidFill>
                <a:latin typeface="Poppins"/>
                <a:ea typeface="Poppins"/>
                <a:cs typeface="Poppins"/>
                <a:sym typeface="Poppins"/>
              </a:rPr>
              <a:t>A</a:t>
            </a:r>
            <a:r>
              <a:rPr b="1" lang="en-US" sz="2948">
                <a:solidFill>
                  <a:schemeClr val="dk1"/>
                </a:solidFill>
                <a:latin typeface="Poppins"/>
                <a:ea typeface="Poppins"/>
                <a:cs typeface="Poppins"/>
                <a:sym typeface="Poppins"/>
              </a:rPr>
              <a:t>ccurate classification</a:t>
            </a:r>
            <a:r>
              <a:rPr lang="en-US" sz="2948">
                <a:solidFill>
                  <a:schemeClr val="dk1"/>
                </a:solidFill>
                <a:latin typeface="Poppins"/>
                <a:ea typeface="Poppins"/>
                <a:cs typeface="Poppins"/>
                <a:sym typeface="Poppins"/>
              </a:rPr>
              <a:t> is critical for guiding treatment and predicting survival [2].</a:t>
            </a:r>
            <a:endParaRPr sz="2948">
              <a:latin typeface="Poppins"/>
              <a:ea typeface="Poppins"/>
              <a:cs typeface="Poppins"/>
              <a:sym typeface="Poppins"/>
            </a:endParaRPr>
          </a:p>
          <a:p>
            <a:pPr indent="0" lvl="0" marL="0" marR="0" rtl="0" algn="l">
              <a:lnSpc>
                <a:spcPct val="140045"/>
              </a:lnSpc>
              <a:spcBef>
                <a:spcPts val="0"/>
              </a:spcBef>
              <a:spcAft>
                <a:spcPts val="0"/>
              </a:spcAft>
              <a:buNone/>
            </a:pPr>
            <a:r>
              <a:t/>
            </a:r>
            <a:endParaRPr b="1" sz="2948">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0311" r="-20309" t="0"/>
            </a:stretch>
          </a:blipFill>
          <a:ln>
            <a:noFill/>
          </a:ln>
        </p:spPr>
      </p:sp>
      <p:sp>
        <p:nvSpPr>
          <p:cNvPr id="108" name="Google Shape;108;p4"/>
          <p:cNvSpPr txBox="1"/>
          <p:nvPr/>
        </p:nvSpPr>
        <p:spPr>
          <a:xfrm>
            <a:off x="1027645" y="664196"/>
            <a:ext cx="6545100" cy="138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4500">
                <a:solidFill>
                  <a:srgbClr val="593C8F"/>
                </a:solidFill>
                <a:latin typeface="League Spartan"/>
                <a:ea typeface="League Spartan"/>
                <a:cs typeface="League Spartan"/>
                <a:sym typeface="League Spartan"/>
              </a:rPr>
              <a:t>Cancer Subtypes (WHO Classification):</a:t>
            </a:r>
            <a:endParaRPr sz="4500"/>
          </a:p>
        </p:txBody>
      </p:sp>
      <p:cxnSp>
        <p:nvCxnSpPr>
          <p:cNvPr id="109" name="Google Shape;109;p4"/>
          <p:cNvCxnSpPr/>
          <p:nvPr/>
        </p:nvCxnSpPr>
        <p:spPr>
          <a:xfrm>
            <a:off x="1028720" y="2186817"/>
            <a:ext cx="0" cy="0"/>
          </a:xfrm>
          <a:prstGeom prst="straightConnector1">
            <a:avLst/>
          </a:prstGeom>
          <a:noFill/>
          <a:ln cap="flat" cmpd="sng" w="19050">
            <a:solidFill>
              <a:srgbClr val="000000"/>
            </a:solidFill>
            <a:prstDash val="solid"/>
            <a:round/>
            <a:headEnd len="sm" w="sm" type="none"/>
            <a:tailEnd len="sm" w="sm" type="none"/>
          </a:ln>
        </p:spPr>
      </p:cxnSp>
      <p:cxnSp>
        <p:nvCxnSpPr>
          <p:cNvPr id="110" name="Google Shape;110;p4"/>
          <p:cNvCxnSpPr/>
          <p:nvPr/>
        </p:nvCxnSpPr>
        <p:spPr>
          <a:xfrm>
            <a:off x="1029792" y="2252109"/>
            <a:ext cx="2618740" cy="0"/>
          </a:xfrm>
          <a:prstGeom prst="straightConnector1">
            <a:avLst/>
          </a:prstGeom>
          <a:noFill/>
          <a:ln cap="flat" cmpd="sng" w="38100">
            <a:solidFill>
              <a:srgbClr val="000000"/>
            </a:solidFill>
            <a:prstDash val="solid"/>
            <a:round/>
            <a:headEnd len="sm" w="sm" type="none"/>
            <a:tailEnd len="sm" w="sm" type="none"/>
          </a:ln>
        </p:spPr>
      </p:cxnSp>
      <p:sp>
        <p:nvSpPr>
          <p:cNvPr id="111" name="Google Shape;111;p4"/>
          <p:cNvSpPr/>
          <p:nvPr/>
        </p:nvSpPr>
        <p:spPr>
          <a:xfrm>
            <a:off x="5865125" y="2830407"/>
            <a:ext cx="128016" cy="4626186"/>
          </a:xfrm>
          <a:custGeom>
            <a:rect b="b" l="l" r="r" t="t"/>
            <a:pathLst>
              <a:path extrusionOk="0" h="2709333" w="812800">
                <a:moveTo>
                  <a:pt x="0" y="0"/>
                </a:moveTo>
                <a:lnTo>
                  <a:pt x="812800" y="0"/>
                </a:lnTo>
                <a:lnTo>
                  <a:pt x="812800" y="2709333"/>
                </a:lnTo>
                <a:lnTo>
                  <a:pt x="0" y="2709333"/>
                </a:lnTo>
                <a:close/>
              </a:path>
            </a:pathLst>
          </a:custGeom>
          <a:solidFill>
            <a:srgbClr val="593C8F"/>
          </a:solidFill>
          <a:ln>
            <a:noFill/>
          </a:ln>
        </p:spPr>
      </p:sp>
      <p:sp>
        <p:nvSpPr>
          <p:cNvPr id="112" name="Google Shape;112;p4"/>
          <p:cNvSpPr/>
          <p:nvPr/>
        </p:nvSpPr>
        <p:spPr>
          <a:xfrm>
            <a:off x="1027649" y="8507397"/>
            <a:ext cx="2087283" cy="521821"/>
          </a:xfrm>
          <a:custGeom>
            <a:rect b="b" l="l" r="r" t="t"/>
            <a:pathLst>
              <a:path extrusionOk="0" h="521821" w="2087283">
                <a:moveTo>
                  <a:pt x="0" y="0"/>
                </a:moveTo>
                <a:lnTo>
                  <a:pt x="2087282" y="0"/>
                </a:lnTo>
                <a:lnTo>
                  <a:pt x="2087282" y="521821"/>
                </a:lnTo>
                <a:lnTo>
                  <a:pt x="0" y="521821"/>
                </a:lnTo>
                <a:lnTo>
                  <a:pt x="0" y="0"/>
                </a:lnTo>
                <a:close/>
              </a:path>
            </a:pathLst>
          </a:custGeom>
          <a:blipFill rotWithShape="1">
            <a:blip r:embed="rId4">
              <a:alphaModFix/>
            </a:blip>
            <a:stretch>
              <a:fillRect b="0" l="0" r="0" t="0"/>
            </a:stretch>
          </a:blipFill>
          <a:ln>
            <a:noFill/>
          </a:ln>
        </p:spPr>
      </p:sp>
      <p:sp>
        <p:nvSpPr>
          <p:cNvPr id="113" name="Google Shape;113;p4"/>
          <p:cNvSpPr txBox="1"/>
          <p:nvPr/>
        </p:nvSpPr>
        <p:spPr>
          <a:xfrm>
            <a:off x="686425" y="2982807"/>
            <a:ext cx="4663200" cy="4620300"/>
          </a:xfrm>
          <a:prstGeom prst="rect">
            <a:avLst/>
          </a:prstGeom>
          <a:noFill/>
          <a:ln>
            <a:noFill/>
          </a:ln>
        </p:spPr>
        <p:txBody>
          <a:bodyPr anchorCtr="0" anchor="t" bIns="0" lIns="0" spcFirstLastPara="1" rIns="0" wrap="square" tIns="0">
            <a:spAutoFit/>
          </a:bodyPr>
          <a:lstStyle/>
          <a:p>
            <a:pPr indent="0" lvl="0" marL="0" marR="0" rtl="0" algn="l">
              <a:lnSpc>
                <a:spcPct val="140045"/>
              </a:lnSpc>
              <a:spcBef>
                <a:spcPts val="0"/>
              </a:spcBef>
              <a:spcAft>
                <a:spcPts val="0"/>
              </a:spcAft>
              <a:buNone/>
            </a:pPr>
            <a:r>
              <a:rPr b="1" lang="en-US" sz="2948">
                <a:latin typeface="Poppins"/>
                <a:ea typeface="Poppins"/>
                <a:cs typeface="Poppins"/>
                <a:sym typeface="Poppins"/>
              </a:rPr>
              <a:t>Glioblastoma (GBM):</a:t>
            </a:r>
            <a:endParaRPr b="1" sz="2948">
              <a:latin typeface="Poppins"/>
              <a:ea typeface="Poppins"/>
              <a:cs typeface="Poppins"/>
              <a:sym typeface="Poppins"/>
            </a:endParaRPr>
          </a:p>
          <a:p>
            <a:pPr indent="-355600" lvl="0" marL="457200" marR="0" rtl="0" algn="l">
              <a:lnSpc>
                <a:spcPct val="140045"/>
              </a:lnSpc>
              <a:spcBef>
                <a:spcPts val="1000"/>
              </a:spcBef>
              <a:spcAft>
                <a:spcPts val="0"/>
              </a:spcAft>
              <a:buSzPts val="2000"/>
              <a:buFont typeface="Poppins"/>
              <a:buChar char="●"/>
            </a:pPr>
            <a:r>
              <a:rPr lang="en-US" sz="2000">
                <a:latin typeface="Poppins"/>
                <a:ea typeface="Poppins"/>
                <a:cs typeface="Poppins"/>
                <a:sym typeface="Poppins"/>
              </a:rPr>
              <a:t>Th</a:t>
            </a:r>
            <a:r>
              <a:rPr lang="en-US" sz="2000">
                <a:latin typeface="Poppins"/>
                <a:ea typeface="Poppins"/>
                <a:cs typeface="Poppins"/>
                <a:sym typeface="Poppins"/>
              </a:rPr>
              <a:t>e most aggressive and lethal form of glioma (WHO Grade 4).</a:t>
            </a:r>
            <a:endParaRPr sz="2000">
              <a:latin typeface="Poppins"/>
              <a:ea typeface="Poppins"/>
              <a:cs typeface="Poppins"/>
              <a:sym typeface="Poppins"/>
            </a:endParaRPr>
          </a:p>
          <a:p>
            <a:pPr indent="-355600" lvl="0" marL="457200" marR="0" rtl="0" algn="l">
              <a:lnSpc>
                <a:spcPct val="140045"/>
              </a:lnSpc>
              <a:spcBef>
                <a:spcPts val="1000"/>
              </a:spcBef>
              <a:spcAft>
                <a:spcPts val="0"/>
              </a:spcAft>
              <a:buSzPts val="2000"/>
              <a:buFont typeface="Poppins"/>
              <a:buChar char="●"/>
            </a:pPr>
            <a:r>
              <a:rPr lang="en-US" sz="2000">
                <a:latin typeface="Poppins"/>
                <a:ea typeface="Poppins"/>
                <a:cs typeface="Poppins"/>
                <a:sym typeface="Poppins"/>
              </a:rPr>
              <a:t>Characterized by rapid growth, necrosis, and microvascular proliferation.</a:t>
            </a:r>
            <a:endParaRPr sz="2000">
              <a:latin typeface="Poppins"/>
              <a:ea typeface="Poppins"/>
              <a:cs typeface="Poppins"/>
              <a:sym typeface="Poppins"/>
            </a:endParaRPr>
          </a:p>
          <a:p>
            <a:pPr indent="-355600" lvl="0" marL="457200" marR="0" rtl="0" algn="l">
              <a:lnSpc>
                <a:spcPct val="140045"/>
              </a:lnSpc>
              <a:spcBef>
                <a:spcPts val="1000"/>
              </a:spcBef>
              <a:spcAft>
                <a:spcPts val="0"/>
              </a:spcAft>
              <a:buSzPts val="2000"/>
              <a:buFont typeface="Poppins"/>
              <a:buChar char="●"/>
            </a:pPr>
            <a:r>
              <a:rPr lang="en-US" sz="2000">
                <a:latin typeface="Poppins"/>
                <a:ea typeface="Poppins"/>
                <a:cs typeface="Poppins"/>
                <a:sym typeface="Poppins"/>
              </a:rPr>
              <a:t>Median survival is ~15 months despite treatment [3].</a:t>
            </a:r>
            <a:endParaRPr sz="2000">
              <a:latin typeface="Poppins"/>
              <a:ea typeface="Poppins"/>
              <a:cs typeface="Poppins"/>
              <a:sym typeface="Poppins"/>
            </a:endParaRPr>
          </a:p>
          <a:p>
            <a:pPr indent="0" lvl="0" marL="0" marR="0" rtl="0" algn="l">
              <a:lnSpc>
                <a:spcPct val="140045"/>
              </a:lnSpc>
              <a:spcBef>
                <a:spcPts val="1000"/>
              </a:spcBef>
              <a:spcAft>
                <a:spcPts val="0"/>
              </a:spcAft>
              <a:buNone/>
            </a:pPr>
            <a:r>
              <a:t/>
            </a:r>
            <a:endParaRPr b="1" sz="2948">
              <a:latin typeface="Poppins"/>
              <a:ea typeface="Poppins"/>
              <a:cs typeface="Poppins"/>
              <a:sym typeface="Poppins"/>
            </a:endParaRPr>
          </a:p>
        </p:txBody>
      </p:sp>
      <p:sp>
        <p:nvSpPr>
          <p:cNvPr id="114" name="Google Shape;114;p4"/>
          <p:cNvSpPr txBox="1"/>
          <p:nvPr/>
        </p:nvSpPr>
        <p:spPr>
          <a:xfrm>
            <a:off x="6508650" y="2982807"/>
            <a:ext cx="5269200" cy="4119300"/>
          </a:xfrm>
          <a:prstGeom prst="rect">
            <a:avLst/>
          </a:prstGeom>
          <a:noFill/>
          <a:ln>
            <a:noFill/>
          </a:ln>
        </p:spPr>
        <p:txBody>
          <a:bodyPr anchorCtr="0" anchor="t" bIns="0" lIns="0" spcFirstLastPara="1" rIns="0" wrap="square" tIns="0">
            <a:spAutoFit/>
          </a:bodyPr>
          <a:lstStyle/>
          <a:p>
            <a:pPr indent="0" lvl="0" marL="0" marR="0" rtl="0" algn="l">
              <a:lnSpc>
                <a:spcPct val="140045"/>
              </a:lnSpc>
              <a:spcBef>
                <a:spcPts val="0"/>
              </a:spcBef>
              <a:spcAft>
                <a:spcPts val="0"/>
              </a:spcAft>
              <a:buNone/>
            </a:pPr>
            <a:r>
              <a:rPr b="1" lang="en-US" sz="2948">
                <a:latin typeface="Poppins"/>
                <a:ea typeface="Poppins"/>
                <a:cs typeface="Poppins"/>
                <a:sym typeface="Poppins"/>
              </a:rPr>
              <a:t>Astrocytoma (IDH-mutant):</a:t>
            </a:r>
            <a:endParaRPr b="1" sz="2948">
              <a:latin typeface="Poppins"/>
              <a:ea typeface="Poppins"/>
              <a:cs typeface="Poppins"/>
              <a:sym typeface="Poppins"/>
            </a:endParaRPr>
          </a:p>
          <a:p>
            <a:pPr indent="-355600" lvl="0" marL="457200" marR="0" rtl="0" algn="l">
              <a:lnSpc>
                <a:spcPct val="140045"/>
              </a:lnSpc>
              <a:spcBef>
                <a:spcPts val="1000"/>
              </a:spcBef>
              <a:spcAft>
                <a:spcPts val="0"/>
              </a:spcAft>
              <a:buSzPts val="2000"/>
              <a:buFont typeface="Poppins"/>
              <a:buChar char="●"/>
            </a:pPr>
            <a:r>
              <a:rPr lang="en-US" sz="2000">
                <a:latin typeface="Poppins"/>
                <a:ea typeface="Poppins"/>
                <a:cs typeface="Poppins"/>
                <a:sym typeface="Poppins"/>
              </a:rPr>
              <a:t>Derived from astrocytes; occurs across a spectrum of grades.</a:t>
            </a:r>
            <a:endParaRPr sz="2000">
              <a:latin typeface="Poppins"/>
              <a:ea typeface="Poppins"/>
              <a:cs typeface="Poppins"/>
              <a:sym typeface="Poppins"/>
            </a:endParaRPr>
          </a:p>
          <a:p>
            <a:pPr indent="-355600" lvl="0" marL="457200" marR="0" rtl="0" algn="l">
              <a:lnSpc>
                <a:spcPct val="140045"/>
              </a:lnSpc>
              <a:spcBef>
                <a:spcPts val="1000"/>
              </a:spcBef>
              <a:spcAft>
                <a:spcPts val="0"/>
              </a:spcAft>
              <a:buSzPts val="2000"/>
              <a:buFont typeface="Poppins"/>
              <a:buChar char="●"/>
            </a:pPr>
            <a:r>
              <a:rPr lang="en-US" sz="2000">
                <a:latin typeface="Poppins"/>
                <a:ea typeface="Poppins"/>
                <a:cs typeface="Poppins"/>
                <a:sym typeface="Poppins"/>
              </a:rPr>
              <a:t>IDH mutation is a favorable prognostic marker.</a:t>
            </a:r>
            <a:endParaRPr sz="2000">
              <a:latin typeface="Poppins"/>
              <a:ea typeface="Poppins"/>
              <a:cs typeface="Poppins"/>
              <a:sym typeface="Poppins"/>
            </a:endParaRPr>
          </a:p>
          <a:p>
            <a:pPr indent="-355600" lvl="0" marL="457200" marR="0" rtl="0" algn="l">
              <a:lnSpc>
                <a:spcPct val="140045"/>
              </a:lnSpc>
              <a:spcBef>
                <a:spcPts val="1000"/>
              </a:spcBef>
              <a:spcAft>
                <a:spcPts val="1000"/>
              </a:spcAft>
              <a:buSzPts val="2000"/>
              <a:buFont typeface="Poppins"/>
              <a:buChar char="●"/>
            </a:pPr>
            <a:r>
              <a:rPr lang="en-US" sz="2000">
                <a:latin typeface="Poppins"/>
                <a:ea typeface="Poppins"/>
                <a:cs typeface="Poppins"/>
                <a:sym typeface="Poppins"/>
              </a:rPr>
              <a:t>Slower progression than GBM, but still infiltrative [4].</a:t>
            </a:r>
            <a:endParaRPr b="1" sz="2948">
              <a:latin typeface="Poppins"/>
              <a:ea typeface="Poppins"/>
              <a:cs typeface="Poppins"/>
              <a:sym typeface="Poppins"/>
            </a:endParaRPr>
          </a:p>
        </p:txBody>
      </p:sp>
      <p:sp>
        <p:nvSpPr>
          <p:cNvPr id="115" name="Google Shape;115;p4"/>
          <p:cNvSpPr txBox="1"/>
          <p:nvPr/>
        </p:nvSpPr>
        <p:spPr>
          <a:xfrm>
            <a:off x="12676775" y="2982807"/>
            <a:ext cx="4924800" cy="3915000"/>
          </a:xfrm>
          <a:prstGeom prst="rect">
            <a:avLst/>
          </a:prstGeom>
          <a:noFill/>
          <a:ln>
            <a:noFill/>
          </a:ln>
        </p:spPr>
        <p:txBody>
          <a:bodyPr anchorCtr="0" anchor="t" bIns="0" lIns="0" spcFirstLastPara="1" rIns="0" wrap="square" tIns="0">
            <a:spAutoFit/>
          </a:bodyPr>
          <a:lstStyle/>
          <a:p>
            <a:pPr indent="0" lvl="0" marL="0" marR="0" rtl="0" algn="l">
              <a:lnSpc>
                <a:spcPct val="140045"/>
              </a:lnSpc>
              <a:spcBef>
                <a:spcPts val="0"/>
              </a:spcBef>
              <a:spcAft>
                <a:spcPts val="0"/>
              </a:spcAft>
              <a:buNone/>
            </a:pPr>
            <a:r>
              <a:rPr b="1" lang="en-US" sz="2948">
                <a:latin typeface="Poppins"/>
                <a:ea typeface="Poppins"/>
                <a:cs typeface="Poppins"/>
                <a:sym typeface="Poppins"/>
              </a:rPr>
              <a:t>Oligodendroglioma:</a:t>
            </a:r>
            <a:endParaRPr b="1" sz="2948">
              <a:latin typeface="Poppins"/>
              <a:ea typeface="Poppins"/>
              <a:cs typeface="Poppins"/>
              <a:sym typeface="Poppins"/>
            </a:endParaRPr>
          </a:p>
          <a:p>
            <a:pPr indent="-355600" lvl="0" marL="457200" marR="0" rtl="0" algn="l">
              <a:lnSpc>
                <a:spcPct val="140045"/>
              </a:lnSpc>
              <a:spcBef>
                <a:spcPts val="1000"/>
              </a:spcBef>
              <a:spcAft>
                <a:spcPts val="0"/>
              </a:spcAft>
              <a:buSzPts val="2000"/>
              <a:buFont typeface="Poppins"/>
              <a:buChar char="●"/>
            </a:pPr>
            <a:r>
              <a:rPr lang="en-US" sz="2000">
                <a:latin typeface="Poppins"/>
                <a:ea typeface="Poppins"/>
                <a:cs typeface="Poppins"/>
                <a:sym typeface="Poppins"/>
              </a:rPr>
              <a:t>Arises from oligodendrocytes; generally slow-growing.</a:t>
            </a:r>
            <a:endParaRPr sz="2000">
              <a:latin typeface="Poppins"/>
              <a:ea typeface="Poppins"/>
              <a:cs typeface="Poppins"/>
              <a:sym typeface="Poppins"/>
            </a:endParaRPr>
          </a:p>
          <a:p>
            <a:pPr indent="-355600" lvl="0" marL="457200" marR="0" rtl="0" algn="l">
              <a:lnSpc>
                <a:spcPct val="140045"/>
              </a:lnSpc>
              <a:spcBef>
                <a:spcPts val="1000"/>
              </a:spcBef>
              <a:spcAft>
                <a:spcPts val="0"/>
              </a:spcAft>
              <a:buSzPts val="2000"/>
              <a:buFont typeface="Poppins"/>
              <a:buChar char="●"/>
            </a:pPr>
            <a:r>
              <a:rPr lang="en-US" sz="2000">
                <a:latin typeface="Poppins"/>
                <a:ea typeface="Poppins"/>
                <a:cs typeface="Poppins"/>
                <a:sym typeface="Poppins"/>
              </a:rPr>
              <a:t>Defined by IDH mutation and 1p/19q co-deletion.</a:t>
            </a:r>
            <a:endParaRPr sz="2000">
              <a:latin typeface="Poppins"/>
              <a:ea typeface="Poppins"/>
              <a:cs typeface="Poppins"/>
              <a:sym typeface="Poppins"/>
            </a:endParaRPr>
          </a:p>
          <a:p>
            <a:pPr indent="-355600" lvl="0" marL="457200" marR="0" rtl="0" algn="l">
              <a:lnSpc>
                <a:spcPct val="140045"/>
              </a:lnSpc>
              <a:spcBef>
                <a:spcPts val="1000"/>
              </a:spcBef>
              <a:spcAft>
                <a:spcPts val="1000"/>
              </a:spcAft>
              <a:buSzPts val="2000"/>
              <a:buFont typeface="Poppins"/>
              <a:buChar char="●"/>
            </a:pPr>
            <a:r>
              <a:rPr lang="en-US" sz="2000">
                <a:latin typeface="Poppins"/>
                <a:ea typeface="Poppins"/>
                <a:cs typeface="Poppins"/>
                <a:sym typeface="Poppins"/>
              </a:rPr>
              <a:t>Better prognosis and chemosensitivity than other gliomas [5].</a:t>
            </a:r>
            <a:endParaRPr sz="2000">
              <a:latin typeface="Poppins"/>
              <a:ea typeface="Poppins"/>
              <a:cs typeface="Poppins"/>
              <a:sym typeface="Poppins"/>
            </a:endParaRPr>
          </a:p>
        </p:txBody>
      </p:sp>
      <p:sp>
        <p:nvSpPr>
          <p:cNvPr id="116" name="Google Shape;116;p4"/>
          <p:cNvSpPr/>
          <p:nvPr/>
        </p:nvSpPr>
        <p:spPr>
          <a:xfrm>
            <a:off x="11901600" y="2830407"/>
            <a:ext cx="128016" cy="4470399"/>
          </a:xfrm>
          <a:custGeom>
            <a:rect b="b" l="l" r="r" t="t"/>
            <a:pathLst>
              <a:path extrusionOk="0" h="2709333" w="812800">
                <a:moveTo>
                  <a:pt x="0" y="0"/>
                </a:moveTo>
                <a:lnTo>
                  <a:pt x="812800" y="0"/>
                </a:lnTo>
                <a:lnTo>
                  <a:pt x="812800" y="2709333"/>
                </a:lnTo>
                <a:lnTo>
                  <a:pt x="0" y="2709333"/>
                </a:lnTo>
                <a:close/>
              </a:path>
            </a:pathLst>
          </a:custGeom>
          <a:solidFill>
            <a:srgbClr val="593C8F"/>
          </a:solid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0311" r="-20309" t="0"/>
            </a:stretch>
          </a:blipFill>
          <a:ln>
            <a:noFill/>
          </a:ln>
        </p:spPr>
      </p:sp>
      <p:sp>
        <p:nvSpPr>
          <p:cNvPr id="122" name="Google Shape;122;p5"/>
          <p:cNvSpPr txBox="1"/>
          <p:nvPr/>
        </p:nvSpPr>
        <p:spPr>
          <a:xfrm>
            <a:off x="1029800" y="1292350"/>
            <a:ext cx="8686500" cy="69270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lang="en-US" sz="4500">
                <a:solidFill>
                  <a:srgbClr val="593C8F"/>
                </a:solidFill>
                <a:latin typeface="League Spartan"/>
                <a:ea typeface="League Spartan"/>
                <a:cs typeface="League Spartan"/>
                <a:sym typeface="League Spartan"/>
              </a:rPr>
              <a:t>Project Objective &amp; Significance</a:t>
            </a:r>
            <a:endParaRPr sz="4500"/>
          </a:p>
        </p:txBody>
      </p:sp>
      <p:cxnSp>
        <p:nvCxnSpPr>
          <p:cNvPr id="123" name="Google Shape;123;p5"/>
          <p:cNvCxnSpPr/>
          <p:nvPr/>
        </p:nvCxnSpPr>
        <p:spPr>
          <a:xfrm>
            <a:off x="1029792" y="2252109"/>
            <a:ext cx="2618740" cy="0"/>
          </a:xfrm>
          <a:prstGeom prst="straightConnector1">
            <a:avLst/>
          </a:prstGeom>
          <a:noFill/>
          <a:ln cap="flat" cmpd="sng" w="38100">
            <a:solidFill>
              <a:srgbClr val="000000"/>
            </a:solidFill>
            <a:prstDash val="solid"/>
            <a:round/>
            <a:headEnd len="sm" w="sm" type="none"/>
            <a:tailEnd len="sm" w="sm" type="none"/>
          </a:ln>
        </p:spPr>
      </p:cxnSp>
      <p:sp>
        <p:nvSpPr>
          <p:cNvPr id="124" name="Google Shape;124;p5"/>
          <p:cNvSpPr txBox="1"/>
          <p:nvPr/>
        </p:nvSpPr>
        <p:spPr>
          <a:xfrm>
            <a:off x="1029800" y="2900475"/>
            <a:ext cx="16183500" cy="4375200"/>
          </a:xfrm>
          <a:prstGeom prst="rect">
            <a:avLst/>
          </a:prstGeom>
          <a:noFill/>
          <a:ln>
            <a:noFill/>
          </a:ln>
        </p:spPr>
        <p:txBody>
          <a:bodyPr anchorCtr="0" anchor="t" bIns="0" lIns="0" spcFirstLastPara="1" rIns="0" wrap="square" tIns="0">
            <a:spAutoFit/>
          </a:bodyPr>
          <a:lstStyle/>
          <a:p>
            <a:pPr indent="-447547" lvl="0" marL="457200" marR="0" rtl="0" algn="l">
              <a:lnSpc>
                <a:spcPct val="140045"/>
              </a:lnSpc>
              <a:spcBef>
                <a:spcPts val="0"/>
              </a:spcBef>
              <a:spcAft>
                <a:spcPts val="0"/>
              </a:spcAft>
              <a:buSzPts val="3448"/>
              <a:buFont typeface="Poppins"/>
              <a:buChar char="●"/>
            </a:pPr>
            <a:r>
              <a:rPr lang="en-US" sz="3448">
                <a:latin typeface="Poppins"/>
                <a:ea typeface="Poppins"/>
                <a:cs typeface="Poppins"/>
                <a:sym typeface="Poppins"/>
              </a:rPr>
              <a:t>Develop interpretable </a:t>
            </a:r>
            <a:r>
              <a:rPr b="1" lang="en-US" sz="3448">
                <a:latin typeface="Poppins"/>
                <a:ea typeface="Poppins"/>
                <a:cs typeface="Poppins"/>
                <a:sym typeface="Poppins"/>
              </a:rPr>
              <a:t>machine learning models</a:t>
            </a:r>
            <a:r>
              <a:rPr lang="en-US" sz="3448">
                <a:latin typeface="Poppins"/>
                <a:ea typeface="Poppins"/>
                <a:cs typeface="Poppins"/>
                <a:sym typeface="Poppins"/>
              </a:rPr>
              <a:t> that classify brain tumor subtypes—Glioblastoma, Astrocytoma, and Oligodendroglioma—based on </a:t>
            </a:r>
            <a:r>
              <a:rPr b="1" lang="en-US" sz="3448">
                <a:latin typeface="Poppins"/>
                <a:ea typeface="Poppins"/>
                <a:cs typeface="Poppins"/>
                <a:sym typeface="Poppins"/>
              </a:rPr>
              <a:t>radiomic features</a:t>
            </a:r>
            <a:endParaRPr b="1" sz="3448">
              <a:latin typeface="Poppins"/>
              <a:ea typeface="Poppins"/>
              <a:cs typeface="Poppins"/>
              <a:sym typeface="Poppins"/>
            </a:endParaRPr>
          </a:p>
          <a:p>
            <a:pPr indent="-447547" lvl="0" marL="457200" marR="0" rtl="0" algn="l">
              <a:lnSpc>
                <a:spcPct val="140045"/>
              </a:lnSpc>
              <a:spcBef>
                <a:spcPts val="1000"/>
              </a:spcBef>
              <a:spcAft>
                <a:spcPts val="0"/>
              </a:spcAft>
              <a:buSzPts val="3448"/>
              <a:buFont typeface="Poppins"/>
              <a:buChar char="●"/>
            </a:pPr>
            <a:r>
              <a:rPr lang="en-US" sz="3448">
                <a:latin typeface="Poppins"/>
                <a:ea typeface="Poppins"/>
                <a:cs typeface="Poppins"/>
                <a:sym typeface="Poppins"/>
              </a:rPr>
              <a:t>Radiomics offers a </a:t>
            </a:r>
            <a:r>
              <a:rPr b="1" lang="en-US" sz="3448">
                <a:latin typeface="Poppins"/>
                <a:ea typeface="Poppins"/>
                <a:cs typeface="Poppins"/>
                <a:sym typeface="Poppins"/>
              </a:rPr>
              <a:t>non-invasive alternative</a:t>
            </a:r>
            <a:r>
              <a:rPr lang="en-US" sz="3448">
                <a:latin typeface="Poppins"/>
                <a:ea typeface="Poppins"/>
                <a:cs typeface="Poppins"/>
                <a:sym typeface="Poppins"/>
              </a:rPr>
              <a:t> by extracting </a:t>
            </a:r>
            <a:r>
              <a:rPr b="1" lang="en-US" sz="3448">
                <a:latin typeface="Poppins"/>
                <a:ea typeface="Poppins"/>
                <a:cs typeface="Poppins"/>
                <a:sym typeface="Poppins"/>
              </a:rPr>
              <a:t>high-dimensional features </a:t>
            </a:r>
            <a:r>
              <a:rPr lang="en-US" sz="3448">
                <a:latin typeface="Poppins"/>
                <a:ea typeface="Poppins"/>
                <a:cs typeface="Poppins"/>
                <a:sym typeface="Poppins"/>
              </a:rPr>
              <a:t>from MRI scans, enabling automated, </a:t>
            </a:r>
            <a:r>
              <a:rPr b="1" lang="en-US" sz="3448">
                <a:latin typeface="Poppins"/>
                <a:ea typeface="Poppins"/>
                <a:cs typeface="Poppins"/>
                <a:sym typeface="Poppins"/>
              </a:rPr>
              <a:t>image-based classification </a:t>
            </a:r>
            <a:r>
              <a:rPr lang="en-US" sz="3448">
                <a:latin typeface="Poppins"/>
                <a:ea typeface="Poppins"/>
                <a:cs typeface="Poppins"/>
                <a:sym typeface="Poppins"/>
              </a:rPr>
              <a:t>of glioma subtypes.</a:t>
            </a:r>
            <a:endParaRPr sz="3448">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0309" r="-20309" t="0"/>
            </a:stretch>
          </a:blipFill>
          <a:ln>
            <a:noFill/>
          </a:ln>
        </p:spPr>
      </p:sp>
      <p:sp>
        <p:nvSpPr>
          <p:cNvPr id="130" name="Google Shape;130;p6"/>
          <p:cNvSpPr txBox="1"/>
          <p:nvPr/>
        </p:nvSpPr>
        <p:spPr>
          <a:xfrm>
            <a:off x="4186537" y="1699586"/>
            <a:ext cx="4957500" cy="72300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lang="en-US" sz="4698">
                <a:solidFill>
                  <a:srgbClr val="593C8F"/>
                </a:solidFill>
                <a:latin typeface="League Spartan"/>
                <a:ea typeface="League Spartan"/>
                <a:cs typeface="League Spartan"/>
                <a:sym typeface="League Spartan"/>
              </a:rPr>
              <a:t>Data Sources:</a:t>
            </a:r>
            <a:endParaRPr sz="1800"/>
          </a:p>
        </p:txBody>
      </p:sp>
      <p:cxnSp>
        <p:nvCxnSpPr>
          <p:cNvPr id="131" name="Google Shape;131;p6"/>
          <p:cNvCxnSpPr/>
          <p:nvPr/>
        </p:nvCxnSpPr>
        <p:spPr>
          <a:xfrm>
            <a:off x="4187609" y="2542074"/>
            <a:ext cx="2618740" cy="0"/>
          </a:xfrm>
          <a:prstGeom prst="straightConnector1">
            <a:avLst/>
          </a:prstGeom>
          <a:noFill/>
          <a:ln cap="flat" cmpd="sng" w="38100">
            <a:solidFill>
              <a:srgbClr val="000000"/>
            </a:solidFill>
            <a:prstDash val="solid"/>
            <a:round/>
            <a:headEnd len="sm" w="sm" type="none"/>
            <a:tailEnd len="sm" w="sm" type="none"/>
          </a:ln>
        </p:spPr>
      </p:cxnSp>
      <p:grpSp>
        <p:nvGrpSpPr>
          <p:cNvPr id="132" name="Google Shape;132;p6"/>
          <p:cNvGrpSpPr/>
          <p:nvPr/>
        </p:nvGrpSpPr>
        <p:grpSpPr>
          <a:xfrm>
            <a:off x="0" y="-180826"/>
            <a:ext cx="3086100" cy="10467826"/>
            <a:chOff x="0" y="-47625"/>
            <a:chExt cx="812800" cy="2756958"/>
          </a:xfrm>
        </p:grpSpPr>
        <p:sp>
          <p:nvSpPr>
            <p:cNvPr id="133" name="Google Shape;133;p6"/>
            <p:cNvSpPr/>
            <p:nvPr/>
          </p:nvSpPr>
          <p:spPr>
            <a:xfrm>
              <a:off x="0" y="0"/>
              <a:ext cx="812800" cy="2709333"/>
            </a:xfrm>
            <a:custGeom>
              <a:rect b="b" l="l" r="r" t="t"/>
              <a:pathLst>
                <a:path extrusionOk="0" h="2709333" w="812800">
                  <a:moveTo>
                    <a:pt x="0" y="0"/>
                  </a:moveTo>
                  <a:lnTo>
                    <a:pt x="812800" y="0"/>
                  </a:lnTo>
                  <a:lnTo>
                    <a:pt x="812800" y="2709333"/>
                  </a:lnTo>
                  <a:lnTo>
                    <a:pt x="0" y="2709333"/>
                  </a:lnTo>
                  <a:close/>
                </a:path>
              </a:pathLst>
            </a:custGeom>
            <a:solidFill>
              <a:srgbClr val="593C8F"/>
            </a:solidFill>
            <a:ln>
              <a:noFill/>
            </a:ln>
          </p:spPr>
        </p:sp>
        <p:sp>
          <p:nvSpPr>
            <p:cNvPr id="134" name="Google Shape;134;p6"/>
            <p:cNvSpPr txBox="1"/>
            <p:nvPr/>
          </p:nvSpPr>
          <p:spPr>
            <a:xfrm>
              <a:off x="0" y="-47625"/>
              <a:ext cx="812800"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5" name="Google Shape;135;p6"/>
          <p:cNvSpPr/>
          <p:nvPr/>
        </p:nvSpPr>
        <p:spPr>
          <a:xfrm>
            <a:off x="4189304" y="8617964"/>
            <a:ext cx="2087283" cy="521821"/>
          </a:xfrm>
          <a:custGeom>
            <a:rect b="b" l="l" r="r" t="t"/>
            <a:pathLst>
              <a:path extrusionOk="0" h="521821" w="2087283">
                <a:moveTo>
                  <a:pt x="0" y="0"/>
                </a:moveTo>
                <a:lnTo>
                  <a:pt x="2087283" y="0"/>
                </a:lnTo>
                <a:lnTo>
                  <a:pt x="2087283" y="521821"/>
                </a:lnTo>
                <a:lnTo>
                  <a:pt x="0" y="521821"/>
                </a:lnTo>
                <a:lnTo>
                  <a:pt x="0" y="0"/>
                </a:lnTo>
                <a:close/>
              </a:path>
            </a:pathLst>
          </a:custGeom>
          <a:blipFill rotWithShape="1">
            <a:blip r:embed="rId4">
              <a:alphaModFix/>
            </a:blip>
            <a:stretch>
              <a:fillRect b="0" l="0" r="0" t="0"/>
            </a:stretch>
          </a:blipFill>
          <a:ln>
            <a:noFill/>
          </a:ln>
        </p:spPr>
      </p:sp>
      <p:sp>
        <p:nvSpPr>
          <p:cNvPr id="136" name="Google Shape;136;p6"/>
          <p:cNvSpPr txBox="1"/>
          <p:nvPr/>
        </p:nvSpPr>
        <p:spPr>
          <a:xfrm>
            <a:off x="4186525" y="2833357"/>
            <a:ext cx="4663200" cy="3803100"/>
          </a:xfrm>
          <a:prstGeom prst="rect">
            <a:avLst/>
          </a:prstGeom>
          <a:noFill/>
          <a:ln>
            <a:noFill/>
          </a:ln>
        </p:spPr>
        <p:txBody>
          <a:bodyPr anchorCtr="0" anchor="t" bIns="0" lIns="0" spcFirstLastPara="1" rIns="0" wrap="square" tIns="0">
            <a:spAutoFit/>
          </a:bodyPr>
          <a:lstStyle/>
          <a:p>
            <a:pPr indent="0" lvl="0" marL="0" marR="0" rtl="0" algn="l">
              <a:lnSpc>
                <a:spcPct val="140045"/>
              </a:lnSpc>
              <a:spcBef>
                <a:spcPts val="0"/>
              </a:spcBef>
              <a:spcAft>
                <a:spcPts val="0"/>
              </a:spcAft>
              <a:buNone/>
            </a:pPr>
            <a:r>
              <a:t/>
            </a:r>
            <a:endParaRPr b="1" sz="2948">
              <a:latin typeface="Poppins"/>
              <a:ea typeface="Poppins"/>
              <a:cs typeface="Poppins"/>
              <a:sym typeface="Poppins"/>
            </a:endParaRPr>
          </a:p>
          <a:p>
            <a:pPr indent="-355600" lvl="0" marL="457200" marR="0" rtl="0" algn="l">
              <a:lnSpc>
                <a:spcPct val="140045"/>
              </a:lnSpc>
              <a:spcBef>
                <a:spcPts val="1000"/>
              </a:spcBef>
              <a:spcAft>
                <a:spcPts val="0"/>
              </a:spcAft>
              <a:buSzPts val="2000"/>
              <a:buFont typeface="Poppins"/>
              <a:buChar char="●"/>
            </a:pPr>
            <a:r>
              <a:rPr b="1" lang="en-US" sz="3200">
                <a:latin typeface="Poppins"/>
                <a:ea typeface="Poppins"/>
                <a:cs typeface="Poppins"/>
                <a:sym typeface="Poppins"/>
              </a:rPr>
              <a:t>TCGA (The Cancer Genome Atlas): </a:t>
            </a:r>
            <a:r>
              <a:rPr lang="en-US" sz="2500">
                <a:latin typeface="Poppins"/>
                <a:ea typeface="Poppins"/>
                <a:cs typeface="Poppins"/>
                <a:sym typeface="Poppins"/>
              </a:rPr>
              <a:t>Precomputed radiomic features + clinical labels</a:t>
            </a:r>
            <a:endParaRPr sz="2500">
              <a:latin typeface="Poppins"/>
              <a:ea typeface="Poppins"/>
              <a:cs typeface="Poppins"/>
              <a:sym typeface="Poppins"/>
            </a:endParaRPr>
          </a:p>
          <a:p>
            <a:pPr indent="0" lvl="0" marL="0" marR="0" rtl="0" algn="l">
              <a:lnSpc>
                <a:spcPct val="140045"/>
              </a:lnSpc>
              <a:spcBef>
                <a:spcPts val="1000"/>
              </a:spcBef>
              <a:spcAft>
                <a:spcPts val="0"/>
              </a:spcAft>
              <a:buNone/>
            </a:pPr>
            <a:r>
              <a:t/>
            </a:r>
            <a:endParaRPr b="1" sz="2948">
              <a:latin typeface="Poppins"/>
              <a:ea typeface="Poppins"/>
              <a:cs typeface="Poppins"/>
              <a:sym typeface="Poppins"/>
            </a:endParaRPr>
          </a:p>
        </p:txBody>
      </p:sp>
      <p:sp>
        <p:nvSpPr>
          <p:cNvPr id="137" name="Google Shape;137;p6"/>
          <p:cNvSpPr txBox="1"/>
          <p:nvPr/>
        </p:nvSpPr>
        <p:spPr>
          <a:xfrm>
            <a:off x="10472775" y="2964457"/>
            <a:ext cx="4663200" cy="3113400"/>
          </a:xfrm>
          <a:prstGeom prst="rect">
            <a:avLst/>
          </a:prstGeom>
          <a:noFill/>
          <a:ln>
            <a:noFill/>
          </a:ln>
        </p:spPr>
        <p:txBody>
          <a:bodyPr anchorCtr="0" anchor="t" bIns="0" lIns="0" spcFirstLastPara="1" rIns="0" wrap="square" tIns="0">
            <a:spAutoFit/>
          </a:bodyPr>
          <a:lstStyle/>
          <a:p>
            <a:pPr indent="0" lvl="0" marL="0" marR="0" rtl="0" algn="l">
              <a:lnSpc>
                <a:spcPct val="140045"/>
              </a:lnSpc>
              <a:spcBef>
                <a:spcPts val="0"/>
              </a:spcBef>
              <a:spcAft>
                <a:spcPts val="0"/>
              </a:spcAft>
              <a:buNone/>
            </a:pPr>
            <a:r>
              <a:t/>
            </a:r>
            <a:endParaRPr b="1" sz="2948">
              <a:latin typeface="Poppins"/>
              <a:ea typeface="Poppins"/>
              <a:cs typeface="Poppins"/>
              <a:sym typeface="Poppins"/>
            </a:endParaRPr>
          </a:p>
          <a:p>
            <a:pPr indent="-355600" lvl="0" marL="457200" marR="0" rtl="0" algn="l">
              <a:lnSpc>
                <a:spcPct val="140045"/>
              </a:lnSpc>
              <a:spcBef>
                <a:spcPts val="1000"/>
              </a:spcBef>
              <a:spcAft>
                <a:spcPts val="0"/>
              </a:spcAft>
              <a:buSzPts val="2000"/>
              <a:buFont typeface="Poppins"/>
              <a:buChar char="●"/>
            </a:pPr>
            <a:r>
              <a:rPr b="1" lang="en-US" sz="3200">
                <a:latin typeface="Poppins"/>
                <a:ea typeface="Poppins"/>
                <a:cs typeface="Poppins"/>
                <a:sym typeface="Poppins"/>
              </a:rPr>
              <a:t>REMBRANDT</a:t>
            </a:r>
            <a:r>
              <a:rPr b="1" lang="en-US" sz="3200">
                <a:latin typeface="Poppins"/>
                <a:ea typeface="Poppins"/>
                <a:cs typeface="Poppins"/>
                <a:sym typeface="Poppins"/>
              </a:rPr>
              <a:t>: </a:t>
            </a:r>
            <a:r>
              <a:rPr lang="en-US" sz="2500">
                <a:latin typeface="Poppins"/>
                <a:ea typeface="Poppins"/>
                <a:cs typeface="Poppins"/>
                <a:sym typeface="Poppins"/>
              </a:rPr>
              <a:t>T1-weighted MRI scans + segmentation masks</a:t>
            </a:r>
            <a:endParaRPr sz="2500">
              <a:latin typeface="Poppins"/>
              <a:ea typeface="Poppins"/>
              <a:cs typeface="Poppins"/>
              <a:sym typeface="Poppins"/>
            </a:endParaRPr>
          </a:p>
          <a:p>
            <a:pPr indent="0" lvl="0" marL="0" marR="0" rtl="0" algn="l">
              <a:lnSpc>
                <a:spcPct val="140045"/>
              </a:lnSpc>
              <a:spcBef>
                <a:spcPts val="1000"/>
              </a:spcBef>
              <a:spcAft>
                <a:spcPts val="0"/>
              </a:spcAft>
              <a:buNone/>
            </a:pPr>
            <a:r>
              <a:t/>
            </a:r>
            <a:endParaRPr b="1" sz="2948">
              <a:latin typeface="Poppins"/>
              <a:ea typeface="Poppins"/>
              <a:cs typeface="Poppins"/>
              <a:sym typeface="Poppins"/>
            </a:endParaRPr>
          </a:p>
        </p:txBody>
      </p:sp>
      <p:sp>
        <p:nvSpPr>
          <p:cNvPr id="138" name="Google Shape;138;p6"/>
          <p:cNvSpPr txBox="1"/>
          <p:nvPr/>
        </p:nvSpPr>
        <p:spPr>
          <a:xfrm>
            <a:off x="4280900" y="6793800"/>
            <a:ext cx="11228400" cy="110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3000">
                <a:solidFill>
                  <a:schemeClr val="dk1"/>
                </a:solidFill>
                <a:latin typeface="Poppins"/>
                <a:ea typeface="Poppins"/>
                <a:cs typeface="Poppins"/>
                <a:sym typeface="Poppins"/>
              </a:rPr>
              <a:t>Tumor classes: </a:t>
            </a:r>
            <a:endParaRPr b="1" sz="3000">
              <a:solidFill>
                <a:schemeClr val="dk1"/>
              </a:solidFill>
              <a:latin typeface="Poppins"/>
              <a:ea typeface="Poppins"/>
              <a:cs typeface="Poppins"/>
              <a:sym typeface="Poppins"/>
            </a:endParaRPr>
          </a:p>
          <a:p>
            <a:pPr indent="0" lvl="0" marL="0" rtl="0" algn="ctr">
              <a:spcBef>
                <a:spcPts val="0"/>
              </a:spcBef>
              <a:spcAft>
                <a:spcPts val="0"/>
              </a:spcAft>
              <a:buNone/>
            </a:pPr>
            <a:r>
              <a:rPr lang="en-US" sz="3000">
                <a:solidFill>
                  <a:schemeClr val="dk1"/>
                </a:solidFill>
                <a:latin typeface="Poppins"/>
                <a:ea typeface="Poppins"/>
                <a:cs typeface="Poppins"/>
                <a:sym typeface="Poppins"/>
              </a:rPr>
              <a:t>GBM, Oligodendroglioma, Astrocytoma</a:t>
            </a:r>
            <a:endParaRPr sz="1900">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7"/>
          <p:cNvSpPr txBox="1"/>
          <p:nvPr/>
        </p:nvSpPr>
        <p:spPr>
          <a:xfrm>
            <a:off x="1029775" y="1441425"/>
            <a:ext cx="7196700" cy="69270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lang="en-US" sz="4500">
                <a:solidFill>
                  <a:srgbClr val="593C8F"/>
                </a:solidFill>
                <a:latin typeface="League Spartan"/>
                <a:ea typeface="League Spartan"/>
                <a:cs typeface="League Spartan"/>
                <a:sym typeface="League Spartan"/>
              </a:rPr>
              <a:t>Methodology</a:t>
            </a:r>
            <a:endParaRPr sz="4500"/>
          </a:p>
        </p:txBody>
      </p:sp>
      <p:cxnSp>
        <p:nvCxnSpPr>
          <p:cNvPr id="144" name="Google Shape;144;p7"/>
          <p:cNvCxnSpPr/>
          <p:nvPr/>
        </p:nvCxnSpPr>
        <p:spPr>
          <a:xfrm>
            <a:off x="1029771" y="2252109"/>
            <a:ext cx="2618740" cy="0"/>
          </a:xfrm>
          <a:prstGeom prst="straightConnector1">
            <a:avLst/>
          </a:prstGeom>
          <a:noFill/>
          <a:ln cap="flat" cmpd="sng" w="38100">
            <a:solidFill>
              <a:srgbClr val="000000"/>
            </a:solidFill>
            <a:prstDash val="solid"/>
            <a:round/>
            <a:headEnd len="sm" w="sm" type="none"/>
            <a:tailEnd len="sm" w="sm" type="none"/>
          </a:ln>
        </p:spPr>
      </p:cxnSp>
      <p:grpSp>
        <p:nvGrpSpPr>
          <p:cNvPr id="145" name="Google Shape;145;p7"/>
          <p:cNvGrpSpPr/>
          <p:nvPr/>
        </p:nvGrpSpPr>
        <p:grpSpPr>
          <a:xfrm rot="5400000">
            <a:off x="12456813" y="4275067"/>
            <a:ext cx="10342463" cy="1681560"/>
            <a:chOff x="0" y="-47625"/>
            <a:chExt cx="1403167" cy="4864218"/>
          </a:xfrm>
        </p:grpSpPr>
        <p:sp>
          <p:nvSpPr>
            <p:cNvPr id="146" name="Google Shape;146;p7"/>
            <p:cNvSpPr/>
            <p:nvPr/>
          </p:nvSpPr>
          <p:spPr>
            <a:xfrm>
              <a:off x="0" y="0"/>
              <a:ext cx="1403167" cy="4816592"/>
            </a:xfrm>
            <a:custGeom>
              <a:rect b="b" l="l" r="r" t="t"/>
              <a:pathLst>
                <a:path extrusionOk="0" h="4816592" w="1403167">
                  <a:moveTo>
                    <a:pt x="0" y="0"/>
                  </a:moveTo>
                  <a:lnTo>
                    <a:pt x="1403167" y="0"/>
                  </a:lnTo>
                  <a:lnTo>
                    <a:pt x="1403167" y="4816592"/>
                  </a:lnTo>
                  <a:lnTo>
                    <a:pt x="0" y="4816592"/>
                  </a:lnTo>
                  <a:close/>
                </a:path>
              </a:pathLst>
            </a:custGeom>
            <a:solidFill>
              <a:srgbClr val="593C8F"/>
            </a:solidFill>
            <a:ln>
              <a:noFill/>
            </a:ln>
          </p:spPr>
        </p:sp>
        <p:sp>
          <p:nvSpPr>
            <p:cNvPr id="147" name="Google Shape;147;p7"/>
            <p:cNvSpPr txBox="1"/>
            <p:nvPr/>
          </p:nvSpPr>
          <p:spPr>
            <a:xfrm>
              <a:off x="0" y="-47625"/>
              <a:ext cx="1403167" cy="486421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8" name="Google Shape;148;p7"/>
          <p:cNvSpPr txBox="1"/>
          <p:nvPr/>
        </p:nvSpPr>
        <p:spPr>
          <a:xfrm>
            <a:off x="1028700" y="2833350"/>
            <a:ext cx="16312200" cy="5233800"/>
          </a:xfrm>
          <a:prstGeom prst="rect">
            <a:avLst/>
          </a:prstGeom>
          <a:noFill/>
          <a:ln>
            <a:noFill/>
          </a:ln>
        </p:spPr>
        <p:txBody>
          <a:bodyPr anchorCtr="0" anchor="t" bIns="0" lIns="0" spcFirstLastPara="1" rIns="0" wrap="square" tIns="0">
            <a:spAutoFit/>
          </a:bodyPr>
          <a:lstStyle/>
          <a:p>
            <a:pPr indent="-431800" lvl="0" marL="457200" marR="0" rtl="0" algn="l">
              <a:lnSpc>
                <a:spcPct val="140045"/>
              </a:lnSpc>
              <a:spcBef>
                <a:spcPts val="0"/>
              </a:spcBef>
              <a:spcAft>
                <a:spcPts val="0"/>
              </a:spcAft>
              <a:buSzPts val="3200"/>
              <a:buFont typeface="Poppins"/>
              <a:buChar char="●"/>
            </a:pPr>
            <a:r>
              <a:rPr b="1" lang="en-US" sz="3200">
                <a:latin typeface="Poppins"/>
                <a:ea typeface="Poppins"/>
                <a:cs typeface="Poppins"/>
                <a:sym typeface="Poppins"/>
              </a:rPr>
              <a:t>Classification Strategy:</a:t>
            </a:r>
            <a:r>
              <a:rPr lang="en-US" sz="3200">
                <a:latin typeface="Poppins"/>
                <a:ea typeface="Poppins"/>
                <a:cs typeface="Poppins"/>
                <a:sym typeface="Poppins"/>
              </a:rPr>
              <a:t> One-vs-Rest (OvR)</a:t>
            </a:r>
            <a:endParaRPr sz="3200">
              <a:latin typeface="Poppins"/>
              <a:ea typeface="Poppins"/>
              <a:cs typeface="Poppins"/>
              <a:sym typeface="Poppins"/>
            </a:endParaRPr>
          </a:p>
          <a:p>
            <a:pPr indent="-431800" lvl="0" marL="457200" marR="0" rtl="0" algn="l">
              <a:lnSpc>
                <a:spcPct val="140045"/>
              </a:lnSpc>
              <a:spcBef>
                <a:spcPts val="0"/>
              </a:spcBef>
              <a:spcAft>
                <a:spcPts val="0"/>
              </a:spcAft>
              <a:buSzPts val="3200"/>
              <a:buFont typeface="Poppins"/>
              <a:buChar char="●"/>
            </a:pPr>
            <a:r>
              <a:rPr lang="en-US" sz="3200">
                <a:latin typeface="Poppins"/>
                <a:ea typeface="Poppins"/>
                <a:cs typeface="Poppins"/>
                <a:sym typeface="Poppins"/>
              </a:rPr>
              <a:t>Final label chosen based on the </a:t>
            </a:r>
            <a:r>
              <a:rPr b="1" lang="en-US" sz="3200">
                <a:latin typeface="Poppins"/>
                <a:ea typeface="Poppins"/>
                <a:cs typeface="Poppins"/>
                <a:sym typeface="Poppins"/>
              </a:rPr>
              <a:t>highest probability across models</a:t>
            </a:r>
            <a:endParaRPr b="1" sz="3200">
              <a:latin typeface="Poppins"/>
              <a:ea typeface="Poppins"/>
              <a:cs typeface="Poppins"/>
              <a:sym typeface="Poppins"/>
            </a:endParaRPr>
          </a:p>
          <a:p>
            <a:pPr indent="-431800" lvl="0" marL="457200" marR="0" rtl="0" algn="l">
              <a:lnSpc>
                <a:spcPct val="140045"/>
              </a:lnSpc>
              <a:spcBef>
                <a:spcPts val="1000"/>
              </a:spcBef>
              <a:spcAft>
                <a:spcPts val="0"/>
              </a:spcAft>
              <a:buSzPts val="3200"/>
              <a:buFont typeface="Poppins"/>
              <a:buChar char="●"/>
            </a:pPr>
            <a:r>
              <a:rPr lang="en-US" sz="3200">
                <a:latin typeface="Poppins"/>
                <a:ea typeface="Poppins"/>
                <a:cs typeface="Poppins"/>
                <a:sym typeface="Poppins"/>
              </a:rPr>
              <a:t>Tailored algorithms per class:</a:t>
            </a:r>
            <a:endParaRPr sz="3200">
              <a:latin typeface="Poppins"/>
              <a:ea typeface="Poppins"/>
              <a:cs typeface="Poppins"/>
              <a:sym typeface="Poppins"/>
            </a:endParaRPr>
          </a:p>
          <a:p>
            <a:pPr indent="-431800" lvl="1" marL="914400" marR="0" rtl="0" algn="l">
              <a:lnSpc>
                <a:spcPct val="140045"/>
              </a:lnSpc>
              <a:spcBef>
                <a:spcPts val="1000"/>
              </a:spcBef>
              <a:spcAft>
                <a:spcPts val="0"/>
              </a:spcAft>
              <a:buSzPts val="3200"/>
              <a:buFont typeface="Poppins"/>
              <a:buChar char="○"/>
            </a:pPr>
            <a:r>
              <a:rPr lang="en-US" sz="3200">
                <a:latin typeface="Poppins"/>
                <a:ea typeface="Poppins"/>
                <a:cs typeface="Poppins"/>
                <a:sym typeface="Poppins"/>
              </a:rPr>
              <a:t>GBM → XGBoost</a:t>
            </a:r>
            <a:endParaRPr sz="3200">
              <a:latin typeface="Poppins"/>
              <a:ea typeface="Poppins"/>
              <a:cs typeface="Poppins"/>
              <a:sym typeface="Poppins"/>
            </a:endParaRPr>
          </a:p>
          <a:p>
            <a:pPr indent="-431800" lvl="1" marL="914400" marR="0" rtl="0" algn="l">
              <a:lnSpc>
                <a:spcPct val="140045"/>
              </a:lnSpc>
              <a:spcBef>
                <a:spcPts val="1000"/>
              </a:spcBef>
              <a:spcAft>
                <a:spcPts val="0"/>
              </a:spcAft>
              <a:buSzPts val="3200"/>
              <a:buFont typeface="Poppins"/>
              <a:buChar char="○"/>
            </a:pPr>
            <a:r>
              <a:rPr lang="en-US" sz="3200">
                <a:latin typeface="Poppins"/>
                <a:ea typeface="Poppins"/>
                <a:cs typeface="Poppins"/>
                <a:sym typeface="Poppins"/>
              </a:rPr>
              <a:t>Oligo → Linear SVM</a:t>
            </a:r>
            <a:endParaRPr sz="3200">
              <a:latin typeface="Poppins"/>
              <a:ea typeface="Poppins"/>
              <a:cs typeface="Poppins"/>
              <a:sym typeface="Poppins"/>
            </a:endParaRPr>
          </a:p>
          <a:p>
            <a:pPr indent="-431800" lvl="1" marL="914400" marR="0" rtl="0" algn="l">
              <a:lnSpc>
                <a:spcPct val="140045"/>
              </a:lnSpc>
              <a:spcBef>
                <a:spcPts val="1000"/>
              </a:spcBef>
              <a:spcAft>
                <a:spcPts val="0"/>
              </a:spcAft>
              <a:buSzPts val="3200"/>
              <a:buFont typeface="Poppins"/>
              <a:buChar char="○"/>
            </a:pPr>
            <a:r>
              <a:rPr lang="en-US" sz="3200">
                <a:latin typeface="Poppins"/>
                <a:ea typeface="Poppins"/>
                <a:cs typeface="Poppins"/>
                <a:sym typeface="Poppins"/>
              </a:rPr>
              <a:t>Astrocytoma → Gradient Boosting</a:t>
            </a:r>
            <a:endParaRPr sz="3200">
              <a:latin typeface="Poppins"/>
              <a:ea typeface="Poppins"/>
              <a:cs typeface="Poppins"/>
              <a:sym typeface="Poppins"/>
            </a:endParaRPr>
          </a:p>
          <a:p>
            <a:pPr indent="0" lvl="0" marL="0" marR="0" rtl="0" algn="l">
              <a:lnSpc>
                <a:spcPct val="140045"/>
              </a:lnSpc>
              <a:spcBef>
                <a:spcPts val="1000"/>
              </a:spcBef>
              <a:spcAft>
                <a:spcPts val="0"/>
              </a:spcAft>
              <a:buNone/>
            </a:pPr>
            <a:r>
              <a:t/>
            </a:r>
            <a:endParaRPr b="1" sz="2948">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0311" r="-20309" t="0"/>
            </a:stretch>
          </a:blipFill>
          <a:ln>
            <a:noFill/>
          </a:ln>
        </p:spPr>
      </p:sp>
      <p:sp>
        <p:nvSpPr>
          <p:cNvPr id="154" name="Google Shape;154;p9"/>
          <p:cNvSpPr txBox="1"/>
          <p:nvPr/>
        </p:nvSpPr>
        <p:spPr>
          <a:xfrm>
            <a:off x="1027645" y="1494121"/>
            <a:ext cx="6545100" cy="692700"/>
          </a:xfrm>
          <a:prstGeom prst="rect">
            <a:avLst/>
          </a:prstGeom>
          <a:noFill/>
          <a:ln>
            <a:noFill/>
          </a:ln>
        </p:spPr>
        <p:txBody>
          <a:bodyPr anchorCtr="0" anchor="t" bIns="0" lIns="0" spcFirstLastPara="1" rIns="0" wrap="square" tIns="0">
            <a:spAutoFit/>
          </a:bodyPr>
          <a:lstStyle/>
          <a:p>
            <a:pPr indent="0" lvl="0" marL="0" rtl="0" algn="l">
              <a:lnSpc>
                <a:spcPct val="140018"/>
              </a:lnSpc>
              <a:spcBef>
                <a:spcPts val="0"/>
              </a:spcBef>
              <a:spcAft>
                <a:spcPts val="0"/>
              </a:spcAft>
              <a:buClr>
                <a:schemeClr val="dk1"/>
              </a:buClr>
              <a:buFont typeface="Arial"/>
              <a:buNone/>
            </a:pPr>
            <a:r>
              <a:rPr lang="en-US" sz="4500">
                <a:solidFill>
                  <a:srgbClr val="593C8F"/>
                </a:solidFill>
                <a:latin typeface="League Spartan"/>
                <a:ea typeface="League Spartan"/>
                <a:cs typeface="League Spartan"/>
                <a:sym typeface="League Spartan"/>
              </a:rPr>
              <a:t>Methodology</a:t>
            </a:r>
            <a:endParaRPr/>
          </a:p>
        </p:txBody>
      </p:sp>
      <p:cxnSp>
        <p:nvCxnSpPr>
          <p:cNvPr id="155" name="Google Shape;155;p9"/>
          <p:cNvCxnSpPr/>
          <p:nvPr/>
        </p:nvCxnSpPr>
        <p:spPr>
          <a:xfrm>
            <a:off x="1028720" y="2186817"/>
            <a:ext cx="0" cy="0"/>
          </a:xfrm>
          <a:prstGeom prst="straightConnector1">
            <a:avLst/>
          </a:prstGeom>
          <a:noFill/>
          <a:ln cap="flat" cmpd="sng" w="19050">
            <a:solidFill>
              <a:srgbClr val="000000"/>
            </a:solidFill>
            <a:prstDash val="solid"/>
            <a:round/>
            <a:headEnd len="sm" w="sm" type="none"/>
            <a:tailEnd len="sm" w="sm" type="none"/>
          </a:ln>
        </p:spPr>
      </p:cxnSp>
      <p:cxnSp>
        <p:nvCxnSpPr>
          <p:cNvPr id="156" name="Google Shape;156;p9"/>
          <p:cNvCxnSpPr/>
          <p:nvPr/>
        </p:nvCxnSpPr>
        <p:spPr>
          <a:xfrm>
            <a:off x="1029792" y="2252109"/>
            <a:ext cx="2618740" cy="0"/>
          </a:xfrm>
          <a:prstGeom prst="straightConnector1">
            <a:avLst/>
          </a:prstGeom>
          <a:noFill/>
          <a:ln cap="flat" cmpd="sng" w="38100">
            <a:solidFill>
              <a:srgbClr val="000000"/>
            </a:solidFill>
            <a:prstDash val="solid"/>
            <a:round/>
            <a:headEnd len="sm" w="sm" type="none"/>
            <a:tailEnd len="sm" w="sm" type="none"/>
          </a:ln>
        </p:spPr>
      </p:cxnSp>
      <p:sp>
        <p:nvSpPr>
          <p:cNvPr id="157" name="Google Shape;157;p9"/>
          <p:cNvSpPr/>
          <p:nvPr/>
        </p:nvSpPr>
        <p:spPr>
          <a:xfrm>
            <a:off x="1027649" y="8507397"/>
            <a:ext cx="2087283" cy="521821"/>
          </a:xfrm>
          <a:custGeom>
            <a:rect b="b" l="l" r="r" t="t"/>
            <a:pathLst>
              <a:path extrusionOk="0" h="521821" w="2087283">
                <a:moveTo>
                  <a:pt x="0" y="0"/>
                </a:moveTo>
                <a:lnTo>
                  <a:pt x="2087282" y="0"/>
                </a:lnTo>
                <a:lnTo>
                  <a:pt x="2087282" y="521821"/>
                </a:lnTo>
                <a:lnTo>
                  <a:pt x="0" y="521821"/>
                </a:lnTo>
                <a:lnTo>
                  <a:pt x="0" y="0"/>
                </a:lnTo>
                <a:close/>
              </a:path>
            </a:pathLst>
          </a:custGeom>
          <a:blipFill rotWithShape="1">
            <a:blip r:embed="rId4">
              <a:alphaModFix/>
            </a:blip>
            <a:stretch>
              <a:fillRect b="0" l="0" r="0" t="0"/>
            </a:stretch>
          </a:blipFill>
          <a:ln>
            <a:noFill/>
          </a:ln>
        </p:spPr>
      </p:sp>
      <p:grpSp>
        <p:nvGrpSpPr>
          <p:cNvPr id="158" name="Google Shape;158;p9"/>
          <p:cNvGrpSpPr/>
          <p:nvPr/>
        </p:nvGrpSpPr>
        <p:grpSpPr>
          <a:xfrm>
            <a:off x="7573683" y="-180827"/>
            <a:ext cx="10714389" cy="10467894"/>
            <a:chOff x="0" y="-47625"/>
            <a:chExt cx="2821878" cy="2756958"/>
          </a:xfrm>
        </p:grpSpPr>
        <p:sp>
          <p:nvSpPr>
            <p:cNvPr id="159" name="Google Shape;159;p9"/>
            <p:cNvSpPr/>
            <p:nvPr/>
          </p:nvSpPr>
          <p:spPr>
            <a:xfrm>
              <a:off x="0" y="0"/>
              <a:ext cx="2821878" cy="2709333"/>
            </a:xfrm>
            <a:custGeom>
              <a:rect b="b" l="l" r="r" t="t"/>
              <a:pathLst>
                <a:path extrusionOk="0" h="2709333" w="2821878">
                  <a:moveTo>
                    <a:pt x="0" y="0"/>
                  </a:moveTo>
                  <a:lnTo>
                    <a:pt x="2821878" y="0"/>
                  </a:lnTo>
                  <a:lnTo>
                    <a:pt x="2821878" y="2709333"/>
                  </a:lnTo>
                  <a:lnTo>
                    <a:pt x="0" y="2709333"/>
                  </a:lnTo>
                  <a:close/>
                </a:path>
              </a:pathLst>
            </a:custGeom>
            <a:solidFill>
              <a:srgbClr val="593C8F"/>
            </a:solidFill>
            <a:ln>
              <a:noFill/>
            </a:ln>
          </p:spPr>
        </p:sp>
        <p:sp>
          <p:nvSpPr>
            <p:cNvPr id="160" name="Google Shape;160;p9"/>
            <p:cNvSpPr txBox="1"/>
            <p:nvPr/>
          </p:nvSpPr>
          <p:spPr>
            <a:xfrm>
              <a:off x="0" y="-47625"/>
              <a:ext cx="2821878"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1" name="Google Shape;161;p9"/>
          <p:cNvGrpSpPr/>
          <p:nvPr/>
        </p:nvGrpSpPr>
        <p:grpSpPr>
          <a:xfrm>
            <a:off x="9324681" y="2098487"/>
            <a:ext cx="862950" cy="862950"/>
            <a:chOff x="0" y="0"/>
            <a:chExt cx="812800" cy="812800"/>
          </a:xfrm>
        </p:grpSpPr>
        <p:sp>
          <p:nvSpPr>
            <p:cNvPr id="162" name="Google Shape;162;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9"/>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4" name="Google Shape;164;p9"/>
          <p:cNvSpPr txBox="1"/>
          <p:nvPr/>
        </p:nvSpPr>
        <p:spPr>
          <a:xfrm>
            <a:off x="1027711" y="2973499"/>
            <a:ext cx="4769400" cy="615600"/>
          </a:xfrm>
          <a:prstGeom prst="rect">
            <a:avLst/>
          </a:prstGeom>
          <a:noFill/>
          <a:ln>
            <a:noFill/>
          </a:ln>
        </p:spPr>
        <p:txBody>
          <a:bodyPr anchorCtr="0" anchor="t" bIns="0" lIns="0" spcFirstLastPara="1" rIns="0" wrap="square" tIns="0">
            <a:spAutoFit/>
          </a:bodyPr>
          <a:lstStyle/>
          <a:p>
            <a:pPr indent="0" lvl="0" marL="0" marR="0" rtl="0" algn="l">
              <a:lnSpc>
                <a:spcPct val="140045"/>
              </a:lnSpc>
              <a:spcBef>
                <a:spcPts val="0"/>
              </a:spcBef>
              <a:spcAft>
                <a:spcPts val="0"/>
              </a:spcAft>
              <a:buNone/>
            </a:pPr>
            <a:r>
              <a:rPr b="1" lang="en-US" sz="4000">
                <a:latin typeface="Poppins"/>
                <a:ea typeface="Poppins"/>
                <a:cs typeface="Poppins"/>
                <a:sym typeface="Poppins"/>
              </a:rPr>
              <a:t>Step 1: </a:t>
            </a:r>
            <a:endParaRPr b="1" sz="4000"/>
          </a:p>
        </p:txBody>
      </p:sp>
      <p:sp>
        <p:nvSpPr>
          <p:cNvPr id="165" name="Google Shape;165;p9"/>
          <p:cNvSpPr txBox="1"/>
          <p:nvPr/>
        </p:nvSpPr>
        <p:spPr>
          <a:xfrm>
            <a:off x="1027650" y="3884774"/>
            <a:ext cx="4769400" cy="1495800"/>
          </a:xfrm>
          <a:prstGeom prst="rect">
            <a:avLst/>
          </a:prstGeom>
          <a:noFill/>
          <a:ln>
            <a:noFill/>
          </a:ln>
        </p:spPr>
        <p:txBody>
          <a:bodyPr anchorCtr="0" anchor="t" bIns="0" lIns="0" spcFirstLastPara="1" rIns="0" wrap="square" tIns="0">
            <a:spAutoFit/>
          </a:bodyPr>
          <a:lstStyle/>
          <a:p>
            <a:pPr indent="0" lvl="0" marL="0" marR="0" rtl="0" algn="l">
              <a:lnSpc>
                <a:spcPct val="140045"/>
              </a:lnSpc>
              <a:spcBef>
                <a:spcPts val="0"/>
              </a:spcBef>
              <a:spcAft>
                <a:spcPts val="0"/>
              </a:spcAft>
              <a:buNone/>
            </a:pPr>
            <a:r>
              <a:rPr lang="en-US" sz="4048">
                <a:latin typeface="Poppins"/>
                <a:ea typeface="Poppins"/>
                <a:cs typeface="Poppins"/>
                <a:sym typeface="Poppins"/>
              </a:rPr>
              <a:t>Feature Extraction from REMBRANDT</a:t>
            </a:r>
            <a:endParaRPr sz="3700"/>
          </a:p>
        </p:txBody>
      </p:sp>
      <p:grpSp>
        <p:nvGrpSpPr>
          <p:cNvPr id="166" name="Google Shape;166;p9"/>
          <p:cNvGrpSpPr/>
          <p:nvPr/>
        </p:nvGrpSpPr>
        <p:grpSpPr>
          <a:xfrm>
            <a:off x="9324681" y="4621648"/>
            <a:ext cx="862950" cy="862950"/>
            <a:chOff x="0" y="0"/>
            <a:chExt cx="812800" cy="812800"/>
          </a:xfrm>
        </p:grpSpPr>
        <p:sp>
          <p:nvSpPr>
            <p:cNvPr id="167" name="Google Shape;167;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9"/>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9" name="Google Shape;169;p9"/>
          <p:cNvSpPr txBox="1"/>
          <p:nvPr/>
        </p:nvSpPr>
        <p:spPr>
          <a:xfrm>
            <a:off x="10747532" y="1593800"/>
            <a:ext cx="6143100" cy="1872300"/>
          </a:xfrm>
          <a:prstGeom prst="rect">
            <a:avLst/>
          </a:prstGeom>
          <a:noFill/>
          <a:ln>
            <a:noFill/>
          </a:ln>
        </p:spPr>
        <p:txBody>
          <a:bodyPr anchorCtr="0" anchor="t" bIns="0" lIns="0" spcFirstLastPara="1" rIns="0" wrap="square" tIns="0">
            <a:spAutoFit/>
          </a:bodyPr>
          <a:lstStyle/>
          <a:p>
            <a:pPr indent="0" lvl="0" marL="0" marR="0" rtl="0" algn="l">
              <a:lnSpc>
                <a:spcPct val="140045"/>
              </a:lnSpc>
              <a:spcBef>
                <a:spcPts val="0"/>
              </a:spcBef>
              <a:spcAft>
                <a:spcPts val="0"/>
              </a:spcAft>
              <a:buNone/>
            </a:pPr>
            <a:r>
              <a:rPr lang="en-US" sz="3200">
                <a:solidFill>
                  <a:srgbClr val="FFFFFF"/>
                </a:solidFill>
                <a:latin typeface="Poppins"/>
                <a:ea typeface="Poppins"/>
                <a:cs typeface="Poppins"/>
                <a:sym typeface="Poppins"/>
              </a:rPr>
              <a:t>Extracted 107 radiomic features from segmented MRI scans using PyRadiomics</a:t>
            </a:r>
            <a:endParaRPr sz="3200"/>
          </a:p>
        </p:txBody>
      </p:sp>
      <p:sp>
        <p:nvSpPr>
          <p:cNvPr id="170" name="Google Shape;170;p9"/>
          <p:cNvSpPr txBox="1"/>
          <p:nvPr/>
        </p:nvSpPr>
        <p:spPr>
          <a:xfrm>
            <a:off x="10805757" y="4461975"/>
            <a:ext cx="6143100" cy="1182300"/>
          </a:xfrm>
          <a:prstGeom prst="rect">
            <a:avLst/>
          </a:prstGeom>
          <a:noFill/>
          <a:ln>
            <a:noFill/>
          </a:ln>
        </p:spPr>
        <p:txBody>
          <a:bodyPr anchorCtr="0" anchor="t" bIns="0" lIns="0" spcFirstLastPara="1" rIns="0" wrap="square" tIns="0">
            <a:spAutoFit/>
          </a:bodyPr>
          <a:lstStyle/>
          <a:p>
            <a:pPr indent="0" lvl="0" marL="0" marR="0" rtl="0" algn="l">
              <a:lnSpc>
                <a:spcPct val="140045"/>
              </a:lnSpc>
              <a:spcBef>
                <a:spcPts val="0"/>
              </a:spcBef>
              <a:spcAft>
                <a:spcPts val="0"/>
              </a:spcAft>
              <a:buNone/>
            </a:pPr>
            <a:r>
              <a:rPr lang="en-US" sz="3200">
                <a:solidFill>
                  <a:srgbClr val="FFFFFF"/>
                </a:solidFill>
                <a:latin typeface="Poppins"/>
                <a:ea typeface="Poppins"/>
                <a:cs typeface="Poppins"/>
                <a:sym typeface="Poppins"/>
              </a:rPr>
              <a:t>Features saved to structured CSV for inference</a:t>
            </a:r>
            <a:endParaRPr sz="3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30504478cd7_0_5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0309" r="-20309" t="0"/>
            </a:stretch>
          </a:blipFill>
          <a:ln>
            <a:noFill/>
          </a:ln>
        </p:spPr>
      </p:sp>
      <p:sp>
        <p:nvSpPr>
          <p:cNvPr id="176" name="Google Shape;176;g30504478cd7_0_54"/>
          <p:cNvSpPr txBox="1"/>
          <p:nvPr/>
        </p:nvSpPr>
        <p:spPr>
          <a:xfrm>
            <a:off x="1027645" y="1494121"/>
            <a:ext cx="6545100" cy="692700"/>
          </a:xfrm>
          <a:prstGeom prst="rect">
            <a:avLst/>
          </a:prstGeom>
          <a:noFill/>
          <a:ln>
            <a:noFill/>
          </a:ln>
        </p:spPr>
        <p:txBody>
          <a:bodyPr anchorCtr="0" anchor="t" bIns="0" lIns="0" spcFirstLastPara="1" rIns="0" wrap="square" tIns="0">
            <a:spAutoFit/>
          </a:bodyPr>
          <a:lstStyle/>
          <a:p>
            <a:pPr indent="0" lvl="0" marL="0" rtl="0" algn="l">
              <a:lnSpc>
                <a:spcPct val="140018"/>
              </a:lnSpc>
              <a:spcBef>
                <a:spcPts val="0"/>
              </a:spcBef>
              <a:spcAft>
                <a:spcPts val="0"/>
              </a:spcAft>
              <a:buNone/>
            </a:pPr>
            <a:r>
              <a:rPr lang="en-US" sz="4500">
                <a:solidFill>
                  <a:srgbClr val="593C8F"/>
                </a:solidFill>
                <a:latin typeface="League Spartan"/>
                <a:ea typeface="League Spartan"/>
                <a:cs typeface="League Spartan"/>
                <a:sym typeface="League Spartan"/>
              </a:rPr>
              <a:t>Methodology </a:t>
            </a:r>
            <a:endParaRPr/>
          </a:p>
        </p:txBody>
      </p:sp>
      <p:cxnSp>
        <p:nvCxnSpPr>
          <p:cNvPr id="177" name="Google Shape;177;g30504478cd7_0_54"/>
          <p:cNvCxnSpPr/>
          <p:nvPr/>
        </p:nvCxnSpPr>
        <p:spPr>
          <a:xfrm>
            <a:off x="1028720" y="2186817"/>
            <a:ext cx="0" cy="0"/>
          </a:xfrm>
          <a:prstGeom prst="straightConnector1">
            <a:avLst/>
          </a:prstGeom>
          <a:noFill/>
          <a:ln cap="flat" cmpd="sng" w="19050">
            <a:solidFill>
              <a:srgbClr val="000000"/>
            </a:solidFill>
            <a:prstDash val="solid"/>
            <a:round/>
            <a:headEnd len="sm" w="sm" type="none"/>
            <a:tailEnd len="sm" w="sm" type="none"/>
          </a:ln>
        </p:spPr>
      </p:cxnSp>
      <p:cxnSp>
        <p:nvCxnSpPr>
          <p:cNvPr id="178" name="Google Shape;178;g30504478cd7_0_54"/>
          <p:cNvCxnSpPr/>
          <p:nvPr/>
        </p:nvCxnSpPr>
        <p:spPr>
          <a:xfrm>
            <a:off x="1029792" y="2252109"/>
            <a:ext cx="2618700" cy="0"/>
          </a:xfrm>
          <a:prstGeom prst="straightConnector1">
            <a:avLst/>
          </a:prstGeom>
          <a:noFill/>
          <a:ln cap="flat" cmpd="sng" w="38100">
            <a:solidFill>
              <a:srgbClr val="000000"/>
            </a:solidFill>
            <a:prstDash val="solid"/>
            <a:round/>
            <a:headEnd len="sm" w="sm" type="none"/>
            <a:tailEnd len="sm" w="sm" type="none"/>
          </a:ln>
        </p:spPr>
      </p:cxnSp>
      <p:sp>
        <p:nvSpPr>
          <p:cNvPr id="179" name="Google Shape;179;g30504478cd7_0_54"/>
          <p:cNvSpPr/>
          <p:nvPr/>
        </p:nvSpPr>
        <p:spPr>
          <a:xfrm>
            <a:off x="1027649" y="8507397"/>
            <a:ext cx="2087283" cy="521821"/>
          </a:xfrm>
          <a:custGeom>
            <a:rect b="b" l="l" r="r" t="t"/>
            <a:pathLst>
              <a:path extrusionOk="0" h="521821" w="2087283">
                <a:moveTo>
                  <a:pt x="0" y="0"/>
                </a:moveTo>
                <a:lnTo>
                  <a:pt x="2087282" y="0"/>
                </a:lnTo>
                <a:lnTo>
                  <a:pt x="2087282" y="521821"/>
                </a:lnTo>
                <a:lnTo>
                  <a:pt x="0" y="521821"/>
                </a:lnTo>
                <a:lnTo>
                  <a:pt x="0" y="0"/>
                </a:lnTo>
                <a:close/>
              </a:path>
            </a:pathLst>
          </a:custGeom>
          <a:blipFill rotWithShape="1">
            <a:blip r:embed="rId4">
              <a:alphaModFix/>
            </a:blip>
            <a:stretch>
              <a:fillRect b="0" l="0" r="0" t="0"/>
            </a:stretch>
          </a:blipFill>
          <a:ln>
            <a:noFill/>
          </a:ln>
        </p:spPr>
      </p:sp>
      <p:sp>
        <p:nvSpPr>
          <p:cNvPr id="180" name="Google Shape;180;g30504478cd7_0_54"/>
          <p:cNvSpPr txBox="1"/>
          <p:nvPr/>
        </p:nvSpPr>
        <p:spPr>
          <a:xfrm>
            <a:off x="1027711" y="2973499"/>
            <a:ext cx="4769400" cy="615600"/>
          </a:xfrm>
          <a:prstGeom prst="rect">
            <a:avLst/>
          </a:prstGeom>
          <a:noFill/>
          <a:ln>
            <a:noFill/>
          </a:ln>
        </p:spPr>
        <p:txBody>
          <a:bodyPr anchorCtr="0" anchor="t" bIns="0" lIns="0" spcFirstLastPara="1" rIns="0" wrap="square" tIns="0">
            <a:spAutoFit/>
          </a:bodyPr>
          <a:lstStyle/>
          <a:p>
            <a:pPr indent="0" lvl="0" marL="0" marR="0" rtl="0" algn="l">
              <a:lnSpc>
                <a:spcPct val="140045"/>
              </a:lnSpc>
              <a:spcBef>
                <a:spcPts val="0"/>
              </a:spcBef>
              <a:spcAft>
                <a:spcPts val="0"/>
              </a:spcAft>
              <a:buNone/>
            </a:pPr>
            <a:r>
              <a:rPr b="1" lang="en-US" sz="4000">
                <a:latin typeface="Poppins"/>
                <a:ea typeface="Poppins"/>
                <a:cs typeface="Poppins"/>
                <a:sym typeface="Poppins"/>
              </a:rPr>
              <a:t>Step 2: </a:t>
            </a:r>
            <a:endParaRPr b="1" sz="4000"/>
          </a:p>
        </p:txBody>
      </p:sp>
      <p:sp>
        <p:nvSpPr>
          <p:cNvPr id="181" name="Google Shape;181;g30504478cd7_0_54"/>
          <p:cNvSpPr txBox="1"/>
          <p:nvPr/>
        </p:nvSpPr>
        <p:spPr>
          <a:xfrm>
            <a:off x="1027650" y="3884774"/>
            <a:ext cx="4769400" cy="623100"/>
          </a:xfrm>
          <a:prstGeom prst="rect">
            <a:avLst/>
          </a:prstGeom>
          <a:noFill/>
          <a:ln>
            <a:noFill/>
          </a:ln>
        </p:spPr>
        <p:txBody>
          <a:bodyPr anchorCtr="0" anchor="t" bIns="0" lIns="0" spcFirstLastPara="1" rIns="0" wrap="square" tIns="0">
            <a:spAutoFit/>
          </a:bodyPr>
          <a:lstStyle/>
          <a:p>
            <a:pPr indent="0" lvl="0" marL="0" marR="0" rtl="0" algn="l">
              <a:lnSpc>
                <a:spcPct val="140045"/>
              </a:lnSpc>
              <a:spcBef>
                <a:spcPts val="0"/>
              </a:spcBef>
              <a:spcAft>
                <a:spcPts val="0"/>
              </a:spcAft>
              <a:buNone/>
            </a:pPr>
            <a:r>
              <a:rPr lang="en-US" sz="4048">
                <a:latin typeface="Poppins"/>
                <a:ea typeface="Poppins"/>
                <a:cs typeface="Poppins"/>
                <a:sym typeface="Poppins"/>
              </a:rPr>
              <a:t>Training on TCGA</a:t>
            </a:r>
            <a:endParaRPr sz="3700"/>
          </a:p>
        </p:txBody>
      </p:sp>
      <p:sp>
        <p:nvSpPr>
          <p:cNvPr id="182" name="Google Shape;182;g30504478cd7_0_54"/>
          <p:cNvSpPr txBox="1"/>
          <p:nvPr/>
        </p:nvSpPr>
        <p:spPr>
          <a:xfrm>
            <a:off x="8881300" y="2252100"/>
            <a:ext cx="8928300" cy="641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3200"/>
              </a:spcBef>
              <a:spcAft>
                <a:spcPts val="0"/>
              </a:spcAft>
              <a:buNone/>
            </a:pPr>
            <a:r>
              <a:rPr b="1" lang="en-US" sz="3200">
                <a:solidFill>
                  <a:schemeClr val="dk1"/>
                </a:solidFill>
                <a:latin typeface="Poppins"/>
                <a:ea typeface="Poppins"/>
                <a:cs typeface="Poppins"/>
                <a:sym typeface="Poppins"/>
              </a:rPr>
              <a:t>Preprocessing Steps</a:t>
            </a:r>
            <a:endParaRPr b="1" sz="3200">
              <a:solidFill>
                <a:schemeClr val="dk1"/>
              </a:solidFill>
              <a:latin typeface="Poppins"/>
              <a:ea typeface="Poppins"/>
              <a:cs typeface="Poppins"/>
              <a:sym typeface="Poppins"/>
            </a:endParaRPr>
          </a:p>
          <a:p>
            <a:pPr indent="-431800" lvl="0" marL="457200" rtl="0" algn="l">
              <a:lnSpc>
                <a:spcPct val="115000"/>
              </a:lnSpc>
              <a:spcBef>
                <a:spcPts val="3200"/>
              </a:spcBef>
              <a:spcAft>
                <a:spcPts val="0"/>
              </a:spcAft>
              <a:buClr>
                <a:schemeClr val="dk1"/>
              </a:buClr>
              <a:buSzPts val="3200"/>
              <a:buFont typeface="Poppins"/>
              <a:buChar char="●"/>
            </a:pPr>
            <a:r>
              <a:rPr lang="en-US" sz="3200">
                <a:solidFill>
                  <a:schemeClr val="dk1"/>
                </a:solidFill>
                <a:latin typeface="Poppins"/>
                <a:ea typeface="Poppins"/>
                <a:cs typeface="Poppins"/>
                <a:sym typeface="Poppins"/>
              </a:rPr>
              <a:t>Merged TCGA radiomic features with clinical labels</a:t>
            </a:r>
            <a:endParaRPr sz="32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1500">
              <a:solidFill>
                <a:schemeClr val="dk1"/>
              </a:solidFill>
              <a:latin typeface="Poppins"/>
              <a:ea typeface="Poppins"/>
              <a:cs typeface="Poppins"/>
              <a:sym typeface="Poppins"/>
            </a:endParaRPr>
          </a:p>
          <a:p>
            <a:pPr indent="-431800" lvl="0" marL="457200" rtl="0" algn="l">
              <a:lnSpc>
                <a:spcPct val="115000"/>
              </a:lnSpc>
              <a:spcBef>
                <a:spcPts val="0"/>
              </a:spcBef>
              <a:spcAft>
                <a:spcPts val="0"/>
              </a:spcAft>
              <a:buClr>
                <a:schemeClr val="dk1"/>
              </a:buClr>
              <a:buSzPts val="3200"/>
              <a:buFont typeface="Poppins"/>
              <a:buChar char="●"/>
            </a:pPr>
            <a:r>
              <a:rPr lang="en-US" sz="3200">
                <a:solidFill>
                  <a:schemeClr val="dk1"/>
                </a:solidFill>
                <a:latin typeface="Poppins"/>
                <a:ea typeface="Poppins"/>
                <a:cs typeface="Poppins"/>
                <a:sym typeface="Poppins"/>
              </a:rPr>
              <a:t>Filtered for target tumor types only (GBM, Oligo, Astro)</a:t>
            </a:r>
            <a:endParaRPr sz="32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1500">
              <a:solidFill>
                <a:schemeClr val="dk1"/>
              </a:solidFill>
              <a:latin typeface="Poppins"/>
              <a:ea typeface="Poppins"/>
              <a:cs typeface="Poppins"/>
              <a:sym typeface="Poppins"/>
            </a:endParaRPr>
          </a:p>
          <a:p>
            <a:pPr indent="-431800" lvl="0" marL="457200" rtl="0" algn="l">
              <a:lnSpc>
                <a:spcPct val="115000"/>
              </a:lnSpc>
              <a:spcBef>
                <a:spcPts val="0"/>
              </a:spcBef>
              <a:spcAft>
                <a:spcPts val="0"/>
              </a:spcAft>
              <a:buClr>
                <a:schemeClr val="dk1"/>
              </a:buClr>
              <a:buSzPts val="3200"/>
              <a:buFont typeface="Poppins"/>
              <a:buChar char="●"/>
            </a:pPr>
            <a:r>
              <a:rPr lang="en-US" sz="3200">
                <a:solidFill>
                  <a:schemeClr val="dk1"/>
                </a:solidFill>
                <a:latin typeface="Poppins"/>
                <a:ea typeface="Poppins"/>
                <a:cs typeface="Poppins"/>
                <a:sym typeface="Poppins"/>
              </a:rPr>
              <a:t>Removed missing or non-numeric, values</a:t>
            </a:r>
            <a:br>
              <a:rPr lang="en-US" sz="3200">
                <a:solidFill>
                  <a:schemeClr val="dk1"/>
                </a:solidFill>
                <a:latin typeface="Poppins"/>
                <a:ea typeface="Poppins"/>
                <a:cs typeface="Poppins"/>
                <a:sym typeface="Poppins"/>
              </a:rPr>
            </a:br>
            <a:r>
              <a:rPr lang="en-US" sz="3200">
                <a:solidFill>
                  <a:schemeClr val="dk1"/>
                </a:solidFill>
                <a:latin typeface="Poppins"/>
                <a:ea typeface="Poppins"/>
                <a:cs typeface="Poppins"/>
                <a:sym typeface="Poppins"/>
              </a:rPr>
              <a:t>Dropped diagnostic metadata</a:t>
            </a:r>
            <a:endParaRPr sz="32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1500">
              <a:solidFill>
                <a:schemeClr val="dk1"/>
              </a:solidFill>
              <a:latin typeface="Poppins"/>
              <a:ea typeface="Poppins"/>
              <a:cs typeface="Poppins"/>
              <a:sym typeface="Poppins"/>
            </a:endParaRPr>
          </a:p>
          <a:p>
            <a:pPr indent="-431800" lvl="0" marL="457200" rtl="0" algn="l">
              <a:lnSpc>
                <a:spcPct val="115000"/>
              </a:lnSpc>
              <a:spcBef>
                <a:spcPts val="0"/>
              </a:spcBef>
              <a:spcAft>
                <a:spcPts val="3200"/>
              </a:spcAft>
              <a:buClr>
                <a:schemeClr val="dk1"/>
              </a:buClr>
              <a:buSzPts val="3200"/>
              <a:buChar char="●"/>
            </a:pPr>
            <a:r>
              <a:rPr lang="en-US" sz="3200">
                <a:solidFill>
                  <a:schemeClr val="dk1"/>
                </a:solidFill>
                <a:latin typeface="Poppins"/>
                <a:ea typeface="Poppins"/>
                <a:cs typeface="Poppins"/>
                <a:sym typeface="Poppins"/>
              </a:rPr>
              <a:t>Applied </a:t>
            </a:r>
            <a:r>
              <a:rPr b="1" lang="en-US" sz="3200">
                <a:solidFill>
                  <a:schemeClr val="dk1"/>
                </a:solidFill>
                <a:latin typeface="Poppins"/>
                <a:ea typeface="Poppins"/>
                <a:cs typeface="Poppins"/>
                <a:sym typeface="Poppins"/>
              </a:rPr>
              <a:t>z-score normalization</a:t>
            </a:r>
            <a:endParaRPr b="1" sz="3200">
              <a:solidFill>
                <a:schemeClr val="dk1"/>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30504478cd7_0_8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0309" r="-20309" t="0"/>
            </a:stretch>
          </a:blipFill>
          <a:ln>
            <a:noFill/>
          </a:ln>
        </p:spPr>
      </p:sp>
      <p:sp>
        <p:nvSpPr>
          <p:cNvPr id="188" name="Google Shape;188;g30504478cd7_0_82"/>
          <p:cNvSpPr txBox="1"/>
          <p:nvPr/>
        </p:nvSpPr>
        <p:spPr>
          <a:xfrm>
            <a:off x="1027645" y="1494121"/>
            <a:ext cx="6545100" cy="692700"/>
          </a:xfrm>
          <a:prstGeom prst="rect">
            <a:avLst/>
          </a:prstGeom>
          <a:noFill/>
          <a:ln>
            <a:noFill/>
          </a:ln>
        </p:spPr>
        <p:txBody>
          <a:bodyPr anchorCtr="0" anchor="t" bIns="0" lIns="0" spcFirstLastPara="1" rIns="0" wrap="square" tIns="0">
            <a:spAutoFit/>
          </a:bodyPr>
          <a:lstStyle/>
          <a:p>
            <a:pPr indent="0" lvl="0" marL="0" rtl="0" algn="l">
              <a:lnSpc>
                <a:spcPct val="140018"/>
              </a:lnSpc>
              <a:spcBef>
                <a:spcPts val="0"/>
              </a:spcBef>
              <a:spcAft>
                <a:spcPts val="0"/>
              </a:spcAft>
              <a:buNone/>
            </a:pPr>
            <a:r>
              <a:rPr lang="en-US" sz="4500">
                <a:solidFill>
                  <a:srgbClr val="593C8F"/>
                </a:solidFill>
                <a:latin typeface="League Spartan"/>
                <a:ea typeface="League Spartan"/>
                <a:cs typeface="League Spartan"/>
                <a:sym typeface="League Spartan"/>
              </a:rPr>
              <a:t>Methodology</a:t>
            </a:r>
            <a:endParaRPr/>
          </a:p>
        </p:txBody>
      </p:sp>
      <p:cxnSp>
        <p:nvCxnSpPr>
          <p:cNvPr id="189" name="Google Shape;189;g30504478cd7_0_82"/>
          <p:cNvCxnSpPr/>
          <p:nvPr/>
        </p:nvCxnSpPr>
        <p:spPr>
          <a:xfrm>
            <a:off x="1028720" y="2186817"/>
            <a:ext cx="0" cy="0"/>
          </a:xfrm>
          <a:prstGeom prst="straightConnector1">
            <a:avLst/>
          </a:prstGeom>
          <a:noFill/>
          <a:ln cap="flat" cmpd="sng" w="19050">
            <a:solidFill>
              <a:srgbClr val="000000"/>
            </a:solidFill>
            <a:prstDash val="solid"/>
            <a:round/>
            <a:headEnd len="sm" w="sm" type="none"/>
            <a:tailEnd len="sm" w="sm" type="none"/>
          </a:ln>
        </p:spPr>
      </p:cxnSp>
      <p:cxnSp>
        <p:nvCxnSpPr>
          <p:cNvPr id="190" name="Google Shape;190;g30504478cd7_0_82"/>
          <p:cNvCxnSpPr/>
          <p:nvPr/>
        </p:nvCxnSpPr>
        <p:spPr>
          <a:xfrm>
            <a:off x="1029792" y="2252109"/>
            <a:ext cx="2618700" cy="0"/>
          </a:xfrm>
          <a:prstGeom prst="straightConnector1">
            <a:avLst/>
          </a:prstGeom>
          <a:noFill/>
          <a:ln cap="flat" cmpd="sng" w="38100">
            <a:solidFill>
              <a:srgbClr val="000000"/>
            </a:solidFill>
            <a:prstDash val="solid"/>
            <a:round/>
            <a:headEnd len="sm" w="sm" type="none"/>
            <a:tailEnd len="sm" w="sm" type="none"/>
          </a:ln>
        </p:spPr>
      </p:cxnSp>
      <p:sp>
        <p:nvSpPr>
          <p:cNvPr id="191" name="Google Shape;191;g30504478cd7_0_82"/>
          <p:cNvSpPr/>
          <p:nvPr/>
        </p:nvSpPr>
        <p:spPr>
          <a:xfrm>
            <a:off x="1027649" y="8507397"/>
            <a:ext cx="2087283" cy="521821"/>
          </a:xfrm>
          <a:custGeom>
            <a:rect b="b" l="l" r="r" t="t"/>
            <a:pathLst>
              <a:path extrusionOk="0" h="521821" w="2087283">
                <a:moveTo>
                  <a:pt x="0" y="0"/>
                </a:moveTo>
                <a:lnTo>
                  <a:pt x="2087282" y="0"/>
                </a:lnTo>
                <a:lnTo>
                  <a:pt x="2087282" y="521821"/>
                </a:lnTo>
                <a:lnTo>
                  <a:pt x="0" y="521821"/>
                </a:lnTo>
                <a:lnTo>
                  <a:pt x="0" y="0"/>
                </a:lnTo>
                <a:close/>
              </a:path>
            </a:pathLst>
          </a:custGeom>
          <a:blipFill rotWithShape="1">
            <a:blip r:embed="rId4">
              <a:alphaModFix/>
            </a:blip>
            <a:stretch>
              <a:fillRect b="0" l="0" r="0" t="0"/>
            </a:stretch>
          </a:blipFill>
          <a:ln>
            <a:noFill/>
          </a:ln>
        </p:spPr>
      </p:sp>
      <p:sp>
        <p:nvSpPr>
          <p:cNvPr id="192" name="Google Shape;192;g30504478cd7_0_82"/>
          <p:cNvSpPr txBox="1"/>
          <p:nvPr/>
        </p:nvSpPr>
        <p:spPr>
          <a:xfrm>
            <a:off x="1027711" y="2973499"/>
            <a:ext cx="4769400" cy="615600"/>
          </a:xfrm>
          <a:prstGeom prst="rect">
            <a:avLst/>
          </a:prstGeom>
          <a:noFill/>
          <a:ln>
            <a:noFill/>
          </a:ln>
        </p:spPr>
        <p:txBody>
          <a:bodyPr anchorCtr="0" anchor="t" bIns="0" lIns="0" spcFirstLastPara="1" rIns="0" wrap="square" tIns="0">
            <a:spAutoFit/>
          </a:bodyPr>
          <a:lstStyle/>
          <a:p>
            <a:pPr indent="0" lvl="0" marL="0" marR="0" rtl="0" algn="l">
              <a:lnSpc>
                <a:spcPct val="140045"/>
              </a:lnSpc>
              <a:spcBef>
                <a:spcPts val="0"/>
              </a:spcBef>
              <a:spcAft>
                <a:spcPts val="0"/>
              </a:spcAft>
              <a:buNone/>
            </a:pPr>
            <a:r>
              <a:rPr b="1" lang="en-US" sz="4000">
                <a:latin typeface="Poppins"/>
                <a:ea typeface="Poppins"/>
                <a:cs typeface="Poppins"/>
                <a:sym typeface="Poppins"/>
              </a:rPr>
              <a:t>Step 2: </a:t>
            </a:r>
            <a:endParaRPr b="1" sz="4000"/>
          </a:p>
        </p:txBody>
      </p:sp>
      <p:sp>
        <p:nvSpPr>
          <p:cNvPr id="193" name="Google Shape;193;g30504478cd7_0_82"/>
          <p:cNvSpPr txBox="1"/>
          <p:nvPr/>
        </p:nvSpPr>
        <p:spPr>
          <a:xfrm>
            <a:off x="1027650" y="3884774"/>
            <a:ext cx="4769400" cy="623100"/>
          </a:xfrm>
          <a:prstGeom prst="rect">
            <a:avLst/>
          </a:prstGeom>
          <a:noFill/>
          <a:ln>
            <a:noFill/>
          </a:ln>
        </p:spPr>
        <p:txBody>
          <a:bodyPr anchorCtr="0" anchor="t" bIns="0" lIns="0" spcFirstLastPara="1" rIns="0" wrap="square" tIns="0">
            <a:spAutoFit/>
          </a:bodyPr>
          <a:lstStyle/>
          <a:p>
            <a:pPr indent="0" lvl="0" marL="0" marR="0" rtl="0" algn="l">
              <a:lnSpc>
                <a:spcPct val="140045"/>
              </a:lnSpc>
              <a:spcBef>
                <a:spcPts val="0"/>
              </a:spcBef>
              <a:spcAft>
                <a:spcPts val="0"/>
              </a:spcAft>
              <a:buNone/>
            </a:pPr>
            <a:r>
              <a:rPr lang="en-US" sz="4048">
                <a:latin typeface="Poppins"/>
                <a:ea typeface="Poppins"/>
                <a:cs typeface="Poppins"/>
                <a:sym typeface="Poppins"/>
              </a:rPr>
              <a:t>Training on TCGA</a:t>
            </a:r>
            <a:endParaRPr sz="3700"/>
          </a:p>
        </p:txBody>
      </p:sp>
      <p:sp>
        <p:nvSpPr>
          <p:cNvPr id="194" name="Google Shape;194;g30504478cd7_0_82"/>
          <p:cNvSpPr txBox="1"/>
          <p:nvPr/>
        </p:nvSpPr>
        <p:spPr>
          <a:xfrm>
            <a:off x="8881300" y="2252100"/>
            <a:ext cx="8928300" cy="667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3200"/>
              </a:spcBef>
              <a:spcAft>
                <a:spcPts val="0"/>
              </a:spcAft>
              <a:buNone/>
            </a:pPr>
            <a:r>
              <a:rPr b="1" lang="en-US" sz="3600">
                <a:solidFill>
                  <a:schemeClr val="dk1"/>
                </a:solidFill>
                <a:latin typeface="Poppins"/>
                <a:ea typeface="Poppins"/>
                <a:cs typeface="Poppins"/>
                <a:sym typeface="Poppins"/>
              </a:rPr>
              <a:t>Training &amp; Evaluation</a:t>
            </a:r>
            <a:endParaRPr b="1" sz="3600">
              <a:solidFill>
                <a:schemeClr val="dk1"/>
              </a:solidFill>
              <a:latin typeface="Poppins"/>
              <a:ea typeface="Poppins"/>
              <a:cs typeface="Poppins"/>
              <a:sym typeface="Poppins"/>
            </a:endParaRPr>
          </a:p>
          <a:p>
            <a:pPr indent="-438150" lvl="0" marL="457200" rtl="0" algn="l">
              <a:lnSpc>
                <a:spcPct val="115000"/>
              </a:lnSpc>
              <a:spcBef>
                <a:spcPts val="3200"/>
              </a:spcBef>
              <a:spcAft>
                <a:spcPts val="0"/>
              </a:spcAft>
              <a:buClr>
                <a:schemeClr val="dk1"/>
              </a:buClr>
              <a:buSzPts val="3300"/>
              <a:buFont typeface="Poppins"/>
              <a:buChar char="●"/>
            </a:pPr>
            <a:r>
              <a:rPr lang="en-US" sz="3300">
                <a:solidFill>
                  <a:schemeClr val="dk1"/>
                </a:solidFill>
                <a:latin typeface="Poppins"/>
                <a:ea typeface="Poppins"/>
                <a:cs typeface="Poppins"/>
                <a:sym typeface="Poppins"/>
              </a:rPr>
              <a:t>Performed grid search to optimize hyperparameters</a:t>
            </a:r>
            <a:endParaRPr sz="33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1600">
              <a:solidFill>
                <a:schemeClr val="dk1"/>
              </a:solidFill>
              <a:latin typeface="Poppins"/>
              <a:ea typeface="Poppins"/>
              <a:cs typeface="Poppins"/>
              <a:sym typeface="Poppins"/>
            </a:endParaRPr>
          </a:p>
          <a:p>
            <a:pPr indent="-438150" lvl="0" marL="457200" rtl="0" algn="l">
              <a:lnSpc>
                <a:spcPct val="115000"/>
              </a:lnSpc>
              <a:spcBef>
                <a:spcPts val="0"/>
              </a:spcBef>
              <a:spcAft>
                <a:spcPts val="0"/>
              </a:spcAft>
              <a:buClr>
                <a:schemeClr val="dk1"/>
              </a:buClr>
              <a:buSzPts val="3300"/>
              <a:buFont typeface="Poppins"/>
              <a:buChar char="●"/>
            </a:pPr>
            <a:r>
              <a:rPr lang="en-US" sz="3300">
                <a:solidFill>
                  <a:schemeClr val="dk1"/>
                </a:solidFill>
                <a:latin typeface="Poppins"/>
                <a:ea typeface="Poppins"/>
                <a:cs typeface="Poppins"/>
                <a:sym typeface="Poppins"/>
              </a:rPr>
              <a:t>Applied 5-fold stratified cross-validation</a:t>
            </a:r>
            <a:endParaRPr sz="33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1600">
              <a:solidFill>
                <a:schemeClr val="dk1"/>
              </a:solidFill>
              <a:latin typeface="Poppins"/>
              <a:ea typeface="Poppins"/>
              <a:cs typeface="Poppins"/>
              <a:sym typeface="Poppins"/>
            </a:endParaRPr>
          </a:p>
          <a:p>
            <a:pPr indent="-438150" lvl="0" marL="457200" rtl="0" algn="l">
              <a:lnSpc>
                <a:spcPct val="115000"/>
              </a:lnSpc>
              <a:spcBef>
                <a:spcPts val="0"/>
              </a:spcBef>
              <a:spcAft>
                <a:spcPts val="0"/>
              </a:spcAft>
              <a:buClr>
                <a:schemeClr val="dk1"/>
              </a:buClr>
              <a:buSzPts val="3300"/>
              <a:buFont typeface="Poppins"/>
              <a:buChar char="●"/>
            </a:pPr>
            <a:r>
              <a:rPr lang="en-US" sz="3300">
                <a:solidFill>
                  <a:schemeClr val="dk1"/>
                </a:solidFill>
                <a:latin typeface="Poppins"/>
                <a:ea typeface="Poppins"/>
                <a:cs typeface="Poppins"/>
                <a:sym typeface="Poppins"/>
              </a:rPr>
              <a:t>Evaluated using F1 score</a:t>
            </a:r>
            <a:endParaRPr sz="33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1600">
              <a:solidFill>
                <a:schemeClr val="dk1"/>
              </a:solidFill>
              <a:latin typeface="Poppins"/>
              <a:ea typeface="Poppins"/>
              <a:cs typeface="Poppins"/>
              <a:sym typeface="Poppins"/>
            </a:endParaRPr>
          </a:p>
          <a:p>
            <a:pPr indent="-438150" lvl="0" marL="457200" rtl="0" algn="l">
              <a:lnSpc>
                <a:spcPct val="115000"/>
              </a:lnSpc>
              <a:spcBef>
                <a:spcPts val="0"/>
              </a:spcBef>
              <a:spcAft>
                <a:spcPts val="3200"/>
              </a:spcAft>
              <a:buClr>
                <a:schemeClr val="dk1"/>
              </a:buClr>
              <a:buSzPts val="3300"/>
              <a:buFont typeface="Poppins"/>
              <a:buChar char="●"/>
            </a:pPr>
            <a:r>
              <a:rPr lang="en-US" sz="3300">
                <a:solidFill>
                  <a:schemeClr val="dk1"/>
                </a:solidFill>
                <a:latin typeface="Poppins"/>
                <a:ea typeface="Poppins"/>
                <a:cs typeface="Poppins"/>
                <a:sym typeface="Poppins"/>
              </a:rPr>
              <a:t>Retained best model per class with optimized hyperparameters for final multiclass system</a:t>
            </a:r>
            <a:endParaRPr sz="3300">
              <a:solidFill>
                <a:schemeClr val="dk1"/>
              </a:solidFill>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30504478cd7_0_10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0309" r="-20309" t="0"/>
            </a:stretch>
          </a:blipFill>
          <a:ln>
            <a:noFill/>
          </a:ln>
        </p:spPr>
      </p:sp>
      <p:sp>
        <p:nvSpPr>
          <p:cNvPr id="200" name="Google Shape;200;g30504478cd7_0_104"/>
          <p:cNvSpPr txBox="1"/>
          <p:nvPr/>
        </p:nvSpPr>
        <p:spPr>
          <a:xfrm>
            <a:off x="1027645" y="1494121"/>
            <a:ext cx="6545100" cy="692700"/>
          </a:xfrm>
          <a:prstGeom prst="rect">
            <a:avLst/>
          </a:prstGeom>
          <a:noFill/>
          <a:ln>
            <a:noFill/>
          </a:ln>
        </p:spPr>
        <p:txBody>
          <a:bodyPr anchorCtr="0" anchor="t" bIns="0" lIns="0" spcFirstLastPara="1" rIns="0" wrap="square" tIns="0">
            <a:spAutoFit/>
          </a:bodyPr>
          <a:lstStyle/>
          <a:p>
            <a:pPr indent="0" lvl="0" marL="0" rtl="0" algn="l">
              <a:lnSpc>
                <a:spcPct val="140018"/>
              </a:lnSpc>
              <a:spcBef>
                <a:spcPts val="0"/>
              </a:spcBef>
              <a:spcAft>
                <a:spcPts val="0"/>
              </a:spcAft>
              <a:buNone/>
            </a:pPr>
            <a:r>
              <a:rPr lang="en-US" sz="4500">
                <a:solidFill>
                  <a:srgbClr val="593C8F"/>
                </a:solidFill>
                <a:latin typeface="League Spartan"/>
                <a:ea typeface="League Spartan"/>
                <a:cs typeface="League Spartan"/>
                <a:sym typeface="League Spartan"/>
              </a:rPr>
              <a:t>Methodology </a:t>
            </a:r>
            <a:endParaRPr/>
          </a:p>
        </p:txBody>
      </p:sp>
      <p:cxnSp>
        <p:nvCxnSpPr>
          <p:cNvPr id="201" name="Google Shape;201;g30504478cd7_0_104"/>
          <p:cNvCxnSpPr/>
          <p:nvPr/>
        </p:nvCxnSpPr>
        <p:spPr>
          <a:xfrm>
            <a:off x="1028720" y="2186817"/>
            <a:ext cx="0" cy="0"/>
          </a:xfrm>
          <a:prstGeom prst="straightConnector1">
            <a:avLst/>
          </a:prstGeom>
          <a:noFill/>
          <a:ln cap="flat" cmpd="sng" w="19050">
            <a:solidFill>
              <a:srgbClr val="000000"/>
            </a:solidFill>
            <a:prstDash val="solid"/>
            <a:round/>
            <a:headEnd len="sm" w="sm" type="none"/>
            <a:tailEnd len="sm" w="sm" type="none"/>
          </a:ln>
        </p:spPr>
      </p:cxnSp>
      <p:cxnSp>
        <p:nvCxnSpPr>
          <p:cNvPr id="202" name="Google Shape;202;g30504478cd7_0_104"/>
          <p:cNvCxnSpPr/>
          <p:nvPr/>
        </p:nvCxnSpPr>
        <p:spPr>
          <a:xfrm>
            <a:off x="1029792" y="2252109"/>
            <a:ext cx="2618700" cy="0"/>
          </a:xfrm>
          <a:prstGeom prst="straightConnector1">
            <a:avLst/>
          </a:prstGeom>
          <a:noFill/>
          <a:ln cap="flat" cmpd="sng" w="38100">
            <a:solidFill>
              <a:srgbClr val="000000"/>
            </a:solidFill>
            <a:prstDash val="solid"/>
            <a:round/>
            <a:headEnd len="sm" w="sm" type="none"/>
            <a:tailEnd len="sm" w="sm" type="none"/>
          </a:ln>
        </p:spPr>
      </p:cxnSp>
      <p:sp>
        <p:nvSpPr>
          <p:cNvPr id="203" name="Google Shape;203;g30504478cd7_0_104"/>
          <p:cNvSpPr/>
          <p:nvPr/>
        </p:nvSpPr>
        <p:spPr>
          <a:xfrm>
            <a:off x="1027649" y="8507397"/>
            <a:ext cx="2087283" cy="521821"/>
          </a:xfrm>
          <a:custGeom>
            <a:rect b="b" l="l" r="r" t="t"/>
            <a:pathLst>
              <a:path extrusionOk="0" h="521821" w="2087283">
                <a:moveTo>
                  <a:pt x="0" y="0"/>
                </a:moveTo>
                <a:lnTo>
                  <a:pt x="2087282" y="0"/>
                </a:lnTo>
                <a:lnTo>
                  <a:pt x="2087282" y="521821"/>
                </a:lnTo>
                <a:lnTo>
                  <a:pt x="0" y="521821"/>
                </a:lnTo>
                <a:lnTo>
                  <a:pt x="0" y="0"/>
                </a:lnTo>
                <a:close/>
              </a:path>
            </a:pathLst>
          </a:custGeom>
          <a:blipFill rotWithShape="1">
            <a:blip r:embed="rId4">
              <a:alphaModFix/>
            </a:blip>
            <a:stretch>
              <a:fillRect b="0" l="0" r="0" t="0"/>
            </a:stretch>
          </a:blipFill>
          <a:ln>
            <a:noFill/>
          </a:ln>
        </p:spPr>
      </p:sp>
      <p:sp>
        <p:nvSpPr>
          <p:cNvPr id="204" name="Google Shape;204;g30504478cd7_0_104"/>
          <p:cNvSpPr txBox="1"/>
          <p:nvPr/>
        </p:nvSpPr>
        <p:spPr>
          <a:xfrm>
            <a:off x="1027711" y="2973499"/>
            <a:ext cx="4769400" cy="615600"/>
          </a:xfrm>
          <a:prstGeom prst="rect">
            <a:avLst/>
          </a:prstGeom>
          <a:noFill/>
          <a:ln>
            <a:noFill/>
          </a:ln>
        </p:spPr>
        <p:txBody>
          <a:bodyPr anchorCtr="0" anchor="t" bIns="0" lIns="0" spcFirstLastPara="1" rIns="0" wrap="square" tIns="0">
            <a:spAutoFit/>
          </a:bodyPr>
          <a:lstStyle/>
          <a:p>
            <a:pPr indent="0" lvl="0" marL="0" marR="0" rtl="0" algn="l">
              <a:lnSpc>
                <a:spcPct val="140045"/>
              </a:lnSpc>
              <a:spcBef>
                <a:spcPts val="0"/>
              </a:spcBef>
              <a:spcAft>
                <a:spcPts val="0"/>
              </a:spcAft>
              <a:buNone/>
            </a:pPr>
            <a:r>
              <a:rPr b="1" lang="en-US" sz="4000">
                <a:latin typeface="Poppins"/>
                <a:ea typeface="Poppins"/>
                <a:cs typeface="Poppins"/>
                <a:sym typeface="Poppins"/>
              </a:rPr>
              <a:t>Step 3: </a:t>
            </a:r>
            <a:endParaRPr b="1" sz="4000"/>
          </a:p>
        </p:txBody>
      </p:sp>
      <p:sp>
        <p:nvSpPr>
          <p:cNvPr id="205" name="Google Shape;205;g30504478cd7_0_104"/>
          <p:cNvSpPr txBox="1"/>
          <p:nvPr/>
        </p:nvSpPr>
        <p:spPr>
          <a:xfrm>
            <a:off x="1027650" y="3884775"/>
            <a:ext cx="6047700" cy="1495800"/>
          </a:xfrm>
          <a:prstGeom prst="rect">
            <a:avLst/>
          </a:prstGeom>
          <a:noFill/>
          <a:ln>
            <a:noFill/>
          </a:ln>
        </p:spPr>
        <p:txBody>
          <a:bodyPr anchorCtr="0" anchor="t" bIns="0" lIns="0" spcFirstLastPara="1" rIns="0" wrap="square" tIns="0">
            <a:spAutoFit/>
          </a:bodyPr>
          <a:lstStyle/>
          <a:p>
            <a:pPr indent="0" lvl="0" marL="0" marR="0" rtl="0" algn="l">
              <a:lnSpc>
                <a:spcPct val="140045"/>
              </a:lnSpc>
              <a:spcBef>
                <a:spcPts val="0"/>
              </a:spcBef>
              <a:spcAft>
                <a:spcPts val="0"/>
              </a:spcAft>
              <a:buNone/>
            </a:pPr>
            <a:r>
              <a:rPr lang="en-US" sz="4048">
                <a:latin typeface="Poppins"/>
                <a:ea typeface="Poppins"/>
                <a:cs typeface="Poppins"/>
                <a:sym typeface="Poppins"/>
              </a:rPr>
              <a:t>Preparing REMBRANDT for Testing</a:t>
            </a:r>
            <a:endParaRPr sz="3700"/>
          </a:p>
        </p:txBody>
      </p:sp>
      <p:sp>
        <p:nvSpPr>
          <p:cNvPr id="206" name="Google Shape;206;g30504478cd7_0_104"/>
          <p:cNvSpPr txBox="1"/>
          <p:nvPr/>
        </p:nvSpPr>
        <p:spPr>
          <a:xfrm>
            <a:off x="8881300" y="2252100"/>
            <a:ext cx="8928300" cy="714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3200"/>
              </a:spcBef>
              <a:spcAft>
                <a:spcPts val="0"/>
              </a:spcAft>
              <a:buNone/>
            </a:pPr>
            <a:r>
              <a:rPr b="1" lang="en-US" sz="3200">
                <a:solidFill>
                  <a:schemeClr val="dk1"/>
                </a:solidFill>
                <a:latin typeface="Poppins"/>
                <a:ea typeface="Poppins"/>
                <a:cs typeface="Poppins"/>
                <a:sym typeface="Poppins"/>
              </a:rPr>
              <a:t>Preprocessing Steps</a:t>
            </a:r>
            <a:endParaRPr b="1" sz="3200">
              <a:solidFill>
                <a:schemeClr val="dk1"/>
              </a:solidFill>
              <a:latin typeface="Poppins"/>
              <a:ea typeface="Poppins"/>
              <a:cs typeface="Poppins"/>
              <a:sym typeface="Poppins"/>
            </a:endParaRPr>
          </a:p>
          <a:p>
            <a:pPr indent="-400050" lvl="0" marL="457200" rtl="0" algn="l">
              <a:lnSpc>
                <a:spcPct val="115000"/>
              </a:lnSpc>
              <a:spcBef>
                <a:spcPts val="3200"/>
              </a:spcBef>
              <a:spcAft>
                <a:spcPts val="0"/>
              </a:spcAft>
              <a:buClr>
                <a:schemeClr val="dk1"/>
              </a:buClr>
              <a:buSzPts val="2700"/>
              <a:buFont typeface="Poppins"/>
              <a:buChar char="●"/>
            </a:pPr>
            <a:r>
              <a:rPr lang="en-US" sz="2700">
                <a:solidFill>
                  <a:schemeClr val="dk1"/>
                </a:solidFill>
                <a:latin typeface="Poppins"/>
                <a:ea typeface="Poppins"/>
                <a:cs typeface="Poppins"/>
                <a:sym typeface="Poppins"/>
              </a:rPr>
              <a:t>Used same preprocessing pipeline on testing data for consistency</a:t>
            </a:r>
            <a:endParaRPr sz="27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10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100">
              <a:solidFill>
                <a:schemeClr val="dk1"/>
              </a:solidFill>
              <a:latin typeface="Poppins"/>
              <a:ea typeface="Poppins"/>
              <a:cs typeface="Poppins"/>
              <a:sym typeface="Poppins"/>
            </a:endParaRPr>
          </a:p>
          <a:p>
            <a:pPr indent="-400050" lvl="1" marL="914400" rtl="0" algn="l">
              <a:lnSpc>
                <a:spcPct val="115000"/>
              </a:lnSpc>
              <a:spcBef>
                <a:spcPts val="0"/>
              </a:spcBef>
              <a:spcAft>
                <a:spcPts val="0"/>
              </a:spcAft>
              <a:buClr>
                <a:schemeClr val="dk1"/>
              </a:buClr>
              <a:buSzPts val="2700"/>
              <a:buFont typeface="Poppins"/>
              <a:buAutoNum type="alphaLcPeriod"/>
            </a:pPr>
            <a:r>
              <a:rPr lang="en-US" sz="2700">
                <a:solidFill>
                  <a:schemeClr val="dk1"/>
                </a:solidFill>
                <a:latin typeface="Poppins"/>
                <a:ea typeface="Poppins"/>
                <a:cs typeface="Poppins"/>
                <a:sym typeface="Poppins"/>
              </a:rPr>
              <a:t>Integrated ground truth tumor labels by merging clinical data</a:t>
            </a:r>
            <a:endParaRPr sz="27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1000">
              <a:solidFill>
                <a:schemeClr val="dk1"/>
              </a:solidFill>
              <a:latin typeface="Poppins"/>
              <a:ea typeface="Poppins"/>
              <a:cs typeface="Poppins"/>
              <a:sym typeface="Poppins"/>
            </a:endParaRPr>
          </a:p>
          <a:p>
            <a:pPr indent="-400050" lvl="1" marL="914400" rtl="0" algn="l">
              <a:lnSpc>
                <a:spcPct val="115000"/>
              </a:lnSpc>
              <a:spcBef>
                <a:spcPts val="0"/>
              </a:spcBef>
              <a:spcAft>
                <a:spcPts val="0"/>
              </a:spcAft>
              <a:buClr>
                <a:schemeClr val="dk1"/>
              </a:buClr>
              <a:buSzPts val="2700"/>
              <a:buFont typeface="Poppins"/>
              <a:buAutoNum type="alphaLcPeriod"/>
            </a:pPr>
            <a:r>
              <a:rPr lang="en-US" sz="2700">
                <a:solidFill>
                  <a:schemeClr val="dk1"/>
                </a:solidFill>
                <a:latin typeface="Poppins"/>
                <a:ea typeface="Poppins"/>
                <a:cs typeface="Poppins"/>
                <a:sym typeface="Poppins"/>
              </a:rPr>
              <a:t>Removed non-numeric columns </a:t>
            </a:r>
            <a:endParaRPr sz="2700">
              <a:solidFill>
                <a:schemeClr val="dk1"/>
              </a:solidFill>
              <a:latin typeface="Poppins"/>
              <a:ea typeface="Poppins"/>
              <a:cs typeface="Poppins"/>
              <a:sym typeface="Poppins"/>
            </a:endParaRPr>
          </a:p>
          <a:p>
            <a:pPr indent="0" lvl="0" marL="914400" rtl="0" algn="l">
              <a:lnSpc>
                <a:spcPct val="115000"/>
              </a:lnSpc>
              <a:spcBef>
                <a:spcPts val="0"/>
              </a:spcBef>
              <a:spcAft>
                <a:spcPts val="0"/>
              </a:spcAft>
              <a:buNone/>
            </a:pPr>
            <a:r>
              <a:rPr lang="en-US" sz="2700">
                <a:solidFill>
                  <a:schemeClr val="dk1"/>
                </a:solidFill>
                <a:latin typeface="Poppins"/>
                <a:ea typeface="Poppins"/>
                <a:cs typeface="Poppins"/>
                <a:sym typeface="Poppins"/>
              </a:rPr>
              <a:t>(Diagnostic metadata, Rows with missing values, Ensured feature names and order matched TCGA dataset)</a:t>
            </a:r>
            <a:endParaRPr sz="27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1000">
              <a:solidFill>
                <a:schemeClr val="dk1"/>
              </a:solidFill>
              <a:latin typeface="Poppins"/>
              <a:ea typeface="Poppins"/>
              <a:cs typeface="Poppins"/>
              <a:sym typeface="Poppins"/>
            </a:endParaRPr>
          </a:p>
          <a:p>
            <a:pPr indent="-400050" lvl="1" marL="914400" rtl="0" algn="l">
              <a:lnSpc>
                <a:spcPct val="115000"/>
              </a:lnSpc>
              <a:spcBef>
                <a:spcPts val="0"/>
              </a:spcBef>
              <a:spcAft>
                <a:spcPts val="0"/>
              </a:spcAft>
              <a:buClr>
                <a:schemeClr val="dk1"/>
              </a:buClr>
              <a:buSzPts val="2700"/>
              <a:buFont typeface="Poppins"/>
              <a:buAutoNum type="alphaLcPeriod"/>
            </a:pPr>
            <a:r>
              <a:rPr lang="en-US" sz="2700">
                <a:solidFill>
                  <a:schemeClr val="dk1"/>
                </a:solidFill>
                <a:latin typeface="Poppins"/>
                <a:ea typeface="Poppins"/>
                <a:cs typeface="Poppins"/>
                <a:sym typeface="Poppins"/>
              </a:rPr>
              <a:t>Applied the same StandardScaler used during TCGA training</a:t>
            </a:r>
            <a:endParaRPr sz="27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10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100">
              <a:solidFill>
                <a:schemeClr val="dk1"/>
              </a:solidFill>
              <a:latin typeface="Poppins"/>
              <a:ea typeface="Poppins"/>
              <a:cs typeface="Poppins"/>
              <a:sym typeface="Poppins"/>
            </a:endParaRPr>
          </a:p>
          <a:p>
            <a:pPr indent="0" lvl="0" marL="457200" rtl="0" algn="l">
              <a:lnSpc>
                <a:spcPct val="115000"/>
              </a:lnSpc>
              <a:spcBef>
                <a:spcPts val="0"/>
              </a:spcBef>
              <a:spcAft>
                <a:spcPts val="0"/>
              </a:spcAft>
              <a:buNone/>
            </a:pPr>
            <a:r>
              <a:t/>
            </a:r>
            <a:endParaRPr sz="2700">
              <a:solidFill>
                <a:schemeClr val="dk1"/>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30504478cd7_0_11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0309" r="-20309" t="0"/>
            </a:stretch>
          </a:blipFill>
          <a:ln>
            <a:noFill/>
          </a:ln>
        </p:spPr>
      </p:sp>
      <p:sp>
        <p:nvSpPr>
          <p:cNvPr id="212" name="Google Shape;212;g30504478cd7_0_116"/>
          <p:cNvSpPr txBox="1"/>
          <p:nvPr/>
        </p:nvSpPr>
        <p:spPr>
          <a:xfrm>
            <a:off x="1027645" y="1494121"/>
            <a:ext cx="6545100" cy="692700"/>
          </a:xfrm>
          <a:prstGeom prst="rect">
            <a:avLst/>
          </a:prstGeom>
          <a:noFill/>
          <a:ln>
            <a:noFill/>
          </a:ln>
        </p:spPr>
        <p:txBody>
          <a:bodyPr anchorCtr="0" anchor="t" bIns="0" lIns="0" spcFirstLastPara="1" rIns="0" wrap="square" tIns="0">
            <a:spAutoFit/>
          </a:bodyPr>
          <a:lstStyle/>
          <a:p>
            <a:pPr indent="0" lvl="0" marL="0" rtl="0" algn="l">
              <a:lnSpc>
                <a:spcPct val="140018"/>
              </a:lnSpc>
              <a:spcBef>
                <a:spcPts val="0"/>
              </a:spcBef>
              <a:spcAft>
                <a:spcPts val="0"/>
              </a:spcAft>
              <a:buNone/>
            </a:pPr>
            <a:r>
              <a:rPr lang="en-US" sz="4500">
                <a:solidFill>
                  <a:srgbClr val="593C8F"/>
                </a:solidFill>
                <a:latin typeface="League Spartan"/>
                <a:ea typeface="League Spartan"/>
                <a:cs typeface="League Spartan"/>
                <a:sym typeface="League Spartan"/>
              </a:rPr>
              <a:t>Methodology </a:t>
            </a:r>
            <a:endParaRPr/>
          </a:p>
        </p:txBody>
      </p:sp>
      <p:cxnSp>
        <p:nvCxnSpPr>
          <p:cNvPr id="213" name="Google Shape;213;g30504478cd7_0_116"/>
          <p:cNvCxnSpPr/>
          <p:nvPr/>
        </p:nvCxnSpPr>
        <p:spPr>
          <a:xfrm>
            <a:off x="1028720" y="2186817"/>
            <a:ext cx="0" cy="0"/>
          </a:xfrm>
          <a:prstGeom prst="straightConnector1">
            <a:avLst/>
          </a:prstGeom>
          <a:noFill/>
          <a:ln cap="flat" cmpd="sng" w="19050">
            <a:solidFill>
              <a:srgbClr val="000000"/>
            </a:solidFill>
            <a:prstDash val="solid"/>
            <a:round/>
            <a:headEnd len="sm" w="sm" type="none"/>
            <a:tailEnd len="sm" w="sm" type="none"/>
          </a:ln>
        </p:spPr>
      </p:cxnSp>
      <p:cxnSp>
        <p:nvCxnSpPr>
          <p:cNvPr id="214" name="Google Shape;214;g30504478cd7_0_116"/>
          <p:cNvCxnSpPr/>
          <p:nvPr/>
        </p:nvCxnSpPr>
        <p:spPr>
          <a:xfrm>
            <a:off x="1029792" y="2252109"/>
            <a:ext cx="2618700" cy="0"/>
          </a:xfrm>
          <a:prstGeom prst="straightConnector1">
            <a:avLst/>
          </a:prstGeom>
          <a:noFill/>
          <a:ln cap="flat" cmpd="sng" w="38100">
            <a:solidFill>
              <a:srgbClr val="000000"/>
            </a:solidFill>
            <a:prstDash val="solid"/>
            <a:round/>
            <a:headEnd len="sm" w="sm" type="none"/>
            <a:tailEnd len="sm" w="sm" type="none"/>
          </a:ln>
        </p:spPr>
      </p:cxnSp>
      <p:sp>
        <p:nvSpPr>
          <p:cNvPr id="215" name="Google Shape;215;g30504478cd7_0_116"/>
          <p:cNvSpPr txBox="1"/>
          <p:nvPr/>
        </p:nvSpPr>
        <p:spPr>
          <a:xfrm>
            <a:off x="1027711" y="2973499"/>
            <a:ext cx="4769400" cy="615600"/>
          </a:xfrm>
          <a:prstGeom prst="rect">
            <a:avLst/>
          </a:prstGeom>
          <a:noFill/>
          <a:ln>
            <a:noFill/>
          </a:ln>
        </p:spPr>
        <p:txBody>
          <a:bodyPr anchorCtr="0" anchor="t" bIns="0" lIns="0" spcFirstLastPara="1" rIns="0" wrap="square" tIns="0">
            <a:spAutoFit/>
          </a:bodyPr>
          <a:lstStyle/>
          <a:p>
            <a:pPr indent="0" lvl="0" marL="0" marR="0" rtl="0" algn="l">
              <a:lnSpc>
                <a:spcPct val="140045"/>
              </a:lnSpc>
              <a:spcBef>
                <a:spcPts val="0"/>
              </a:spcBef>
              <a:spcAft>
                <a:spcPts val="0"/>
              </a:spcAft>
              <a:buNone/>
            </a:pPr>
            <a:r>
              <a:rPr b="1" lang="en-US" sz="4000">
                <a:latin typeface="Poppins"/>
                <a:ea typeface="Poppins"/>
                <a:cs typeface="Poppins"/>
                <a:sym typeface="Poppins"/>
              </a:rPr>
              <a:t>Step 4: </a:t>
            </a:r>
            <a:endParaRPr b="1" sz="4000"/>
          </a:p>
        </p:txBody>
      </p:sp>
      <p:sp>
        <p:nvSpPr>
          <p:cNvPr id="216" name="Google Shape;216;g30504478cd7_0_116"/>
          <p:cNvSpPr txBox="1"/>
          <p:nvPr/>
        </p:nvSpPr>
        <p:spPr>
          <a:xfrm>
            <a:off x="1027650" y="3884775"/>
            <a:ext cx="8369100" cy="623100"/>
          </a:xfrm>
          <a:prstGeom prst="rect">
            <a:avLst/>
          </a:prstGeom>
          <a:noFill/>
          <a:ln>
            <a:noFill/>
          </a:ln>
        </p:spPr>
        <p:txBody>
          <a:bodyPr anchorCtr="0" anchor="t" bIns="0" lIns="0" spcFirstLastPara="1" rIns="0" wrap="square" tIns="0">
            <a:spAutoFit/>
          </a:bodyPr>
          <a:lstStyle/>
          <a:p>
            <a:pPr indent="0" lvl="0" marL="0" marR="0" rtl="0" algn="l">
              <a:lnSpc>
                <a:spcPct val="140045"/>
              </a:lnSpc>
              <a:spcBef>
                <a:spcPts val="0"/>
              </a:spcBef>
              <a:spcAft>
                <a:spcPts val="0"/>
              </a:spcAft>
              <a:buNone/>
            </a:pPr>
            <a:r>
              <a:rPr lang="en-US" sz="4048">
                <a:latin typeface="Poppins"/>
                <a:ea typeface="Poppins"/>
                <a:cs typeface="Poppins"/>
                <a:sym typeface="Poppins"/>
              </a:rPr>
              <a:t>REMBRANDT Model Testing</a:t>
            </a:r>
            <a:endParaRPr sz="3700"/>
          </a:p>
        </p:txBody>
      </p:sp>
      <p:sp>
        <p:nvSpPr>
          <p:cNvPr id="217" name="Google Shape;217;g30504478cd7_0_116"/>
          <p:cNvSpPr txBox="1"/>
          <p:nvPr/>
        </p:nvSpPr>
        <p:spPr>
          <a:xfrm>
            <a:off x="1027650" y="4803550"/>
            <a:ext cx="7756500" cy="3521100"/>
          </a:xfrm>
          <a:prstGeom prst="rect">
            <a:avLst/>
          </a:prstGeom>
          <a:noFill/>
          <a:ln>
            <a:noFill/>
          </a:ln>
        </p:spPr>
        <p:txBody>
          <a:bodyPr anchorCtr="0" anchor="t" bIns="91425" lIns="91425" spcFirstLastPara="1" rIns="91425" wrap="square" tIns="91425">
            <a:spAutoFit/>
          </a:bodyPr>
          <a:lstStyle/>
          <a:p>
            <a:pPr indent="-400050" lvl="0" marL="457200" rtl="0" algn="l">
              <a:lnSpc>
                <a:spcPct val="115000"/>
              </a:lnSpc>
              <a:spcBef>
                <a:spcPts val="0"/>
              </a:spcBef>
              <a:spcAft>
                <a:spcPts val="0"/>
              </a:spcAft>
              <a:buClr>
                <a:schemeClr val="dk1"/>
              </a:buClr>
              <a:buSzPts val="2700"/>
              <a:buFont typeface="Poppins"/>
              <a:buChar char="●"/>
            </a:pPr>
            <a:r>
              <a:rPr lang="en-US" sz="2700">
                <a:solidFill>
                  <a:schemeClr val="dk1"/>
                </a:solidFill>
                <a:latin typeface="Poppins"/>
                <a:ea typeface="Poppins"/>
                <a:cs typeface="Poppins"/>
                <a:sym typeface="Poppins"/>
              </a:rPr>
              <a:t>Applied trained OvR classifiers to processed REMBRANDT features</a:t>
            </a:r>
            <a:endParaRPr sz="27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1500">
              <a:solidFill>
                <a:schemeClr val="dk1"/>
              </a:solidFill>
              <a:latin typeface="Poppins"/>
              <a:ea typeface="Poppins"/>
              <a:cs typeface="Poppins"/>
              <a:sym typeface="Poppins"/>
            </a:endParaRPr>
          </a:p>
          <a:p>
            <a:pPr indent="-400050" lvl="0" marL="457200" rtl="0" algn="l">
              <a:lnSpc>
                <a:spcPct val="115000"/>
              </a:lnSpc>
              <a:spcBef>
                <a:spcPts val="0"/>
              </a:spcBef>
              <a:spcAft>
                <a:spcPts val="0"/>
              </a:spcAft>
              <a:buClr>
                <a:schemeClr val="dk1"/>
              </a:buClr>
              <a:buSzPts val="2700"/>
              <a:buFont typeface="Poppins"/>
              <a:buChar char="●"/>
            </a:pPr>
            <a:r>
              <a:rPr lang="en-US" sz="2700">
                <a:solidFill>
                  <a:schemeClr val="dk1"/>
                </a:solidFill>
                <a:latin typeface="Poppins"/>
                <a:ea typeface="Poppins"/>
                <a:cs typeface="Poppins"/>
                <a:sym typeface="Poppins"/>
              </a:rPr>
              <a:t>Each model generated a class probability score</a:t>
            </a:r>
            <a:endParaRPr sz="27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1500">
              <a:solidFill>
                <a:schemeClr val="dk1"/>
              </a:solidFill>
              <a:latin typeface="Poppins"/>
              <a:ea typeface="Poppins"/>
              <a:cs typeface="Poppins"/>
              <a:sym typeface="Poppins"/>
            </a:endParaRPr>
          </a:p>
          <a:p>
            <a:pPr indent="-400050" lvl="0" marL="457200" rtl="0" algn="l">
              <a:lnSpc>
                <a:spcPct val="115000"/>
              </a:lnSpc>
              <a:spcBef>
                <a:spcPts val="0"/>
              </a:spcBef>
              <a:spcAft>
                <a:spcPts val="0"/>
              </a:spcAft>
              <a:buClr>
                <a:schemeClr val="dk1"/>
              </a:buClr>
              <a:buSzPts val="2700"/>
              <a:buFont typeface="Poppins"/>
              <a:buChar char="●"/>
            </a:pPr>
            <a:r>
              <a:rPr lang="en-US" sz="2700">
                <a:solidFill>
                  <a:schemeClr val="dk1"/>
                </a:solidFill>
                <a:latin typeface="Poppins"/>
                <a:ea typeface="Poppins"/>
                <a:cs typeface="Poppins"/>
                <a:sym typeface="Poppins"/>
              </a:rPr>
              <a:t>Final label assigned based on highest probability across models</a:t>
            </a:r>
            <a:endParaRPr sz="2700">
              <a:solidFill>
                <a:schemeClr val="dk1"/>
              </a:solidFill>
              <a:latin typeface="Poppins"/>
              <a:ea typeface="Poppins"/>
              <a:cs typeface="Poppins"/>
              <a:sym typeface="Poppins"/>
            </a:endParaRPr>
          </a:p>
        </p:txBody>
      </p:sp>
      <p:sp>
        <p:nvSpPr>
          <p:cNvPr id="218" name="Google Shape;218;g30504478cd7_0_116"/>
          <p:cNvSpPr txBox="1"/>
          <p:nvPr/>
        </p:nvSpPr>
        <p:spPr>
          <a:xfrm>
            <a:off x="10632025" y="2973500"/>
            <a:ext cx="6905100" cy="6489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3200"/>
              </a:spcBef>
              <a:spcAft>
                <a:spcPts val="0"/>
              </a:spcAft>
              <a:buNone/>
            </a:pPr>
            <a:r>
              <a:rPr b="1" lang="en-US" sz="3200">
                <a:solidFill>
                  <a:schemeClr val="dk1"/>
                </a:solidFill>
              </a:rPr>
              <a:t>Evaluation Metrics</a:t>
            </a:r>
            <a:endParaRPr b="1" sz="3200">
              <a:solidFill>
                <a:schemeClr val="dk1"/>
              </a:solidFill>
            </a:endParaRPr>
          </a:p>
          <a:p>
            <a:pPr indent="-400050" lvl="0" marL="457200" rtl="0" algn="l">
              <a:lnSpc>
                <a:spcPct val="115000"/>
              </a:lnSpc>
              <a:spcBef>
                <a:spcPts val="3200"/>
              </a:spcBef>
              <a:spcAft>
                <a:spcPts val="0"/>
              </a:spcAft>
              <a:buClr>
                <a:schemeClr val="dk1"/>
              </a:buClr>
              <a:buSzPts val="2700"/>
              <a:buFont typeface="Poppins"/>
              <a:buChar char="●"/>
            </a:pPr>
            <a:r>
              <a:rPr lang="en-US" sz="2700">
                <a:solidFill>
                  <a:schemeClr val="dk1"/>
                </a:solidFill>
                <a:latin typeface="Poppins"/>
                <a:ea typeface="Poppins"/>
                <a:cs typeface="Poppins"/>
                <a:sym typeface="Poppins"/>
              </a:rPr>
              <a:t>Compared predicted vs. ground truth labels</a:t>
            </a:r>
            <a:endParaRPr sz="2700">
              <a:solidFill>
                <a:schemeClr val="dk1"/>
              </a:solidFill>
              <a:latin typeface="Poppins"/>
              <a:ea typeface="Poppins"/>
              <a:cs typeface="Poppins"/>
              <a:sym typeface="Poppins"/>
            </a:endParaRPr>
          </a:p>
          <a:p>
            <a:pPr indent="0" lvl="0" marL="0" rtl="0" algn="l">
              <a:lnSpc>
                <a:spcPct val="115000"/>
              </a:lnSpc>
              <a:spcBef>
                <a:spcPts val="1000"/>
              </a:spcBef>
              <a:spcAft>
                <a:spcPts val="0"/>
              </a:spcAft>
              <a:buNone/>
            </a:pPr>
            <a:r>
              <a:t/>
            </a:r>
            <a:endParaRPr sz="2700">
              <a:solidFill>
                <a:schemeClr val="dk1"/>
              </a:solidFill>
              <a:latin typeface="Poppins"/>
              <a:ea typeface="Poppins"/>
              <a:cs typeface="Poppins"/>
              <a:sym typeface="Poppins"/>
            </a:endParaRPr>
          </a:p>
          <a:p>
            <a:pPr indent="-400050" lvl="0" marL="457200" rtl="0" algn="l">
              <a:lnSpc>
                <a:spcPct val="115000"/>
              </a:lnSpc>
              <a:spcBef>
                <a:spcPts val="1000"/>
              </a:spcBef>
              <a:spcAft>
                <a:spcPts val="0"/>
              </a:spcAft>
              <a:buClr>
                <a:schemeClr val="dk1"/>
              </a:buClr>
              <a:buSzPts val="2700"/>
              <a:buFont typeface="Poppins"/>
              <a:buChar char="●"/>
            </a:pPr>
            <a:r>
              <a:rPr b="1" lang="en-US" sz="2700">
                <a:solidFill>
                  <a:schemeClr val="dk1"/>
                </a:solidFill>
                <a:latin typeface="Poppins"/>
                <a:ea typeface="Poppins"/>
                <a:cs typeface="Poppins"/>
                <a:sym typeface="Poppins"/>
              </a:rPr>
              <a:t>Assessed performance using:</a:t>
            </a:r>
            <a:endParaRPr b="1" sz="2700">
              <a:solidFill>
                <a:schemeClr val="dk1"/>
              </a:solidFill>
              <a:latin typeface="Poppins"/>
              <a:ea typeface="Poppins"/>
              <a:cs typeface="Poppins"/>
              <a:sym typeface="Poppins"/>
            </a:endParaRPr>
          </a:p>
          <a:p>
            <a:pPr indent="-400050" lvl="1" marL="914400" rtl="0" algn="l">
              <a:lnSpc>
                <a:spcPct val="115000"/>
              </a:lnSpc>
              <a:spcBef>
                <a:spcPts val="0"/>
              </a:spcBef>
              <a:spcAft>
                <a:spcPts val="0"/>
              </a:spcAft>
              <a:buClr>
                <a:schemeClr val="dk1"/>
              </a:buClr>
              <a:buSzPts val="2700"/>
              <a:buFont typeface="Poppins"/>
              <a:buAutoNum type="alphaLcPeriod"/>
            </a:pPr>
            <a:r>
              <a:rPr lang="en-US" sz="2700">
                <a:solidFill>
                  <a:schemeClr val="dk1"/>
                </a:solidFill>
                <a:latin typeface="Poppins"/>
                <a:ea typeface="Poppins"/>
                <a:cs typeface="Poppins"/>
                <a:sym typeface="Poppins"/>
              </a:rPr>
              <a:t>Accuracy, Precision, Recall, F1 Score</a:t>
            </a:r>
            <a:endParaRPr sz="27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1000">
              <a:solidFill>
                <a:schemeClr val="dk1"/>
              </a:solidFill>
              <a:latin typeface="Poppins"/>
              <a:ea typeface="Poppins"/>
              <a:cs typeface="Poppins"/>
              <a:sym typeface="Poppins"/>
            </a:endParaRPr>
          </a:p>
          <a:p>
            <a:pPr indent="-400050" lvl="1" marL="914400" rtl="0" algn="l">
              <a:lnSpc>
                <a:spcPct val="115000"/>
              </a:lnSpc>
              <a:spcBef>
                <a:spcPts val="0"/>
              </a:spcBef>
              <a:spcAft>
                <a:spcPts val="0"/>
              </a:spcAft>
              <a:buClr>
                <a:schemeClr val="dk1"/>
              </a:buClr>
              <a:buSzPts val="2700"/>
              <a:buFont typeface="Poppins"/>
              <a:buAutoNum type="alphaLcPeriod"/>
            </a:pPr>
            <a:r>
              <a:rPr lang="en-US" sz="2700">
                <a:solidFill>
                  <a:schemeClr val="dk1"/>
                </a:solidFill>
                <a:latin typeface="Poppins"/>
                <a:ea typeface="Poppins"/>
                <a:cs typeface="Poppins"/>
                <a:sym typeface="Poppins"/>
              </a:rPr>
              <a:t>generated Confusion matrix and ROC </a:t>
            </a:r>
            <a:r>
              <a:rPr lang="en-US" sz="2700">
                <a:solidFill>
                  <a:schemeClr val="dk1"/>
                </a:solidFill>
                <a:latin typeface="Poppins"/>
                <a:ea typeface="Poppins"/>
                <a:cs typeface="Poppins"/>
                <a:sym typeface="Poppins"/>
              </a:rPr>
              <a:t>curves</a:t>
            </a:r>
            <a:endParaRPr sz="27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1000">
              <a:solidFill>
                <a:schemeClr val="dk1"/>
              </a:solidFill>
              <a:latin typeface="Poppins"/>
              <a:ea typeface="Poppins"/>
              <a:cs typeface="Poppins"/>
              <a:sym typeface="Poppins"/>
            </a:endParaRPr>
          </a:p>
          <a:p>
            <a:pPr indent="-400050" lvl="1" marL="914400" rtl="0" algn="l">
              <a:lnSpc>
                <a:spcPct val="115000"/>
              </a:lnSpc>
              <a:spcBef>
                <a:spcPts val="0"/>
              </a:spcBef>
              <a:spcAft>
                <a:spcPts val="0"/>
              </a:spcAft>
              <a:buClr>
                <a:schemeClr val="dk1"/>
              </a:buClr>
              <a:buSzPts val="2700"/>
              <a:buFont typeface="Poppins"/>
              <a:buAutoNum type="alphaLcPeriod"/>
            </a:pPr>
            <a:r>
              <a:rPr lang="en-US" sz="2700">
                <a:solidFill>
                  <a:schemeClr val="dk1"/>
                </a:solidFill>
                <a:latin typeface="Poppins"/>
                <a:ea typeface="Poppins"/>
                <a:cs typeface="Poppins"/>
                <a:sym typeface="Poppins"/>
              </a:rPr>
              <a:t>plotted Feature importance for interpretability</a:t>
            </a:r>
            <a:endParaRPr sz="2700">
              <a:solidFill>
                <a:schemeClr val="dk1"/>
              </a:solidFill>
              <a:latin typeface="Poppins"/>
              <a:ea typeface="Poppins"/>
              <a:cs typeface="Poppins"/>
              <a:sym typeface="Poppins"/>
            </a:endParaRPr>
          </a:p>
        </p:txBody>
      </p:sp>
      <p:sp>
        <p:nvSpPr>
          <p:cNvPr id="219" name="Google Shape;219;g30504478cd7_0_116"/>
          <p:cNvSpPr/>
          <p:nvPr/>
        </p:nvSpPr>
        <p:spPr>
          <a:xfrm>
            <a:off x="1027649" y="8507397"/>
            <a:ext cx="2087283" cy="521821"/>
          </a:xfrm>
          <a:custGeom>
            <a:rect b="b" l="l" r="r" t="t"/>
            <a:pathLst>
              <a:path extrusionOk="0" h="521821" w="2087283">
                <a:moveTo>
                  <a:pt x="0" y="0"/>
                </a:moveTo>
                <a:lnTo>
                  <a:pt x="2087282" y="0"/>
                </a:lnTo>
                <a:lnTo>
                  <a:pt x="2087282" y="521821"/>
                </a:lnTo>
                <a:lnTo>
                  <a:pt x="0" y="521821"/>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30504478cd7_0_14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0309" r="-20309" t="0"/>
            </a:stretch>
          </a:blipFill>
          <a:ln>
            <a:noFill/>
          </a:ln>
        </p:spPr>
      </p:sp>
      <p:sp>
        <p:nvSpPr>
          <p:cNvPr id="225" name="Google Shape;225;g30504478cd7_0_149"/>
          <p:cNvSpPr txBox="1"/>
          <p:nvPr/>
        </p:nvSpPr>
        <p:spPr>
          <a:xfrm>
            <a:off x="1027645" y="1494121"/>
            <a:ext cx="6545100" cy="692700"/>
          </a:xfrm>
          <a:prstGeom prst="rect">
            <a:avLst/>
          </a:prstGeom>
          <a:noFill/>
          <a:ln>
            <a:noFill/>
          </a:ln>
        </p:spPr>
        <p:txBody>
          <a:bodyPr anchorCtr="0" anchor="t" bIns="0" lIns="0" spcFirstLastPara="1" rIns="0" wrap="square" tIns="0">
            <a:spAutoFit/>
          </a:bodyPr>
          <a:lstStyle/>
          <a:p>
            <a:pPr indent="0" lvl="0" marL="0" rtl="0" algn="l">
              <a:lnSpc>
                <a:spcPct val="140018"/>
              </a:lnSpc>
              <a:spcBef>
                <a:spcPts val="0"/>
              </a:spcBef>
              <a:spcAft>
                <a:spcPts val="0"/>
              </a:spcAft>
              <a:buNone/>
            </a:pPr>
            <a:r>
              <a:rPr lang="en-US" sz="4500">
                <a:solidFill>
                  <a:srgbClr val="593C8F"/>
                </a:solidFill>
                <a:latin typeface="League Spartan"/>
                <a:ea typeface="League Spartan"/>
                <a:cs typeface="League Spartan"/>
                <a:sym typeface="League Spartan"/>
              </a:rPr>
              <a:t>Methodology </a:t>
            </a:r>
            <a:endParaRPr/>
          </a:p>
        </p:txBody>
      </p:sp>
      <p:cxnSp>
        <p:nvCxnSpPr>
          <p:cNvPr id="226" name="Google Shape;226;g30504478cd7_0_149"/>
          <p:cNvCxnSpPr/>
          <p:nvPr/>
        </p:nvCxnSpPr>
        <p:spPr>
          <a:xfrm>
            <a:off x="1028720" y="2186817"/>
            <a:ext cx="0" cy="0"/>
          </a:xfrm>
          <a:prstGeom prst="straightConnector1">
            <a:avLst/>
          </a:prstGeom>
          <a:noFill/>
          <a:ln cap="flat" cmpd="sng" w="19050">
            <a:solidFill>
              <a:srgbClr val="000000"/>
            </a:solidFill>
            <a:prstDash val="solid"/>
            <a:round/>
            <a:headEnd len="sm" w="sm" type="none"/>
            <a:tailEnd len="sm" w="sm" type="none"/>
          </a:ln>
        </p:spPr>
      </p:cxnSp>
      <p:cxnSp>
        <p:nvCxnSpPr>
          <p:cNvPr id="227" name="Google Shape;227;g30504478cd7_0_149"/>
          <p:cNvCxnSpPr/>
          <p:nvPr/>
        </p:nvCxnSpPr>
        <p:spPr>
          <a:xfrm>
            <a:off x="1029792" y="2252109"/>
            <a:ext cx="2618700" cy="0"/>
          </a:xfrm>
          <a:prstGeom prst="straightConnector1">
            <a:avLst/>
          </a:prstGeom>
          <a:noFill/>
          <a:ln cap="flat" cmpd="sng" w="38100">
            <a:solidFill>
              <a:srgbClr val="000000"/>
            </a:solidFill>
            <a:prstDash val="solid"/>
            <a:round/>
            <a:headEnd len="sm" w="sm" type="none"/>
            <a:tailEnd len="sm" w="sm" type="none"/>
          </a:ln>
        </p:spPr>
      </p:cxnSp>
      <p:sp>
        <p:nvSpPr>
          <p:cNvPr id="228" name="Google Shape;228;g30504478cd7_0_149"/>
          <p:cNvSpPr/>
          <p:nvPr/>
        </p:nvSpPr>
        <p:spPr>
          <a:xfrm>
            <a:off x="1027649" y="8507397"/>
            <a:ext cx="2087283" cy="521821"/>
          </a:xfrm>
          <a:custGeom>
            <a:rect b="b" l="l" r="r" t="t"/>
            <a:pathLst>
              <a:path extrusionOk="0" h="521821" w="2087283">
                <a:moveTo>
                  <a:pt x="0" y="0"/>
                </a:moveTo>
                <a:lnTo>
                  <a:pt x="2087282" y="0"/>
                </a:lnTo>
                <a:lnTo>
                  <a:pt x="2087282" y="521821"/>
                </a:lnTo>
                <a:lnTo>
                  <a:pt x="0" y="521821"/>
                </a:lnTo>
                <a:lnTo>
                  <a:pt x="0" y="0"/>
                </a:lnTo>
                <a:close/>
              </a:path>
            </a:pathLst>
          </a:custGeom>
          <a:blipFill rotWithShape="1">
            <a:blip r:embed="rId4">
              <a:alphaModFix/>
            </a:blip>
            <a:stretch>
              <a:fillRect b="0" l="0" r="0" t="0"/>
            </a:stretch>
          </a:blipFill>
          <a:ln>
            <a:noFill/>
          </a:ln>
        </p:spPr>
      </p:sp>
      <p:sp>
        <p:nvSpPr>
          <p:cNvPr id="229" name="Google Shape;229;g30504478cd7_0_149"/>
          <p:cNvSpPr txBox="1"/>
          <p:nvPr/>
        </p:nvSpPr>
        <p:spPr>
          <a:xfrm>
            <a:off x="1027711" y="2973499"/>
            <a:ext cx="4769400" cy="615600"/>
          </a:xfrm>
          <a:prstGeom prst="rect">
            <a:avLst/>
          </a:prstGeom>
          <a:noFill/>
          <a:ln>
            <a:noFill/>
          </a:ln>
        </p:spPr>
        <p:txBody>
          <a:bodyPr anchorCtr="0" anchor="t" bIns="0" lIns="0" spcFirstLastPara="1" rIns="0" wrap="square" tIns="0">
            <a:spAutoFit/>
          </a:bodyPr>
          <a:lstStyle/>
          <a:p>
            <a:pPr indent="0" lvl="0" marL="0" marR="0" rtl="0" algn="l">
              <a:lnSpc>
                <a:spcPct val="140045"/>
              </a:lnSpc>
              <a:spcBef>
                <a:spcPts val="0"/>
              </a:spcBef>
              <a:spcAft>
                <a:spcPts val="0"/>
              </a:spcAft>
              <a:buNone/>
            </a:pPr>
            <a:r>
              <a:rPr b="1" lang="en-US" sz="4000">
                <a:latin typeface="Poppins"/>
                <a:ea typeface="Poppins"/>
                <a:cs typeface="Poppins"/>
                <a:sym typeface="Poppins"/>
              </a:rPr>
              <a:t>Additional Step</a:t>
            </a:r>
            <a:endParaRPr b="1" sz="4000"/>
          </a:p>
        </p:txBody>
      </p:sp>
      <p:sp>
        <p:nvSpPr>
          <p:cNvPr id="230" name="Google Shape;230;g30504478cd7_0_149"/>
          <p:cNvSpPr txBox="1"/>
          <p:nvPr/>
        </p:nvSpPr>
        <p:spPr>
          <a:xfrm>
            <a:off x="1027650" y="3884775"/>
            <a:ext cx="6920700" cy="1495800"/>
          </a:xfrm>
          <a:prstGeom prst="rect">
            <a:avLst/>
          </a:prstGeom>
          <a:noFill/>
          <a:ln>
            <a:noFill/>
          </a:ln>
        </p:spPr>
        <p:txBody>
          <a:bodyPr anchorCtr="0" anchor="t" bIns="0" lIns="0" spcFirstLastPara="1" rIns="0" wrap="square" tIns="0">
            <a:spAutoFit/>
          </a:bodyPr>
          <a:lstStyle/>
          <a:p>
            <a:pPr indent="0" lvl="0" marL="0" marR="0" rtl="0" algn="l">
              <a:lnSpc>
                <a:spcPct val="140045"/>
              </a:lnSpc>
              <a:spcBef>
                <a:spcPts val="0"/>
              </a:spcBef>
              <a:spcAft>
                <a:spcPts val="0"/>
              </a:spcAft>
              <a:buNone/>
            </a:pPr>
            <a:r>
              <a:rPr lang="en-US" sz="4048">
                <a:latin typeface="Poppins"/>
                <a:ea typeface="Poppins"/>
                <a:cs typeface="Poppins"/>
                <a:sym typeface="Poppins"/>
              </a:rPr>
              <a:t>Unified Training &amp; Evaluation</a:t>
            </a:r>
            <a:endParaRPr sz="3700"/>
          </a:p>
        </p:txBody>
      </p:sp>
      <p:sp>
        <p:nvSpPr>
          <p:cNvPr id="231" name="Google Shape;231;g30504478cd7_0_149"/>
          <p:cNvSpPr txBox="1"/>
          <p:nvPr/>
        </p:nvSpPr>
        <p:spPr>
          <a:xfrm>
            <a:off x="9336075" y="3077875"/>
            <a:ext cx="7756500" cy="4327800"/>
          </a:xfrm>
          <a:prstGeom prst="rect">
            <a:avLst/>
          </a:prstGeom>
          <a:noFill/>
          <a:ln>
            <a:noFill/>
          </a:ln>
        </p:spPr>
        <p:txBody>
          <a:bodyPr anchorCtr="0" anchor="t" bIns="91425" lIns="91425" spcFirstLastPara="1" rIns="91425" wrap="square" tIns="91425">
            <a:spAutoFit/>
          </a:bodyPr>
          <a:lstStyle/>
          <a:p>
            <a:pPr indent="-444500" lvl="0" marL="457200" rtl="0" algn="l">
              <a:lnSpc>
                <a:spcPct val="115000"/>
              </a:lnSpc>
              <a:spcBef>
                <a:spcPts val="1000"/>
              </a:spcBef>
              <a:spcAft>
                <a:spcPts val="0"/>
              </a:spcAft>
              <a:buClr>
                <a:schemeClr val="dk1"/>
              </a:buClr>
              <a:buSzPts val="3400"/>
              <a:buFont typeface="Poppins"/>
              <a:buChar char="●"/>
            </a:pPr>
            <a:r>
              <a:rPr lang="en-US" sz="3400">
                <a:solidFill>
                  <a:schemeClr val="dk1"/>
                </a:solidFill>
                <a:latin typeface="Poppins"/>
                <a:ea typeface="Poppins"/>
                <a:cs typeface="Poppins"/>
                <a:sym typeface="Poppins"/>
              </a:rPr>
              <a:t>Combined TCGA + REMBRANDT into one dataset using UNION join </a:t>
            </a:r>
            <a:r>
              <a:rPr b="1" lang="en-US" sz="3400">
                <a:solidFill>
                  <a:schemeClr val="dk1"/>
                </a:solidFill>
                <a:latin typeface="Poppins"/>
                <a:ea typeface="Poppins"/>
                <a:cs typeface="Poppins"/>
                <a:sym typeface="Poppins"/>
              </a:rPr>
              <a:t>to improve generalizability</a:t>
            </a:r>
            <a:endParaRPr b="1" sz="3400">
              <a:solidFill>
                <a:schemeClr val="dk1"/>
              </a:solidFill>
              <a:latin typeface="Poppins"/>
              <a:ea typeface="Poppins"/>
              <a:cs typeface="Poppins"/>
              <a:sym typeface="Poppins"/>
            </a:endParaRPr>
          </a:p>
          <a:p>
            <a:pPr indent="0" lvl="0" marL="0" rtl="0" algn="l">
              <a:lnSpc>
                <a:spcPct val="115000"/>
              </a:lnSpc>
              <a:spcBef>
                <a:spcPts val="1000"/>
              </a:spcBef>
              <a:spcAft>
                <a:spcPts val="0"/>
              </a:spcAft>
              <a:buNone/>
            </a:pPr>
            <a:r>
              <a:t/>
            </a:r>
            <a:endParaRPr sz="2000">
              <a:solidFill>
                <a:schemeClr val="dk1"/>
              </a:solidFill>
              <a:latin typeface="Poppins"/>
              <a:ea typeface="Poppins"/>
              <a:cs typeface="Poppins"/>
              <a:sym typeface="Poppins"/>
            </a:endParaRPr>
          </a:p>
          <a:p>
            <a:pPr indent="-444500" lvl="0" marL="457200" rtl="0" algn="l">
              <a:lnSpc>
                <a:spcPct val="115000"/>
              </a:lnSpc>
              <a:spcBef>
                <a:spcPts val="1000"/>
              </a:spcBef>
              <a:spcAft>
                <a:spcPts val="1000"/>
              </a:spcAft>
              <a:buClr>
                <a:schemeClr val="dk1"/>
              </a:buClr>
              <a:buSzPts val="3400"/>
              <a:buFont typeface="Poppins"/>
              <a:buChar char="●"/>
            </a:pPr>
            <a:r>
              <a:rPr lang="en-US" sz="3400">
                <a:solidFill>
                  <a:schemeClr val="dk1"/>
                </a:solidFill>
                <a:latin typeface="Poppins"/>
                <a:ea typeface="Poppins"/>
                <a:cs typeface="Poppins"/>
                <a:sym typeface="Poppins"/>
              </a:rPr>
              <a:t>Aligned feature columns, standardized labels, and applied z-score normalization</a:t>
            </a:r>
            <a:endParaRPr sz="3400">
              <a:solidFill>
                <a:schemeClr val="dk1"/>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g30504478cd7_0_12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0309" r="-20309" t="0"/>
            </a:stretch>
          </a:blipFill>
          <a:ln>
            <a:noFill/>
          </a:ln>
        </p:spPr>
      </p:sp>
      <p:sp>
        <p:nvSpPr>
          <p:cNvPr id="237" name="Google Shape;237;g30504478cd7_0_128"/>
          <p:cNvSpPr txBox="1"/>
          <p:nvPr/>
        </p:nvSpPr>
        <p:spPr>
          <a:xfrm>
            <a:off x="1027645" y="1494121"/>
            <a:ext cx="6545100" cy="692700"/>
          </a:xfrm>
          <a:prstGeom prst="rect">
            <a:avLst/>
          </a:prstGeom>
          <a:noFill/>
          <a:ln>
            <a:noFill/>
          </a:ln>
        </p:spPr>
        <p:txBody>
          <a:bodyPr anchorCtr="0" anchor="t" bIns="0" lIns="0" spcFirstLastPara="1" rIns="0" wrap="square" tIns="0">
            <a:spAutoFit/>
          </a:bodyPr>
          <a:lstStyle/>
          <a:p>
            <a:pPr indent="0" lvl="0" marL="0" rtl="0" algn="l">
              <a:lnSpc>
                <a:spcPct val="140018"/>
              </a:lnSpc>
              <a:spcBef>
                <a:spcPts val="0"/>
              </a:spcBef>
              <a:spcAft>
                <a:spcPts val="0"/>
              </a:spcAft>
              <a:buNone/>
            </a:pPr>
            <a:r>
              <a:rPr lang="en-US" sz="4500">
                <a:solidFill>
                  <a:srgbClr val="593C8F"/>
                </a:solidFill>
                <a:latin typeface="League Spartan"/>
                <a:ea typeface="League Spartan"/>
                <a:cs typeface="League Spartan"/>
                <a:sym typeface="League Spartan"/>
              </a:rPr>
              <a:t>Methodology</a:t>
            </a:r>
            <a:endParaRPr/>
          </a:p>
        </p:txBody>
      </p:sp>
      <p:cxnSp>
        <p:nvCxnSpPr>
          <p:cNvPr id="238" name="Google Shape;238;g30504478cd7_0_128"/>
          <p:cNvCxnSpPr/>
          <p:nvPr/>
        </p:nvCxnSpPr>
        <p:spPr>
          <a:xfrm>
            <a:off x="1028720" y="2186817"/>
            <a:ext cx="0" cy="0"/>
          </a:xfrm>
          <a:prstGeom prst="straightConnector1">
            <a:avLst/>
          </a:prstGeom>
          <a:noFill/>
          <a:ln cap="flat" cmpd="sng" w="19050">
            <a:solidFill>
              <a:srgbClr val="000000"/>
            </a:solidFill>
            <a:prstDash val="solid"/>
            <a:round/>
            <a:headEnd len="sm" w="sm" type="none"/>
            <a:tailEnd len="sm" w="sm" type="none"/>
          </a:ln>
        </p:spPr>
      </p:cxnSp>
      <p:cxnSp>
        <p:nvCxnSpPr>
          <p:cNvPr id="239" name="Google Shape;239;g30504478cd7_0_128"/>
          <p:cNvCxnSpPr/>
          <p:nvPr/>
        </p:nvCxnSpPr>
        <p:spPr>
          <a:xfrm>
            <a:off x="1029792" y="2252109"/>
            <a:ext cx="2618700" cy="0"/>
          </a:xfrm>
          <a:prstGeom prst="straightConnector1">
            <a:avLst/>
          </a:prstGeom>
          <a:noFill/>
          <a:ln cap="flat" cmpd="sng" w="38100">
            <a:solidFill>
              <a:srgbClr val="000000"/>
            </a:solidFill>
            <a:prstDash val="solid"/>
            <a:round/>
            <a:headEnd len="sm" w="sm" type="none"/>
            <a:tailEnd len="sm" w="sm" type="none"/>
          </a:ln>
        </p:spPr>
      </p:cxnSp>
      <p:sp>
        <p:nvSpPr>
          <p:cNvPr id="240" name="Google Shape;240;g30504478cd7_0_128"/>
          <p:cNvSpPr/>
          <p:nvPr/>
        </p:nvSpPr>
        <p:spPr>
          <a:xfrm>
            <a:off x="1027649" y="8507397"/>
            <a:ext cx="2087283" cy="521821"/>
          </a:xfrm>
          <a:custGeom>
            <a:rect b="b" l="l" r="r" t="t"/>
            <a:pathLst>
              <a:path extrusionOk="0" h="521821" w="2087283">
                <a:moveTo>
                  <a:pt x="0" y="0"/>
                </a:moveTo>
                <a:lnTo>
                  <a:pt x="2087282" y="0"/>
                </a:lnTo>
                <a:lnTo>
                  <a:pt x="2087282" y="521821"/>
                </a:lnTo>
                <a:lnTo>
                  <a:pt x="0" y="521821"/>
                </a:lnTo>
                <a:lnTo>
                  <a:pt x="0" y="0"/>
                </a:lnTo>
                <a:close/>
              </a:path>
            </a:pathLst>
          </a:custGeom>
          <a:blipFill rotWithShape="1">
            <a:blip r:embed="rId4">
              <a:alphaModFix/>
            </a:blip>
            <a:stretch>
              <a:fillRect b="0" l="0" r="0" t="0"/>
            </a:stretch>
          </a:blipFill>
          <a:ln>
            <a:noFill/>
          </a:ln>
        </p:spPr>
      </p:sp>
      <p:sp>
        <p:nvSpPr>
          <p:cNvPr id="241" name="Google Shape;241;g30504478cd7_0_128"/>
          <p:cNvSpPr txBox="1"/>
          <p:nvPr/>
        </p:nvSpPr>
        <p:spPr>
          <a:xfrm>
            <a:off x="1027711" y="2973499"/>
            <a:ext cx="4769400" cy="615600"/>
          </a:xfrm>
          <a:prstGeom prst="rect">
            <a:avLst/>
          </a:prstGeom>
          <a:noFill/>
          <a:ln>
            <a:noFill/>
          </a:ln>
        </p:spPr>
        <p:txBody>
          <a:bodyPr anchorCtr="0" anchor="t" bIns="0" lIns="0" spcFirstLastPara="1" rIns="0" wrap="square" tIns="0">
            <a:spAutoFit/>
          </a:bodyPr>
          <a:lstStyle/>
          <a:p>
            <a:pPr indent="0" lvl="0" marL="0" marR="0" rtl="0" algn="l">
              <a:lnSpc>
                <a:spcPct val="140045"/>
              </a:lnSpc>
              <a:spcBef>
                <a:spcPts val="0"/>
              </a:spcBef>
              <a:spcAft>
                <a:spcPts val="0"/>
              </a:spcAft>
              <a:buNone/>
            </a:pPr>
            <a:r>
              <a:rPr b="1" lang="en-US" sz="4000">
                <a:latin typeface="Poppins"/>
                <a:ea typeface="Poppins"/>
                <a:cs typeface="Poppins"/>
                <a:sym typeface="Poppins"/>
              </a:rPr>
              <a:t>Additional Step</a:t>
            </a:r>
            <a:endParaRPr b="1" sz="4000"/>
          </a:p>
        </p:txBody>
      </p:sp>
      <p:sp>
        <p:nvSpPr>
          <p:cNvPr id="242" name="Google Shape;242;g30504478cd7_0_128"/>
          <p:cNvSpPr txBox="1"/>
          <p:nvPr/>
        </p:nvSpPr>
        <p:spPr>
          <a:xfrm>
            <a:off x="1027650" y="3884775"/>
            <a:ext cx="6920700" cy="1495800"/>
          </a:xfrm>
          <a:prstGeom prst="rect">
            <a:avLst/>
          </a:prstGeom>
          <a:noFill/>
          <a:ln>
            <a:noFill/>
          </a:ln>
        </p:spPr>
        <p:txBody>
          <a:bodyPr anchorCtr="0" anchor="t" bIns="0" lIns="0" spcFirstLastPara="1" rIns="0" wrap="square" tIns="0">
            <a:spAutoFit/>
          </a:bodyPr>
          <a:lstStyle/>
          <a:p>
            <a:pPr indent="0" lvl="0" marL="0" marR="0" rtl="0" algn="l">
              <a:lnSpc>
                <a:spcPct val="140045"/>
              </a:lnSpc>
              <a:spcBef>
                <a:spcPts val="0"/>
              </a:spcBef>
              <a:spcAft>
                <a:spcPts val="0"/>
              </a:spcAft>
              <a:buNone/>
            </a:pPr>
            <a:r>
              <a:rPr lang="en-US" sz="4048">
                <a:latin typeface="Poppins"/>
                <a:ea typeface="Poppins"/>
                <a:cs typeface="Poppins"/>
                <a:sym typeface="Poppins"/>
              </a:rPr>
              <a:t>Unified Training &amp; Evaluation</a:t>
            </a:r>
            <a:endParaRPr sz="3700"/>
          </a:p>
        </p:txBody>
      </p:sp>
      <p:sp>
        <p:nvSpPr>
          <p:cNvPr id="243" name="Google Shape;243;g30504478cd7_0_128"/>
          <p:cNvSpPr txBox="1"/>
          <p:nvPr/>
        </p:nvSpPr>
        <p:spPr>
          <a:xfrm>
            <a:off x="8881300" y="2252100"/>
            <a:ext cx="8928300" cy="6564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3200"/>
              </a:spcBef>
              <a:spcAft>
                <a:spcPts val="0"/>
              </a:spcAft>
              <a:buNone/>
            </a:pPr>
            <a:r>
              <a:rPr b="1" lang="en-US" sz="3200">
                <a:solidFill>
                  <a:schemeClr val="dk1"/>
                </a:solidFill>
                <a:latin typeface="Poppins"/>
                <a:ea typeface="Poppins"/>
                <a:cs typeface="Poppins"/>
                <a:sym typeface="Poppins"/>
              </a:rPr>
              <a:t>Training Process</a:t>
            </a:r>
            <a:endParaRPr b="1" sz="3200">
              <a:solidFill>
                <a:schemeClr val="dk1"/>
              </a:solidFill>
              <a:latin typeface="Poppins"/>
              <a:ea typeface="Poppins"/>
              <a:cs typeface="Poppins"/>
              <a:sym typeface="Poppins"/>
            </a:endParaRPr>
          </a:p>
          <a:p>
            <a:pPr indent="-400050" lvl="0" marL="457200" rtl="0" algn="l">
              <a:lnSpc>
                <a:spcPct val="115000"/>
              </a:lnSpc>
              <a:spcBef>
                <a:spcPts val="3200"/>
              </a:spcBef>
              <a:spcAft>
                <a:spcPts val="0"/>
              </a:spcAft>
              <a:buClr>
                <a:schemeClr val="dk1"/>
              </a:buClr>
              <a:buSzPts val="2700"/>
              <a:buFont typeface="Poppins"/>
              <a:buChar char="●"/>
            </a:pPr>
            <a:r>
              <a:rPr lang="en-US" sz="2700">
                <a:solidFill>
                  <a:schemeClr val="dk1"/>
                </a:solidFill>
                <a:latin typeface="Poppins"/>
                <a:ea typeface="Poppins"/>
                <a:cs typeface="Poppins"/>
                <a:sym typeface="Poppins"/>
              </a:rPr>
              <a:t>Filtered to include GBM, Oligodendroglioma, Astrocytoma only</a:t>
            </a:r>
            <a:endParaRPr sz="2700">
              <a:solidFill>
                <a:schemeClr val="dk1"/>
              </a:solidFill>
              <a:latin typeface="Poppins"/>
              <a:ea typeface="Poppins"/>
              <a:cs typeface="Poppins"/>
              <a:sym typeface="Poppins"/>
            </a:endParaRPr>
          </a:p>
          <a:p>
            <a:pPr indent="-400050" lvl="0" marL="457200" rtl="0" algn="l">
              <a:lnSpc>
                <a:spcPct val="115000"/>
              </a:lnSpc>
              <a:spcBef>
                <a:spcPts val="3200"/>
              </a:spcBef>
              <a:spcAft>
                <a:spcPts val="0"/>
              </a:spcAft>
              <a:buClr>
                <a:schemeClr val="dk1"/>
              </a:buClr>
              <a:buSzPts val="2700"/>
              <a:buFont typeface="Poppins"/>
              <a:buChar char="●"/>
            </a:pPr>
            <a:r>
              <a:rPr lang="en-US" sz="2700">
                <a:solidFill>
                  <a:schemeClr val="dk1"/>
                </a:solidFill>
                <a:latin typeface="Poppins"/>
                <a:ea typeface="Poppins"/>
                <a:cs typeface="Poppins"/>
                <a:sym typeface="Poppins"/>
              </a:rPr>
              <a:t>Split into stratified training and test sets</a:t>
            </a:r>
            <a:endParaRPr sz="2700">
              <a:solidFill>
                <a:schemeClr val="dk1"/>
              </a:solidFill>
              <a:latin typeface="Poppins"/>
              <a:ea typeface="Poppins"/>
              <a:cs typeface="Poppins"/>
              <a:sym typeface="Poppins"/>
            </a:endParaRPr>
          </a:p>
          <a:p>
            <a:pPr indent="-400050" lvl="0" marL="457200" rtl="0" algn="l">
              <a:lnSpc>
                <a:spcPct val="115000"/>
              </a:lnSpc>
              <a:spcBef>
                <a:spcPts val="3200"/>
              </a:spcBef>
              <a:spcAft>
                <a:spcPts val="0"/>
              </a:spcAft>
              <a:buClr>
                <a:schemeClr val="dk1"/>
              </a:buClr>
              <a:buSzPts val="2700"/>
              <a:buFont typeface="Poppins"/>
              <a:buChar char="●"/>
            </a:pPr>
            <a:r>
              <a:rPr lang="en-US" sz="2700">
                <a:solidFill>
                  <a:schemeClr val="dk1"/>
                </a:solidFill>
                <a:latin typeface="Poppins"/>
                <a:ea typeface="Poppins"/>
                <a:cs typeface="Poppins"/>
                <a:sym typeface="Poppins"/>
              </a:rPr>
              <a:t>Trained OvR classifiers:</a:t>
            </a:r>
            <a:endParaRPr sz="2700">
              <a:solidFill>
                <a:schemeClr val="dk1"/>
              </a:solidFill>
              <a:latin typeface="Poppins"/>
              <a:ea typeface="Poppins"/>
              <a:cs typeface="Poppins"/>
              <a:sym typeface="Poppins"/>
            </a:endParaRPr>
          </a:p>
          <a:p>
            <a:pPr indent="-400050" lvl="1" marL="914400" rtl="0" algn="l">
              <a:lnSpc>
                <a:spcPct val="115000"/>
              </a:lnSpc>
              <a:spcBef>
                <a:spcPts val="3200"/>
              </a:spcBef>
              <a:spcAft>
                <a:spcPts val="0"/>
              </a:spcAft>
              <a:buClr>
                <a:schemeClr val="dk1"/>
              </a:buClr>
              <a:buSzPts val="2700"/>
              <a:buFont typeface="Poppins"/>
              <a:buAutoNum type="alphaLcPeriod"/>
            </a:pPr>
            <a:r>
              <a:rPr lang="en-US" sz="2700">
                <a:solidFill>
                  <a:schemeClr val="dk1"/>
                </a:solidFill>
                <a:latin typeface="Poppins"/>
                <a:ea typeface="Poppins"/>
                <a:cs typeface="Poppins"/>
                <a:sym typeface="Poppins"/>
              </a:rPr>
              <a:t>XGBoost (GBM), Linear SVM (Oligo), Gradient Boosting (Astro)</a:t>
            </a:r>
            <a:endParaRPr sz="2700">
              <a:solidFill>
                <a:schemeClr val="dk1"/>
              </a:solidFill>
              <a:latin typeface="Poppins"/>
              <a:ea typeface="Poppins"/>
              <a:cs typeface="Poppins"/>
              <a:sym typeface="Poppins"/>
            </a:endParaRPr>
          </a:p>
          <a:p>
            <a:pPr indent="-400050" lvl="0" marL="457200" rtl="0" algn="l">
              <a:lnSpc>
                <a:spcPct val="115000"/>
              </a:lnSpc>
              <a:spcBef>
                <a:spcPts val="3200"/>
              </a:spcBef>
              <a:spcAft>
                <a:spcPts val="0"/>
              </a:spcAft>
              <a:buClr>
                <a:schemeClr val="dk1"/>
              </a:buClr>
              <a:buSzPts val="2700"/>
              <a:buFont typeface="Poppins"/>
              <a:buChar char="●"/>
            </a:pPr>
            <a:r>
              <a:rPr lang="en-US" sz="2700">
                <a:solidFill>
                  <a:schemeClr val="dk1"/>
                </a:solidFill>
                <a:latin typeface="Poppins"/>
                <a:ea typeface="Poppins"/>
                <a:cs typeface="Poppins"/>
                <a:sym typeface="Poppins"/>
              </a:rPr>
              <a:t>Tuned each using grid search + cross-validation</a:t>
            </a:r>
            <a:endParaRPr sz="2700">
              <a:solidFill>
                <a:schemeClr val="dk1"/>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g30504478cd7_0_16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0309" r="-20309" t="0"/>
            </a:stretch>
          </a:blipFill>
          <a:ln>
            <a:noFill/>
          </a:ln>
        </p:spPr>
      </p:sp>
      <p:sp>
        <p:nvSpPr>
          <p:cNvPr id="249" name="Google Shape;249;g30504478cd7_0_161"/>
          <p:cNvSpPr txBox="1"/>
          <p:nvPr/>
        </p:nvSpPr>
        <p:spPr>
          <a:xfrm>
            <a:off x="1027645" y="1494121"/>
            <a:ext cx="6545100" cy="692700"/>
          </a:xfrm>
          <a:prstGeom prst="rect">
            <a:avLst/>
          </a:prstGeom>
          <a:noFill/>
          <a:ln>
            <a:noFill/>
          </a:ln>
        </p:spPr>
        <p:txBody>
          <a:bodyPr anchorCtr="0" anchor="t" bIns="0" lIns="0" spcFirstLastPara="1" rIns="0" wrap="square" tIns="0">
            <a:spAutoFit/>
          </a:bodyPr>
          <a:lstStyle/>
          <a:p>
            <a:pPr indent="0" lvl="0" marL="0" rtl="0" algn="l">
              <a:lnSpc>
                <a:spcPct val="140018"/>
              </a:lnSpc>
              <a:spcBef>
                <a:spcPts val="0"/>
              </a:spcBef>
              <a:spcAft>
                <a:spcPts val="0"/>
              </a:spcAft>
              <a:buNone/>
            </a:pPr>
            <a:r>
              <a:rPr lang="en-US" sz="4500">
                <a:solidFill>
                  <a:srgbClr val="593C8F"/>
                </a:solidFill>
                <a:latin typeface="League Spartan"/>
                <a:ea typeface="League Spartan"/>
                <a:cs typeface="League Spartan"/>
                <a:sym typeface="League Spartan"/>
              </a:rPr>
              <a:t>Methodology </a:t>
            </a:r>
            <a:endParaRPr/>
          </a:p>
        </p:txBody>
      </p:sp>
      <p:cxnSp>
        <p:nvCxnSpPr>
          <p:cNvPr id="250" name="Google Shape;250;g30504478cd7_0_161"/>
          <p:cNvCxnSpPr/>
          <p:nvPr/>
        </p:nvCxnSpPr>
        <p:spPr>
          <a:xfrm>
            <a:off x="1028720" y="2186817"/>
            <a:ext cx="0" cy="0"/>
          </a:xfrm>
          <a:prstGeom prst="straightConnector1">
            <a:avLst/>
          </a:prstGeom>
          <a:noFill/>
          <a:ln cap="flat" cmpd="sng" w="19050">
            <a:solidFill>
              <a:srgbClr val="000000"/>
            </a:solidFill>
            <a:prstDash val="solid"/>
            <a:round/>
            <a:headEnd len="sm" w="sm" type="none"/>
            <a:tailEnd len="sm" w="sm" type="none"/>
          </a:ln>
        </p:spPr>
      </p:cxnSp>
      <p:cxnSp>
        <p:nvCxnSpPr>
          <p:cNvPr id="251" name="Google Shape;251;g30504478cd7_0_161"/>
          <p:cNvCxnSpPr/>
          <p:nvPr/>
        </p:nvCxnSpPr>
        <p:spPr>
          <a:xfrm>
            <a:off x="1029792" y="2252109"/>
            <a:ext cx="2618700" cy="0"/>
          </a:xfrm>
          <a:prstGeom prst="straightConnector1">
            <a:avLst/>
          </a:prstGeom>
          <a:noFill/>
          <a:ln cap="flat" cmpd="sng" w="38100">
            <a:solidFill>
              <a:srgbClr val="000000"/>
            </a:solidFill>
            <a:prstDash val="solid"/>
            <a:round/>
            <a:headEnd len="sm" w="sm" type="none"/>
            <a:tailEnd len="sm" w="sm" type="none"/>
          </a:ln>
        </p:spPr>
      </p:cxnSp>
      <p:sp>
        <p:nvSpPr>
          <p:cNvPr id="252" name="Google Shape;252;g30504478cd7_0_161"/>
          <p:cNvSpPr/>
          <p:nvPr/>
        </p:nvSpPr>
        <p:spPr>
          <a:xfrm>
            <a:off x="1027649" y="8507397"/>
            <a:ext cx="2087283" cy="521821"/>
          </a:xfrm>
          <a:custGeom>
            <a:rect b="b" l="l" r="r" t="t"/>
            <a:pathLst>
              <a:path extrusionOk="0" h="521821" w="2087283">
                <a:moveTo>
                  <a:pt x="0" y="0"/>
                </a:moveTo>
                <a:lnTo>
                  <a:pt x="2087282" y="0"/>
                </a:lnTo>
                <a:lnTo>
                  <a:pt x="2087282" y="521821"/>
                </a:lnTo>
                <a:lnTo>
                  <a:pt x="0" y="521821"/>
                </a:lnTo>
                <a:lnTo>
                  <a:pt x="0" y="0"/>
                </a:lnTo>
                <a:close/>
              </a:path>
            </a:pathLst>
          </a:custGeom>
          <a:blipFill rotWithShape="1">
            <a:blip r:embed="rId4">
              <a:alphaModFix/>
            </a:blip>
            <a:stretch>
              <a:fillRect b="0" l="0" r="0" t="0"/>
            </a:stretch>
          </a:blipFill>
          <a:ln>
            <a:noFill/>
          </a:ln>
        </p:spPr>
      </p:sp>
      <p:sp>
        <p:nvSpPr>
          <p:cNvPr id="253" name="Google Shape;253;g30504478cd7_0_161"/>
          <p:cNvSpPr txBox="1"/>
          <p:nvPr/>
        </p:nvSpPr>
        <p:spPr>
          <a:xfrm>
            <a:off x="1027711" y="2973499"/>
            <a:ext cx="4769400" cy="615600"/>
          </a:xfrm>
          <a:prstGeom prst="rect">
            <a:avLst/>
          </a:prstGeom>
          <a:noFill/>
          <a:ln>
            <a:noFill/>
          </a:ln>
        </p:spPr>
        <p:txBody>
          <a:bodyPr anchorCtr="0" anchor="t" bIns="0" lIns="0" spcFirstLastPara="1" rIns="0" wrap="square" tIns="0">
            <a:spAutoFit/>
          </a:bodyPr>
          <a:lstStyle/>
          <a:p>
            <a:pPr indent="0" lvl="0" marL="0" marR="0" rtl="0" algn="l">
              <a:lnSpc>
                <a:spcPct val="140045"/>
              </a:lnSpc>
              <a:spcBef>
                <a:spcPts val="0"/>
              </a:spcBef>
              <a:spcAft>
                <a:spcPts val="0"/>
              </a:spcAft>
              <a:buNone/>
            </a:pPr>
            <a:r>
              <a:rPr b="1" lang="en-US" sz="4000">
                <a:latin typeface="Poppins"/>
                <a:ea typeface="Poppins"/>
                <a:cs typeface="Poppins"/>
                <a:sym typeface="Poppins"/>
              </a:rPr>
              <a:t>Additional Step</a:t>
            </a:r>
            <a:endParaRPr b="1" sz="4000"/>
          </a:p>
        </p:txBody>
      </p:sp>
      <p:sp>
        <p:nvSpPr>
          <p:cNvPr id="254" name="Google Shape;254;g30504478cd7_0_161"/>
          <p:cNvSpPr txBox="1"/>
          <p:nvPr/>
        </p:nvSpPr>
        <p:spPr>
          <a:xfrm>
            <a:off x="1027650" y="3884775"/>
            <a:ext cx="6920700" cy="1495800"/>
          </a:xfrm>
          <a:prstGeom prst="rect">
            <a:avLst/>
          </a:prstGeom>
          <a:noFill/>
          <a:ln>
            <a:noFill/>
          </a:ln>
        </p:spPr>
        <p:txBody>
          <a:bodyPr anchorCtr="0" anchor="t" bIns="0" lIns="0" spcFirstLastPara="1" rIns="0" wrap="square" tIns="0">
            <a:spAutoFit/>
          </a:bodyPr>
          <a:lstStyle/>
          <a:p>
            <a:pPr indent="0" lvl="0" marL="0" marR="0" rtl="0" algn="l">
              <a:lnSpc>
                <a:spcPct val="140045"/>
              </a:lnSpc>
              <a:spcBef>
                <a:spcPts val="0"/>
              </a:spcBef>
              <a:spcAft>
                <a:spcPts val="0"/>
              </a:spcAft>
              <a:buNone/>
            </a:pPr>
            <a:r>
              <a:rPr lang="en-US" sz="4048">
                <a:latin typeface="Poppins"/>
                <a:ea typeface="Poppins"/>
                <a:cs typeface="Poppins"/>
                <a:sym typeface="Poppins"/>
              </a:rPr>
              <a:t>Unified Training &amp; Evaluation</a:t>
            </a:r>
            <a:endParaRPr sz="3700"/>
          </a:p>
        </p:txBody>
      </p:sp>
      <p:sp>
        <p:nvSpPr>
          <p:cNvPr id="255" name="Google Shape;255;g30504478cd7_0_161"/>
          <p:cNvSpPr txBox="1"/>
          <p:nvPr/>
        </p:nvSpPr>
        <p:spPr>
          <a:xfrm>
            <a:off x="8881300" y="2252100"/>
            <a:ext cx="8928300" cy="4787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3200"/>
              </a:spcBef>
              <a:spcAft>
                <a:spcPts val="0"/>
              </a:spcAft>
              <a:buNone/>
            </a:pPr>
            <a:r>
              <a:rPr b="1" lang="en-US" sz="3200">
                <a:solidFill>
                  <a:schemeClr val="dk1"/>
                </a:solidFill>
                <a:latin typeface="Poppins"/>
                <a:ea typeface="Poppins"/>
                <a:cs typeface="Poppins"/>
                <a:sym typeface="Poppins"/>
              </a:rPr>
              <a:t>Evaluation</a:t>
            </a:r>
            <a:endParaRPr b="1" sz="3200">
              <a:solidFill>
                <a:schemeClr val="dk1"/>
              </a:solidFill>
              <a:latin typeface="Poppins"/>
              <a:ea typeface="Poppins"/>
              <a:cs typeface="Poppins"/>
              <a:sym typeface="Poppins"/>
            </a:endParaRPr>
          </a:p>
          <a:p>
            <a:pPr indent="-400050" lvl="0" marL="457200" rtl="0" algn="l">
              <a:lnSpc>
                <a:spcPct val="115000"/>
              </a:lnSpc>
              <a:spcBef>
                <a:spcPts val="3200"/>
              </a:spcBef>
              <a:spcAft>
                <a:spcPts val="0"/>
              </a:spcAft>
              <a:buClr>
                <a:schemeClr val="dk1"/>
              </a:buClr>
              <a:buSzPts val="2700"/>
              <a:buFont typeface="Poppins"/>
              <a:buChar char="●"/>
            </a:pPr>
            <a:r>
              <a:rPr lang="en-US" sz="2700">
                <a:solidFill>
                  <a:schemeClr val="dk1"/>
                </a:solidFill>
                <a:latin typeface="Poppins"/>
                <a:ea typeface="Poppins"/>
                <a:cs typeface="Poppins"/>
                <a:sym typeface="Poppins"/>
              </a:rPr>
              <a:t>Selected final class by highest probability across models</a:t>
            </a:r>
            <a:endParaRPr sz="2700">
              <a:solidFill>
                <a:schemeClr val="dk1"/>
              </a:solidFill>
              <a:latin typeface="Poppins"/>
              <a:ea typeface="Poppins"/>
              <a:cs typeface="Poppins"/>
              <a:sym typeface="Poppins"/>
            </a:endParaRPr>
          </a:p>
          <a:p>
            <a:pPr indent="-400050" lvl="0" marL="457200" rtl="0" algn="l">
              <a:lnSpc>
                <a:spcPct val="115000"/>
              </a:lnSpc>
              <a:spcBef>
                <a:spcPts val="3200"/>
              </a:spcBef>
              <a:spcAft>
                <a:spcPts val="0"/>
              </a:spcAft>
              <a:buClr>
                <a:schemeClr val="dk1"/>
              </a:buClr>
              <a:buSzPts val="2700"/>
              <a:buFont typeface="Poppins"/>
              <a:buChar char="●"/>
            </a:pPr>
            <a:r>
              <a:rPr lang="en-US" sz="2700">
                <a:solidFill>
                  <a:schemeClr val="dk1"/>
                </a:solidFill>
                <a:latin typeface="Poppins"/>
                <a:ea typeface="Poppins"/>
                <a:cs typeface="Poppins"/>
                <a:sym typeface="Poppins"/>
              </a:rPr>
              <a:t>Assessed with accuracy, F1 score, confusion matrices, ROC curves</a:t>
            </a:r>
            <a:endParaRPr sz="2700">
              <a:solidFill>
                <a:schemeClr val="dk1"/>
              </a:solidFill>
              <a:latin typeface="Poppins"/>
              <a:ea typeface="Poppins"/>
              <a:cs typeface="Poppins"/>
              <a:sym typeface="Poppins"/>
            </a:endParaRPr>
          </a:p>
          <a:p>
            <a:pPr indent="-400050" lvl="0" marL="457200" rtl="0" algn="l">
              <a:lnSpc>
                <a:spcPct val="115000"/>
              </a:lnSpc>
              <a:spcBef>
                <a:spcPts val="3200"/>
              </a:spcBef>
              <a:spcAft>
                <a:spcPts val="0"/>
              </a:spcAft>
              <a:buClr>
                <a:schemeClr val="dk1"/>
              </a:buClr>
              <a:buSzPts val="2700"/>
              <a:buFont typeface="Poppins"/>
              <a:buChar char="●"/>
            </a:pPr>
            <a:r>
              <a:rPr lang="en-US" sz="2700">
                <a:solidFill>
                  <a:schemeClr val="dk1"/>
                </a:solidFill>
                <a:latin typeface="Poppins"/>
                <a:ea typeface="Poppins"/>
                <a:cs typeface="Poppins"/>
                <a:sym typeface="Poppins"/>
              </a:rPr>
              <a:t>Visualized feature importances per class for interpretability</a:t>
            </a:r>
            <a:endParaRPr sz="2700">
              <a:solidFill>
                <a:schemeClr val="dk1"/>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g30504478cd7_0_17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0309" r="-20309" t="0"/>
            </a:stretch>
          </a:blipFill>
          <a:ln>
            <a:noFill/>
          </a:ln>
        </p:spPr>
      </p:sp>
      <p:sp>
        <p:nvSpPr>
          <p:cNvPr id="261" name="Google Shape;261;g30504478cd7_0_173"/>
          <p:cNvSpPr txBox="1"/>
          <p:nvPr/>
        </p:nvSpPr>
        <p:spPr>
          <a:xfrm>
            <a:off x="4186518" y="1699575"/>
            <a:ext cx="7957800" cy="72300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lang="en-US" sz="4698">
                <a:solidFill>
                  <a:srgbClr val="593C8F"/>
                </a:solidFill>
                <a:latin typeface="League Spartan"/>
                <a:ea typeface="League Spartan"/>
                <a:cs typeface="League Spartan"/>
                <a:sym typeface="League Spartan"/>
              </a:rPr>
              <a:t>Results - Performance Metrics</a:t>
            </a:r>
            <a:endParaRPr sz="1800"/>
          </a:p>
        </p:txBody>
      </p:sp>
      <p:cxnSp>
        <p:nvCxnSpPr>
          <p:cNvPr id="262" name="Google Shape;262;g30504478cd7_0_173"/>
          <p:cNvCxnSpPr/>
          <p:nvPr/>
        </p:nvCxnSpPr>
        <p:spPr>
          <a:xfrm>
            <a:off x="4187609" y="2542074"/>
            <a:ext cx="2618700" cy="0"/>
          </a:xfrm>
          <a:prstGeom prst="straightConnector1">
            <a:avLst/>
          </a:prstGeom>
          <a:noFill/>
          <a:ln cap="flat" cmpd="sng" w="38100">
            <a:solidFill>
              <a:srgbClr val="000000"/>
            </a:solidFill>
            <a:prstDash val="solid"/>
            <a:round/>
            <a:headEnd len="sm" w="sm" type="none"/>
            <a:tailEnd len="sm" w="sm" type="none"/>
          </a:ln>
        </p:spPr>
      </p:cxnSp>
      <p:grpSp>
        <p:nvGrpSpPr>
          <p:cNvPr id="263" name="Google Shape;263;g30504478cd7_0_173"/>
          <p:cNvGrpSpPr/>
          <p:nvPr/>
        </p:nvGrpSpPr>
        <p:grpSpPr>
          <a:xfrm>
            <a:off x="0" y="-180827"/>
            <a:ext cx="3086120" cy="10468053"/>
            <a:chOff x="0" y="-47625"/>
            <a:chExt cx="812800" cy="2757000"/>
          </a:xfrm>
        </p:grpSpPr>
        <p:sp>
          <p:nvSpPr>
            <p:cNvPr id="264" name="Google Shape;264;g30504478cd7_0_173"/>
            <p:cNvSpPr/>
            <p:nvPr/>
          </p:nvSpPr>
          <p:spPr>
            <a:xfrm>
              <a:off x="0" y="0"/>
              <a:ext cx="812800" cy="2709333"/>
            </a:xfrm>
            <a:custGeom>
              <a:rect b="b" l="l" r="r" t="t"/>
              <a:pathLst>
                <a:path extrusionOk="0" h="2709333" w="812800">
                  <a:moveTo>
                    <a:pt x="0" y="0"/>
                  </a:moveTo>
                  <a:lnTo>
                    <a:pt x="812800" y="0"/>
                  </a:lnTo>
                  <a:lnTo>
                    <a:pt x="812800" y="2709333"/>
                  </a:lnTo>
                  <a:lnTo>
                    <a:pt x="0" y="2709333"/>
                  </a:lnTo>
                  <a:close/>
                </a:path>
              </a:pathLst>
            </a:custGeom>
            <a:solidFill>
              <a:srgbClr val="593C8F"/>
            </a:solidFill>
            <a:ln>
              <a:noFill/>
            </a:ln>
          </p:spPr>
        </p:sp>
        <p:sp>
          <p:nvSpPr>
            <p:cNvPr id="265" name="Google Shape;265;g30504478cd7_0_173"/>
            <p:cNvSpPr txBox="1"/>
            <p:nvPr/>
          </p:nvSpPr>
          <p:spPr>
            <a:xfrm>
              <a:off x="0" y="-47625"/>
              <a:ext cx="812700" cy="2757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6" name="Google Shape;266;g30504478cd7_0_173"/>
          <p:cNvSpPr txBox="1"/>
          <p:nvPr/>
        </p:nvSpPr>
        <p:spPr>
          <a:xfrm>
            <a:off x="4151895" y="2973500"/>
            <a:ext cx="7033800" cy="623100"/>
          </a:xfrm>
          <a:prstGeom prst="rect">
            <a:avLst/>
          </a:prstGeom>
          <a:noFill/>
          <a:ln>
            <a:noFill/>
          </a:ln>
        </p:spPr>
        <p:txBody>
          <a:bodyPr anchorCtr="0" anchor="t" bIns="0" lIns="0" spcFirstLastPara="1" rIns="0" wrap="square" tIns="0">
            <a:spAutoFit/>
          </a:bodyPr>
          <a:lstStyle/>
          <a:p>
            <a:pPr indent="0" lvl="0" marL="0" marR="0" rtl="0" algn="l">
              <a:lnSpc>
                <a:spcPct val="140045"/>
              </a:lnSpc>
              <a:spcBef>
                <a:spcPts val="0"/>
              </a:spcBef>
              <a:spcAft>
                <a:spcPts val="0"/>
              </a:spcAft>
              <a:buNone/>
            </a:pPr>
            <a:r>
              <a:rPr b="1" lang="en-US" sz="4000">
                <a:latin typeface="Poppins"/>
                <a:ea typeface="Poppins"/>
                <a:cs typeface="Poppins"/>
                <a:sym typeface="Poppins"/>
              </a:rPr>
              <a:t>Step 2: </a:t>
            </a:r>
            <a:r>
              <a:rPr lang="en-US" sz="4048">
                <a:solidFill>
                  <a:schemeClr val="dk1"/>
                </a:solidFill>
                <a:latin typeface="Poppins"/>
                <a:ea typeface="Poppins"/>
                <a:cs typeface="Poppins"/>
                <a:sym typeface="Poppins"/>
              </a:rPr>
              <a:t>Training on TCGA</a:t>
            </a:r>
            <a:endParaRPr b="1" sz="4000"/>
          </a:p>
        </p:txBody>
      </p:sp>
      <p:graphicFrame>
        <p:nvGraphicFramePr>
          <p:cNvPr id="267" name="Google Shape;267;g30504478cd7_0_173"/>
          <p:cNvGraphicFramePr/>
          <p:nvPr/>
        </p:nvGraphicFramePr>
        <p:xfrm>
          <a:off x="9360925" y="4280925"/>
          <a:ext cx="3000000" cy="3000000"/>
        </p:xfrm>
        <a:graphic>
          <a:graphicData uri="http://schemas.openxmlformats.org/drawingml/2006/table">
            <a:tbl>
              <a:tblPr>
                <a:noFill/>
                <a:tableStyleId>{DE100FA3-2363-4569-B0D9-8915101A3F80}</a:tableStyleId>
              </a:tblPr>
              <a:tblGrid>
                <a:gridCol w="2045875"/>
                <a:gridCol w="1398500"/>
                <a:gridCol w="1341600"/>
                <a:gridCol w="1444825"/>
                <a:gridCol w="2025350"/>
              </a:tblGrid>
              <a:tr h="1456475">
                <a:tc>
                  <a:txBody>
                    <a:bodyPr/>
                    <a:lstStyle/>
                    <a:p>
                      <a:pPr indent="0" lvl="0" marL="0" rtl="0" algn="ctr">
                        <a:lnSpc>
                          <a:spcPct val="115000"/>
                        </a:lnSpc>
                        <a:spcBef>
                          <a:spcPts val="1200"/>
                        </a:spcBef>
                        <a:spcAft>
                          <a:spcPts val="1200"/>
                        </a:spcAft>
                        <a:buNone/>
                      </a:pPr>
                      <a:r>
                        <a:rPr b="1" lang="en-US" sz="1600">
                          <a:latin typeface="Poppins"/>
                          <a:ea typeface="Poppins"/>
                          <a:cs typeface="Poppins"/>
                          <a:sym typeface="Poppins"/>
                        </a:rPr>
                        <a:t>Classifier</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US" sz="1600">
                          <a:latin typeface="Poppins"/>
                          <a:ea typeface="Poppins"/>
                          <a:cs typeface="Poppins"/>
                          <a:sym typeface="Poppins"/>
                        </a:rPr>
                        <a:t>Accuracy (mean ± std)</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US" sz="1600">
                          <a:latin typeface="Poppins"/>
                          <a:ea typeface="Poppins"/>
                          <a:cs typeface="Poppins"/>
                          <a:sym typeface="Poppins"/>
                        </a:rPr>
                        <a:t>Precision (mean ± std)</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US" sz="1600">
                          <a:latin typeface="Poppins"/>
                          <a:ea typeface="Poppins"/>
                          <a:cs typeface="Poppins"/>
                          <a:sym typeface="Poppins"/>
                        </a:rPr>
                        <a:t>Recall (mean ± std)</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US" sz="1600">
                          <a:latin typeface="Poppins"/>
                          <a:ea typeface="Poppins"/>
                          <a:cs typeface="Poppins"/>
                          <a:sym typeface="Poppins"/>
                        </a:rPr>
                        <a:t>F1 Score (mean ± std)</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833400">
                <a:tc>
                  <a:txBody>
                    <a:bodyPr/>
                    <a:lstStyle/>
                    <a:p>
                      <a:pPr indent="0" lvl="0" marL="0" rtl="0" algn="l">
                        <a:lnSpc>
                          <a:spcPct val="115000"/>
                        </a:lnSpc>
                        <a:spcBef>
                          <a:spcPts val="0"/>
                        </a:spcBef>
                        <a:spcAft>
                          <a:spcPts val="0"/>
                        </a:spcAft>
                        <a:buNone/>
                      </a:pPr>
                      <a:r>
                        <a:rPr b="1" lang="en-US" sz="1600">
                          <a:latin typeface="Poppins"/>
                          <a:ea typeface="Poppins"/>
                          <a:cs typeface="Poppins"/>
                          <a:sym typeface="Poppins"/>
                        </a:rPr>
                        <a:t>GBM (XGBoost)</a:t>
                      </a:r>
                      <a:endParaRPr b="1"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600">
                          <a:latin typeface="Poppins"/>
                          <a:ea typeface="Poppins"/>
                          <a:cs typeface="Poppins"/>
                          <a:sym typeface="Poppins"/>
                        </a:rPr>
                        <a:t>0.812 ± 0.036</a:t>
                      </a:r>
                      <a:endParaRPr b="1"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600">
                          <a:latin typeface="Poppins"/>
                          <a:ea typeface="Poppins"/>
                          <a:cs typeface="Poppins"/>
                          <a:sym typeface="Poppins"/>
                        </a:rPr>
                        <a:t>0.833 ± 0.040</a:t>
                      </a:r>
                      <a:endParaRPr b="1"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600">
                          <a:latin typeface="Poppins"/>
                          <a:ea typeface="Poppins"/>
                          <a:cs typeface="Poppins"/>
                          <a:sym typeface="Poppins"/>
                        </a:rPr>
                        <a:t>0.911 ± 0.059</a:t>
                      </a:r>
                      <a:endParaRPr b="1"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600">
                          <a:latin typeface="Poppins"/>
                          <a:ea typeface="Poppins"/>
                          <a:cs typeface="Poppins"/>
                          <a:sym typeface="Poppins"/>
                        </a:rPr>
                        <a:t>0.868 ± 0.028</a:t>
                      </a:r>
                      <a:endParaRPr b="1"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833400">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Oligodendroglioma (SVM)</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0.791 ± 0.072</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0.472 ± 0.088</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0.587 ± 0.232</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0.489 ± 0.067</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149700">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Astrocytoma (Gradient Boosting)</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0.866 ± 0.048</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0.519 ± 0.326</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0.370 ± 0.218</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0.414 ± 0.234</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268" name="Google Shape;268;g30504478cd7_0_173"/>
          <p:cNvSpPr txBox="1"/>
          <p:nvPr/>
        </p:nvSpPr>
        <p:spPr>
          <a:xfrm>
            <a:off x="4151900" y="4028025"/>
            <a:ext cx="4755000" cy="417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br>
              <a:rPr lang="en-US" sz="2100">
                <a:solidFill>
                  <a:schemeClr val="dk1"/>
                </a:solidFill>
                <a:latin typeface="Poppins"/>
                <a:ea typeface="Poppins"/>
                <a:cs typeface="Poppins"/>
                <a:sym typeface="Poppins"/>
              </a:rPr>
            </a:br>
            <a:endParaRPr sz="2100">
              <a:solidFill>
                <a:schemeClr val="dk1"/>
              </a:solidFill>
              <a:latin typeface="Poppins"/>
              <a:ea typeface="Poppins"/>
              <a:cs typeface="Poppins"/>
              <a:sym typeface="Poppins"/>
            </a:endParaRPr>
          </a:p>
          <a:p>
            <a:pPr indent="0" lvl="0" marL="0" rtl="0" algn="l">
              <a:spcBef>
                <a:spcPts val="0"/>
              </a:spcBef>
              <a:spcAft>
                <a:spcPts val="0"/>
              </a:spcAft>
              <a:buNone/>
            </a:pPr>
            <a:r>
              <a:rPr b="1" lang="en-US" sz="2100">
                <a:solidFill>
                  <a:schemeClr val="dk1"/>
                </a:solidFill>
                <a:latin typeface="Poppins"/>
                <a:ea typeface="Poppins"/>
                <a:cs typeface="Poppins"/>
                <a:sym typeface="Poppins"/>
              </a:rPr>
              <a:t>Best Performance</a:t>
            </a:r>
            <a:r>
              <a:rPr lang="en-US" sz="2100">
                <a:solidFill>
                  <a:schemeClr val="dk1"/>
                </a:solidFill>
                <a:latin typeface="Poppins"/>
                <a:ea typeface="Poppins"/>
                <a:cs typeface="Poppins"/>
                <a:sym typeface="Poppins"/>
              </a:rPr>
              <a:t>:</a:t>
            </a:r>
            <a:endParaRPr sz="2100">
              <a:solidFill>
                <a:schemeClr val="dk1"/>
              </a:solidFill>
              <a:latin typeface="Poppins"/>
              <a:ea typeface="Poppins"/>
              <a:cs typeface="Poppins"/>
              <a:sym typeface="Poppins"/>
            </a:endParaRPr>
          </a:p>
          <a:p>
            <a:pPr indent="-361950" lvl="0" marL="457200" rtl="0" algn="l">
              <a:lnSpc>
                <a:spcPct val="115000"/>
              </a:lnSpc>
              <a:spcBef>
                <a:spcPts val="2000"/>
              </a:spcBef>
              <a:spcAft>
                <a:spcPts val="0"/>
              </a:spcAft>
              <a:buClr>
                <a:schemeClr val="dk1"/>
              </a:buClr>
              <a:buSzPts val="2100"/>
              <a:buChar char="●"/>
            </a:pPr>
            <a:r>
              <a:rPr b="1" lang="en-US" sz="2100">
                <a:solidFill>
                  <a:schemeClr val="dk1"/>
                </a:solidFill>
                <a:latin typeface="Poppins"/>
                <a:ea typeface="Poppins"/>
                <a:cs typeface="Poppins"/>
                <a:sym typeface="Poppins"/>
              </a:rPr>
              <a:t>GBM</a:t>
            </a:r>
            <a:r>
              <a:rPr lang="en-US" sz="2100">
                <a:solidFill>
                  <a:schemeClr val="dk1"/>
                </a:solidFill>
                <a:latin typeface="Poppins"/>
                <a:ea typeface="Poppins"/>
                <a:cs typeface="Poppins"/>
                <a:sym typeface="Poppins"/>
              </a:rPr>
              <a:t> → F1 Score: </a:t>
            </a:r>
            <a:r>
              <a:rPr b="1" lang="en-US" sz="2100">
                <a:solidFill>
                  <a:schemeClr val="dk1"/>
                </a:solidFill>
                <a:latin typeface="Poppins"/>
                <a:ea typeface="Poppins"/>
                <a:cs typeface="Poppins"/>
                <a:sym typeface="Poppins"/>
              </a:rPr>
              <a:t>0.74</a:t>
            </a:r>
            <a:r>
              <a:rPr lang="en-US" sz="2100">
                <a:solidFill>
                  <a:schemeClr val="dk1"/>
                </a:solidFill>
                <a:latin typeface="Poppins"/>
                <a:ea typeface="Poppins"/>
                <a:cs typeface="Poppins"/>
                <a:sym typeface="Poppins"/>
              </a:rPr>
              <a:t>, Recall: </a:t>
            </a:r>
            <a:r>
              <a:rPr b="1" lang="en-US" sz="2100">
                <a:solidFill>
                  <a:schemeClr val="dk1"/>
                </a:solidFill>
                <a:latin typeface="Poppins"/>
                <a:ea typeface="Poppins"/>
                <a:cs typeface="Poppins"/>
                <a:sym typeface="Poppins"/>
              </a:rPr>
              <a:t>0.83</a:t>
            </a:r>
            <a:r>
              <a:rPr lang="en-US" sz="2100">
                <a:solidFill>
                  <a:schemeClr val="dk1"/>
                </a:solidFill>
                <a:latin typeface="Poppins"/>
                <a:ea typeface="Poppins"/>
                <a:cs typeface="Poppins"/>
                <a:sym typeface="Poppins"/>
              </a:rPr>
              <a:t>, AUC: </a:t>
            </a:r>
            <a:r>
              <a:rPr b="1" lang="en-US" sz="2100">
                <a:solidFill>
                  <a:schemeClr val="dk1"/>
                </a:solidFill>
                <a:latin typeface="Poppins"/>
                <a:ea typeface="Poppins"/>
                <a:cs typeface="Poppins"/>
                <a:sym typeface="Poppins"/>
              </a:rPr>
              <a:t>0.82</a:t>
            </a:r>
            <a:endParaRPr b="1" sz="2100">
              <a:solidFill>
                <a:schemeClr val="dk1"/>
              </a:solidFill>
              <a:latin typeface="Poppins"/>
              <a:ea typeface="Poppins"/>
              <a:cs typeface="Poppins"/>
              <a:sym typeface="Poppins"/>
            </a:endParaRPr>
          </a:p>
          <a:p>
            <a:pPr indent="0" lvl="0" marL="0" rtl="0" algn="l">
              <a:lnSpc>
                <a:spcPct val="115000"/>
              </a:lnSpc>
              <a:spcBef>
                <a:spcPts val="2000"/>
              </a:spcBef>
              <a:spcAft>
                <a:spcPts val="0"/>
              </a:spcAft>
              <a:buNone/>
            </a:pPr>
            <a:r>
              <a:rPr b="1" lang="en-US" sz="2100">
                <a:solidFill>
                  <a:schemeClr val="dk1"/>
                </a:solidFill>
                <a:latin typeface="Poppins"/>
                <a:ea typeface="Poppins"/>
                <a:cs typeface="Poppins"/>
                <a:sym typeface="Poppins"/>
              </a:rPr>
              <a:t>Astrocytoma</a:t>
            </a:r>
            <a:r>
              <a:rPr lang="en-US" sz="2100">
                <a:solidFill>
                  <a:schemeClr val="dk1"/>
                </a:solidFill>
                <a:latin typeface="Poppins"/>
                <a:ea typeface="Poppins"/>
                <a:cs typeface="Poppins"/>
                <a:sym typeface="Poppins"/>
              </a:rPr>
              <a:t> → Moderate performance</a:t>
            </a:r>
            <a:br>
              <a:rPr lang="en-US" sz="2100">
                <a:solidFill>
                  <a:schemeClr val="dk1"/>
                </a:solidFill>
                <a:latin typeface="Poppins"/>
                <a:ea typeface="Poppins"/>
                <a:cs typeface="Poppins"/>
                <a:sym typeface="Poppins"/>
              </a:rPr>
            </a:br>
            <a:endParaRPr sz="2100">
              <a:solidFill>
                <a:schemeClr val="dk1"/>
              </a:solidFill>
              <a:latin typeface="Poppins"/>
              <a:ea typeface="Poppins"/>
              <a:cs typeface="Poppins"/>
              <a:sym typeface="Poppins"/>
            </a:endParaRPr>
          </a:p>
          <a:p>
            <a:pPr indent="0" lvl="0" marL="0" rtl="0" algn="l">
              <a:spcBef>
                <a:spcPts val="0"/>
              </a:spcBef>
              <a:spcAft>
                <a:spcPts val="0"/>
              </a:spcAft>
              <a:buNone/>
            </a:pPr>
            <a:r>
              <a:rPr b="1" lang="en-US" sz="2100">
                <a:solidFill>
                  <a:schemeClr val="dk1"/>
                </a:solidFill>
                <a:latin typeface="Poppins"/>
                <a:ea typeface="Poppins"/>
                <a:cs typeface="Poppins"/>
                <a:sym typeface="Poppins"/>
              </a:rPr>
              <a:t>Oligodendroglioma</a:t>
            </a:r>
            <a:r>
              <a:rPr lang="en-US" sz="2100">
                <a:solidFill>
                  <a:schemeClr val="dk1"/>
                </a:solidFill>
                <a:latin typeface="Poppins"/>
                <a:ea typeface="Poppins"/>
                <a:cs typeface="Poppins"/>
                <a:sym typeface="Poppins"/>
              </a:rPr>
              <a:t> → </a:t>
            </a:r>
            <a:r>
              <a:rPr b="1" lang="en-US" sz="2100">
                <a:solidFill>
                  <a:srgbClr val="FF0000"/>
                </a:solidFill>
                <a:latin typeface="Poppins"/>
                <a:ea typeface="Poppins"/>
                <a:cs typeface="Poppins"/>
                <a:sym typeface="Poppins"/>
              </a:rPr>
              <a:t>Weakest performance </a:t>
            </a:r>
            <a:endParaRPr b="1" sz="2100">
              <a:solidFill>
                <a:srgbClr val="FF0000"/>
              </a:solidFill>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30504478cd7_0_19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0309" r="-20309" t="0"/>
            </a:stretch>
          </a:blipFill>
          <a:ln>
            <a:noFill/>
          </a:ln>
        </p:spPr>
      </p:sp>
      <p:cxnSp>
        <p:nvCxnSpPr>
          <p:cNvPr id="274" name="Google Shape;274;g30504478cd7_0_193"/>
          <p:cNvCxnSpPr/>
          <p:nvPr/>
        </p:nvCxnSpPr>
        <p:spPr>
          <a:xfrm>
            <a:off x="4187609" y="2542074"/>
            <a:ext cx="2618700" cy="0"/>
          </a:xfrm>
          <a:prstGeom prst="straightConnector1">
            <a:avLst/>
          </a:prstGeom>
          <a:noFill/>
          <a:ln cap="flat" cmpd="sng" w="38100">
            <a:solidFill>
              <a:srgbClr val="000000"/>
            </a:solidFill>
            <a:prstDash val="solid"/>
            <a:round/>
            <a:headEnd len="sm" w="sm" type="none"/>
            <a:tailEnd len="sm" w="sm" type="none"/>
          </a:ln>
        </p:spPr>
      </p:cxnSp>
      <p:grpSp>
        <p:nvGrpSpPr>
          <p:cNvPr id="275" name="Google Shape;275;g30504478cd7_0_193"/>
          <p:cNvGrpSpPr/>
          <p:nvPr/>
        </p:nvGrpSpPr>
        <p:grpSpPr>
          <a:xfrm>
            <a:off x="0" y="-180827"/>
            <a:ext cx="3086120" cy="10468053"/>
            <a:chOff x="0" y="-47625"/>
            <a:chExt cx="812800" cy="2757000"/>
          </a:xfrm>
        </p:grpSpPr>
        <p:sp>
          <p:nvSpPr>
            <p:cNvPr id="276" name="Google Shape;276;g30504478cd7_0_193"/>
            <p:cNvSpPr/>
            <p:nvPr/>
          </p:nvSpPr>
          <p:spPr>
            <a:xfrm>
              <a:off x="0" y="0"/>
              <a:ext cx="812800" cy="2709333"/>
            </a:xfrm>
            <a:custGeom>
              <a:rect b="b" l="l" r="r" t="t"/>
              <a:pathLst>
                <a:path extrusionOk="0" h="2709333" w="812800">
                  <a:moveTo>
                    <a:pt x="0" y="0"/>
                  </a:moveTo>
                  <a:lnTo>
                    <a:pt x="812800" y="0"/>
                  </a:lnTo>
                  <a:lnTo>
                    <a:pt x="812800" y="2709333"/>
                  </a:lnTo>
                  <a:lnTo>
                    <a:pt x="0" y="2709333"/>
                  </a:lnTo>
                  <a:close/>
                </a:path>
              </a:pathLst>
            </a:custGeom>
            <a:solidFill>
              <a:srgbClr val="593C8F"/>
            </a:solidFill>
            <a:ln>
              <a:noFill/>
            </a:ln>
          </p:spPr>
        </p:sp>
        <p:sp>
          <p:nvSpPr>
            <p:cNvPr id="277" name="Google Shape;277;g30504478cd7_0_193"/>
            <p:cNvSpPr txBox="1"/>
            <p:nvPr/>
          </p:nvSpPr>
          <p:spPr>
            <a:xfrm>
              <a:off x="0" y="-47625"/>
              <a:ext cx="812700" cy="2757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8" name="Google Shape;278;g30504478cd7_0_193"/>
          <p:cNvSpPr txBox="1"/>
          <p:nvPr/>
        </p:nvSpPr>
        <p:spPr>
          <a:xfrm>
            <a:off x="4151902" y="2973500"/>
            <a:ext cx="10029900" cy="623100"/>
          </a:xfrm>
          <a:prstGeom prst="rect">
            <a:avLst/>
          </a:prstGeom>
          <a:noFill/>
          <a:ln>
            <a:noFill/>
          </a:ln>
        </p:spPr>
        <p:txBody>
          <a:bodyPr anchorCtr="0" anchor="t" bIns="0" lIns="0" spcFirstLastPara="1" rIns="0" wrap="square" tIns="0">
            <a:spAutoFit/>
          </a:bodyPr>
          <a:lstStyle/>
          <a:p>
            <a:pPr indent="0" lvl="0" marL="0" marR="0" rtl="0" algn="l">
              <a:lnSpc>
                <a:spcPct val="140045"/>
              </a:lnSpc>
              <a:spcBef>
                <a:spcPts val="0"/>
              </a:spcBef>
              <a:spcAft>
                <a:spcPts val="0"/>
              </a:spcAft>
              <a:buNone/>
            </a:pPr>
            <a:r>
              <a:rPr b="1" lang="en-US" sz="4000">
                <a:latin typeface="Poppins"/>
                <a:ea typeface="Poppins"/>
                <a:cs typeface="Poppins"/>
                <a:sym typeface="Poppins"/>
              </a:rPr>
              <a:t>Step 4: </a:t>
            </a:r>
            <a:r>
              <a:rPr lang="en-US" sz="4048">
                <a:solidFill>
                  <a:schemeClr val="dk1"/>
                </a:solidFill>
                <a:latin typeface="Poppins"/>
                <a:ea typeface="Poppins"/>
                <a:cs typeface="Poppins"/>
                <a:sym typeface="Poppins"/>
              </a:rPr>
              <a:t>REMBRANDT Test </a:t>
            </a:r>
            <a:endParaRPr b="1" sz="4000"/>
          </a:p>
        </p:txBody>
      </p:sp>
      <p:sp>
        <p:nvSpPr>
          <p:cNvPr id="279" name="Google Shape;279;g30504478cd7_0_193"/>
          <p:cNvSpPr txBox="1"/>
          <p:nvPr/>
        </p:nvSpPr>
        <p:spPr>
          <a:xfrm>
            <a:off x="4151900" y="3876250"/>
            <a:ext cx="5308800" cy="588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US" sz="2100">
                <a:solidFill>
                  <a:schemeClr val="dk1"/>
                </a:solidFill>
                <a:latin typeface="Poppins"/>
                <a:ea typeface="Poppins"/>
                <a:cs typeface="Poppins"/>
                <a:sym typeface="Poppins"/>
              </a:rPr>
              <a:t>Overall Accuracy</a:t>
            </a:r>
            <a:r>
              <a:rPr lang="en-US" sz="2100">
                <a:solidFill>
                  <a:schemeClr val="dk1"/>
                </a:solidFill>
                <a:latin typeface="Poppins"/>
                <a:ea typeface="Poppins"/>
                <a:cs typeface="Poppins"/>
                <a:sym typeface="Poppins"/>
              </a:rPr>
              <a:t>: 43%</a:t>
            </a:r>
            <a:br>
              <a:rPr lang="en-US" sz="2100">
                <a:solidFill>
                  <a:schemeClr val="dk1"/>
                </a:solidFill>
                <a:latin typeface="Poppins"/>
                <a:ea typeface="Poppins"/>
                <a:cs typeface="Poppins"/>
                <a:sym typeface="Poppins"/>
              </a:rPr>
            </a:br>
            <a:endParaRPr sz="21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b="1" lang="en-US" sz="2100">
                <a:solidFill>
                  <a:schemeClr val="dk1"/>
                </a:solidFill>
                <a:latin typeface="Poppins"/>
                <a:ea typeface="Poppins"/>
                <a:cs typeface="Poppins"/>
                <a:sym typeface="Poppins"/>
              </a:rPr>
              <a:t>Astrocytoma → </a:t>
            </a:r>
            <a:r>
              <a:rPr b="1" lang="en-US" sz="2100">
                <a:solidFill>
                  <a:schemeClr val="accent3"/>
                </a:solidFill>
                <a:latin typeface="Poppins"/>
                <a:ea typeface="Poppins"/>
                <a:cs typeface="Poppins"/>
                <a:sym typeface="Poppins"/>
              </a:rPr>
              <a:t>Best Performance</a:t>
            </a:r>
            <a:r>
              <a:rPr b="1" lang="en-US" sz="2100">
                <a:solidFill>
                  <a:schemeClr val="accent3"/>
                </a:solidFill>
                <a:latin typeface="Poppins"/>
                <a:ea typeface="Poppins"/>
                <a:cs typeface="Poppins"/>
                <a:sym typeface="Poppins"/>
              </a:rPr>
              <a:t> </a:t>
            </a:r>
            <a:endParaRPr b="1" sz="2100">
              <a:solidFill>
                <a:schemeClr val="accent3"/>
              </a:solidFill>
              <a:latin typeface="Poppins"/>
              <a:ea typeface="Poppins"/>
              <a:cs typeface="Poppins"/>
              <a:sym typeface="Poppins"/>
            </a:endParaRPr>
          </a:p>
          <a:p>
            <a:pPr indent="-361950" lvl="0" marL="457200" rtl="0" algn="l">
              <a:lnSpc>
                <a:spcPct val="100000"/>
              </a:lnSpc>
              <a:spcBef>
                <a:spcPts val="0"/>
              </a:spcBef>
              <a:spcAft>
                <a:spcPts val="0"/>
              </a:spcAft>
              <a:buClr>
                <a:schemeClr val="dk1"/>
              </a:buClr>
              <a:buSzPts val="2100"/>
              <a:buChar char="●"/>
            </a:pPr>
            <a:r>
              <a:rPr lang="en-US" sz="2100">
                <a:solidFill>
                  <a:schemeClr val="dk1"/>
                </a:solidFill>
                <a:latin typeface="Poppins"/>
                <a:ea typeface="Poppins"/>
                <a:cs typeface="Poppins"/>
                <a:sym typeface="Poppins"/>
              </a:rPr>
              <a:t>F1 Score: </a:t>
            </a:r>
            <a:r>
              <a:rPr b="1" lang="en-US" sz="2100">
                <a:solidFill>
                  <a:schemeClr val="dk1"/>
                </a:solidFill>
                <a:latin typeface="Poppins"/>
                <a:ea typeface="Poppins"/>
                <a:cs typeface="Poppins"/>
                <a:sym typeface="Poppins"/>
              </a:rPr>
              <a:t>0.54</a:t>
            </a:r>
            <a:r>
              <a:rPr lang="en-US" sz="2100">
                <a:solidFill>
                  <a:schemeClr val="dk1"/>
                </a:solidFill>
                <a:latin typeface="Poppins"/>
                <a:ea typeface="Poppins"/>
                <a:cs typeface="Poppins"/>
                <a:sym typeface="Poppins"/>
              </a:rPr>
              <a:t> (highest)</a:t>
            </a:r>
            <a:endParaRPr sz="2100">
              <a:solidFill>
                <a:schemeClr val="dk1"/>
              </a:solidFill>
              <a:latin typeface="Poppins"/>
              <a:ea typeface="Poppins"/>
              <a:cs typeface="Poppins"/>
              <a:sym typeface="Poppins"/>
            </a:endParaRPr>
          </a:p>
          <a:p>
            <a:pPr indent="-361950" lvl="0" marL="457200" rtl="0" algn="l">
              <a:lnSpc>
                <a:spcPct val="100000"/>
              </a:lnSpc>
              <a:spcBef>
                <a:spcPts val="0"/>
              </a:spcBef>
              <a:spcAft>
                <a:spcPts val="0"/>
              </a:spcAft>
              <a:buClr>
                <a:schemeClr val="dk1"/>
              </a:buClr>
              <a:buSzPts val="2100"/>
              <a:buChar char="●"/>
            </a:pPr>
            <a:r>
              <a:rPr lang="en-US" sz="2100">
                <a:solidFill>
                  <a:schemeClr val="dk1"/>
                </a:solidFill>
                <a:latin typeface="Poppins"/>
                <a:ea typeface="Poppins"/>
                <a:cs typeface="Poppins"/>
                <a:sym typeface="Poppins"/>
              </a:rPr>
              <a:t>AUC: </a:t>
            </a:r>
            <a:r>
              <a:rPr b="1" lang="en-US" sz="2100">
                <a:solidFill>
                  <a:schemeClr val="dk1"/>
                </a:solidFill>
                <a:latin typeface="Poppins"/>
                <a:ea typeface="Poppins"/>
                <a:cs typeface="Poppins"/>
                <a:sym typeface="Poppins"/>
              </a:rPr>
              <a:t>0.50</a:t>
            </a:r>
            <a:endParaRPr b="1" sz="2100">
              <a:solidFill>
                <a:schemeClr val="dk1"/>
              </a:solidFill>
              <a:latin typeface="Poppins"/>
              <a:ea typeface="Poppins"/>
              <a:cs typeface="Poppins"/>
              <a:sym typeface="Poppins"/>
            </a:endParaRPr>
          </a:p>
          <a:p>
            <a:pPr indent="0" lvl="0" marL="457200" rtl="0" algn="l">
              <a:lnSpc>
                <a:spcPct val="100000"/>
              </a:lnSpc>
              <a:spcBef>
                <a:spcPts val="0"/>
              </a:spcBef>
              <a:spcAft>
                <a:spcPts val="0"/>
              </a:spcAft>
              <a:buNone/>
            </a:pPr>
            <a:r>
              <a:t/>
            </a:r>
            <a:endParaRPr b="1" sz="21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b="1" lang="en-US" sz="2100">
                <a:solidFill>
                  <a:schemeClr val="dk1"/>
                </a:solidFill>
                <a:latin typeface="Poppins"/>
                <a:ea typeface="Poppins"/>
                <a:cs typeface="Poppins"/>
                <a:sym typeface="Poppins"/>
              </a:rPr>
              <a:t>GBM: </a:t>
            </a:r>
            <a:r>
              <a:rPr lang="en-US" sz="2100">
                <a:solidFill>
                  <a:schemeClr val="dk1"/>
                </a:solidFill>
                <a:latin typeface="Poppins"/>
                <a:ea typeface="Poppins"/>
                <a:cs typeface="Poppins"/>
                <a:sym typeface="Poppins"/>
              </a:rPr>
              <a:t>Moderate Performance</a:t>
            </a:r>
            <a:endParaRPr sz="2100">
              <a:solidFill>
                <a:schemeClr val="dk1"/>
              </a:solidFill>
              <a:latin typeface="Poppins"/>
              <a:ea typeface="Poppins"/>
              <a:cs typeface="Poppins"/>
              <a:sym typeface="Poppins"/>
            </a:endParaRPr>
          </a:p>
          <a:p>
            <a:pPr indent="-361950" lvl="0" marL="457200" rtl="0" algn="l">
              <a:lnSpc>
                <a:spcPct val="115000"/>
              </a:lnSpc>
              <a:spcBef>
                <a:spcPts val="1200"/>
              </a:spcBef>
              <a:spcAft>
                <a:spcPts val="0"/>
              </a:spcAft>
              <a:buClr>
                <a:schemeClr val="dk1"/>
              </a:buClr>
              <a:buSzPts val="2100"/>
              <a:buChar char="●"/>
            </a:pPr>
            <a:r>
              <a:rPr lang="en-US" sz="2100">
                <a:solidFill>
                  <a:schemeClr val="dk1"/>
                </a:solidFill>
                <a:latin typeface="Poppins"/>
                <a:ea typeface="Poppins"/>
                <a:cs typeface="Poppins"/>
                <a:sym typeface="Poppins"/>
              </a:rPr>
              <a:t>F1 Score: </a:t>
            </a:r>
            <a:r>
              <a:rPr b="1" lang="en-US" sz="2100">
                <a:solidFill>
                  <a:schemeClr val="dk1"/>
                </a:solidFill>
                <a:latin typeface="Poppins"/>
                <a:ea typeface="Poppins"/>
                <a:cs typeface="Poppins"/>
                <a:sym typeface="Poppins"/>
              </a:rPr>
              <a:t>0.39</a:t>
            </a:r>
            <a:endParaRPr b="1" sz="2100">
              <a:solidFill>
                <a:schemeClr val="dk1"/>
              </a:solidFill>
              <a:latin typeface="Poppins"/>
              <a:ea typeface="Poppins"/>
              <a:cs typeface="Poppins"/>
              <a:sym typeface="Poppins"/>
            </a:endParaRPr>
          </a:p>
          <a:p>
            <a:pPr indent="-361950" lvl="0" marL="457200" rtl="0" algn="l">
              <a:lnSpc>
                <a:spcPct val="115000"/>
              </a:lnSpc>
              <a:spcBef>
                <a:spcPts val="0"/>
              </a:spcBef>
              <a:spcAft>
                <a:spcPts val="0"/>
              </a:spcAft>
              <a:buClr>
                <a:schemeClr val="dk1"/>
              </a:buClr>
              <a:buSzPts val="2100"/>
              <a:buChar char="●"/>
            </a:pPr>
            <a:r>
              <a:rPr lang="en-US" sz="2100">
                <a:solidFill>
                  <a:schemeClr val="dk1"/>
                </a:solidFill>
                <a:latin typeface="Poppins"/>
                <a:ea typeface="Poppins"/>
                <a:cs typeface="Poppins"/>
                <a:sym typeface="Poppins"/>
              </a:rPr>
              <a:t>AUC: </a:t>
            </a:r>
            <a:r>
              <a:rPr b="1" lang="en-US" sz="2100">
                <a:solidFill>
                  <a:schemeClr val="dk1"/>
                </a:solidFill>
                <a:latin typeface="Poppins"/>
                <a:ea typeface="Poppins"/>
                <a:cs typeface="Poppins"/>
                <a:sym typeface="Poppins"/>
              </a:rPr>
              <a:t>0.48</a:t>
            </a:r>
            <a:endParaRPr b="1" sz="2100">
              <a:solidFill>
                <a:schemeClr val="dk1"/>
              </a:solidFill>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b="1" lang="en-US" sz="2100">
                <a:solidFill>
                  <a:schemeClr val="dk1"/>
                </a:solidFill>
                <a:latin typeface="Poppins"/>
                <a:ea typeface="Poppins"/>
                <a:cs typeface="Poppins"/>
                <a:sym typeface="Poppins"/>
              </a:rPr>
              <a:t>Oligodendroglioma → </a:t>
            </a:r>
            <a:r>
              <a:rPr b="1" lang="en-US" sz="2100">
                <a:solidFill>
                  <a:srgbClr val="FF0000"/>
                </a:solidFill>
                <a:latin typeface="Poppins"/>
                <a:ea typeface="Poppins"/>
                <a:cs typeface="Poppins"/>
                <a:sym typeface="Poppins"/>
              </a:rPr>
              <a:t>Lowest Performance:</a:t>
            </a:r>
            <a:endParaRPr b="1" sz="2100">
              <a:solidFill>
                <a:srgbClr val="FF0000"/>
              </a:solidFill>
              <a:latin typeface="Poppins"/>
              <a:ea typeface="Poppins"/>
              <a:cs typeface="Poppins"/>
              <a:sym typeface="Poppins"/>
            </a:endParaRPr>
          </a:p>
          <a:p>
            <a:pPr indent="-361950" lvl="0" marL="457200" rtl="0" algn="l">
              <a:lnSpc>
                <a:spcPct val="115000"/>
              </a:lnSpc>
              <a:spcBef>
                <a:spcPts val="1200"/>
              </a:spcBef>
              <a:spcAft>
                <a:spcPts val="0"/>
              </a:spcAft>
              <a:buClr>
                <a:schemeClr val="dk1"/>
              </a:buClr>
              <a:buSzPts val="2100"/>
              <a:buChar char="●"/>
            </a:pPr>
            <a:r>
              <a:rPr lang="en-US" sz="2100">
                <a:solidFill>
                  <a:schemeClr val="dk1"/>
                </a:solidFill>
                <a:latin typeface="Poppins"/>
                <a:ea typeface="Poppins"/>
                <a:cs typeface="Poppins"/>
                <a:sym typeface="Poppins"/>
              </a:rPr>
              <a:t>F1 Score: </a:t>
            </a:r>
            <a:r>
              <a:rPr b="1" lang="en-US" sz="2100">
                <a:solidFill>
                  <a:schemeClr val="dk1"/>
                </a:solidFill>
                <a:latin typeface="Poppins"/>
                <a:ea typeface="Poppins"/>
                <a:cs typeface="Poppins"/>
                <a:sym typeface="Poppins"/>
              </a:rPr>
              <a:t>0.0</a:t>
            </a:r>
            <a:endParaRPr b="1" sz="2100">
              <a:solidFill>
                <a:schemeClr val="dk1"/>
              </a:solidFill>
              <a:latin typeface="Poppins"/>
              <a:ea typeface="Poppins"/>
              <a:cs typeface="Poppins"/>
              <a:sym typeface="Poppins"/>
            </a:endParaRPr>
          </a:p>
          <a:p>
            <a:pPr indent="-361950" lvl="0" marL="457200" rtl="0" algn="l">
              <a:lnSpc>
                <a:spcPct val="115000"/>
              </a:lnSpc>
              <a:spcBef>
                <a:spcPts val="0"/>
              </a:spcBef>
              <a:spcAft>
                <a:spcPts val="0"/>
              </a:spcAft>
              <a:buClr>
                <a:schemeClr val="dk1"/>
              </a:buClr>
              <a:buSzPts val="2100"/>
              <a:buChar char="●"/>
            </a:pPr>
            <a:r>
              <a:rPr lang="en-US" sz="2100">
                <a:solidFill>
                  <a:schemeClr val="dk1"/>
                </a:solidFill>
                <a:latin typeface="Poppins"/>
                <a:ea typeface="Poppins"/>
                <a:cs typeface="Poppins"/>
                <a:sym typeface="Poppins"/>
              </a:rPr>
              <a:t>AUC: </a:t>
            </a:r>
            <a:r>
              <a:rPr b="1" lang="en-US" sz="2100">
                <a:solidFill>
                  <a:schemeClr val="dk1"/>
                </a:solidFill>
                <a:latin typeface="Poppins"/>
                <a:ea typeface="Poppins"/>
                <a:cs typeface="Poppins"/>
                <a:sym typeface="Poppins"/>
              </a:rPr>
              <a:t>0.67</a:t>
            </a:r>
            <a:endParaRPr b="1" sz="2100">
              <a:solidFill>
                <a:schemeClr val="dk1"/>
              </a:solidFill>
              <a:latin typeface="Poppins"/>
              <a:ea typeface="Poppins"/>
              <a:cs typeface="Poppins"/>
              <a:sym typeface="Poppins"/>
            </a:endParaRPr>
          </a:p>
          <a:p>
            <a:pPr indent="-361950" lvl="0" marL="457200" rtl="0" algn="l">
              <a:lnSpc>
                <a:spcPct val="115000"/>
              </a:lnSpc>
              <a:spcBef>
                <a:spcPts val="0"/>
              </a:spcBef>
              <a:spcAft>
                <a:spcPts val="0"/>
              </a:spcAft>
              <a:buClr>
                <a:schemeClr val="dk1"/>
              </a:buClr>
              <a:buSzPts val="2100"/>
              <a:buFont typeface="Poppins"/>
              <a:buChar char="●"/>
            </a:pPr>
            <a:r>
              <a:rPr lang="en-US" sz="2100">
                <a:solidFill>
                  <a:schemeClr val="dk1"/>
                </a:solidFill>
                <a:latin typeface="Poppins"/>
                <a:ea typeface="Poppins"/>
                <a:cs typeface="Poppins"/>
                <a:sym typeface="Poppins"/>
              </a:rPr>
              <a:t>Frequently misclassified despite a decent AUC</a:t>
            </a:r>
            <a:endParaRPr b="1" sz="3100">
              <a:solidFill>
                <a:schemeClr val="dk1"/>
              </a:solidFill>
              <a:latin typeface="Poppins"/>
              <a:ea typeface="Poppins"/>
              <a:cs typeface="Poppins"/>
              <a:sym typeface="Poppins"/>
            </a:endParaRPr>
          </a:p>
        </p:txBody>
      </p:sp>
      <p:graphicFrame>
        <p:nvGraphicFramePr>
          <p:cNvPr id="280" name="Google Shape;280;g30504478cd7_0_193"/>
          <p:cNvGraphicFramePr/>
          <p:nvPr/>
        </p:nvGraphicFramePr>
        <p:xfrm>
          <a:off x="9608725" y="4131850"/>
          <a:ext cx="3000000" cy="3000000"/>
        </p:xfrm>
        <a:graphic>
          <a:graphicData uri="http://schemas.openxmlformats.org/drawingml/2006/table">
            <a:tbl>
              <a:tblPr>
                <a:noFill/>
                <a:tableStyleId>{DE100FA3-2363-4569-B0D9-8915101A3F80}</a:tableStyleId>
              </a:tblPr>
              <a:tblGrid>
                <a:gridCol w="2450675"/>
                <a:gridCol w="1192250"/>
                <a:gridCol w="1351200"/>
                <a:gridCol w="1231975"/>
                <a:gridCol w="953800"/>
                <a:gridCol w="1006775"/>
              </a:tblGrid>
              <a:tr h="1335650">
                <a:tc>
                  <a:txBody>
                    <a:bodyPr/>
                    <a:lstStyle/>
                    <a:p>
                      <a:pPr indent="0" lvl="0" marL="0" rtl="0" algn="ctr">
                        <a:lnSpc>
                          <a:spcPct val="115000"/>
                        </a:lnSpc>
                        <a:spcBef>
                          <a:spcPts val="0"/>
                        </a:spcBef>
                        <a:spcAft>
                          <a:spcPts val="0"/>
                        </a:spcAft>
                        <a:buNone/>
                      </a:pPr>
                      <a:r>
                        <a:rPr b="1" lang="en-US" sz="1600">
                          <a:latin typeface="Poppins"/>
                          <a:ea typeface="Poppins"/>
                          <a:cs typeface="Poppins"/>
                          <a:sym typeface="Poppins"/>
                        </a:rPr>
                        <a:t>Class</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00">
                          <a:latin typeface="Poppins"/>
                          <a:ea typeface="Poppins"/>
                          <a:cs typeface="Poppins"/>
                          <a:sym typeface="Poppins"/>
                        </a:rPr>
                        <a:t>Precision</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00">
                          <a:latin typeface="Poppins"/>
                          <a:ea typeface="Poppins"/>
                          <a:cs typeface="Poppins"/>
                          <a:sym typeface="Poppins"/>
                        </a:rPr>
                        <a:t>Recall (Sensitivity)</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00">
                          <a:latin typeface="Poppins"/>
                          <a:ea typeface="Poppins"/>
                          <a:cs typeface="Poppins"/>
                          <a:sym typeface="Poppins"/>
                        </a:rPr>
                        <a:t>Specificity</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00">
                          <a:latin typeface="Poppins"/>
                          <a:ea typeface="Poppins"/>
                          <a:cs typeface="Poppins"/>
                          <a:sym typeface="Poppins"/>
                        </a:rPr>
                        <a:t>F1 Score</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00">
                          <a:latin typeface="Poppins"/>
                          <a:ea typeface="Poppins"/>
                          <a:cs typeface="Poppins"/>
                          <a:sym typeface="Poppins"/>
                        </a:rPr>
                        <a:t>Support</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45550">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GBM</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0.35</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0.44</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0.625</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0.39</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18</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940600">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OLIGODENDROGLIOMA</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0.00</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0.00</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1.000</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0.00</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12</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45550">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ASTROCYTOMA</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0.49</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0.61</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0.400</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0.54</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28</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45550">
                <a:tc>
                  <a:txBody>
                    <a:bodyPr/>
                    <a:lstStyle/>
                    <a:p>
                      <a:pPr indent="0" lvl="0" marL="0" rtl="0" algn="l">
                        <a:lnSpc>
                          <a:spcPct val="115000"/>
                        </a:lnSpc>
                        <a:spcBef>
                          <a:spcPts val="0"/>
                        </a:spcBef>
                        <a:spcAft>
                          <a:spcPts val="0"/>
                        </a:spcAft>
                        <a:buNone/>
                      </a:pPr>
                      <a:r>
                        <a:rPr b="1" lang="en-US" sz="1600">
                          <a:latin typeface="Poppins"/>
                          <a:ea typeface="Poppins"/>
                          <a:cs typeface="Poppins"/>
                          <a:sym typeface="Poppins"/>
                        </a:rPr>
                        <a:t>Macro Avg</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0.28</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0.35</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0.31</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58</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45550">
                <a:tc>
                  <a:txBody>
                    <a:bodyPr/>
                    <a:lstStyle/>
                    <a:p>
                      <a:pPr indent="0" lvl="0" marL="0" rtl="0" algn="l">
                        <a:lnSpc>
                          <a:spcPct val="115000"/>
                        </a:lnSpc>
                        <a:spcBef>
                          <a:spcPts val="0"/>
                        </a:spcBef>
                        <a:spcAft>
                          <a:spcPts val="0"/>
                        </a:spcAft>
                        <a:buNone/>
                      </a:pPr>
                      <a:r>
                        <a:rPr b="1" lang="en-US" sz="1600">
                          <a:latin typeface="Poppins"/>
                          <a:ea typeface="Poppins"/>
                          <a:cs typeface="Poppins"/>
                          <a:sym typeface="Poppins"/>
                        </a:rPr>
                        <a:t>Weighted Avg</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0.34</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0.43</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0.38</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58</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45550">
                <a:tc>
                  <a:txBody>
                    <a:bodyPr/>
                    <a:lstStyle/>
                    <a:p>
                      <a:pPr indent="0" lvl="0" marL="0" rtl="0" algn="l">
                        <a:lnSpc>
                          <a:spcPct val="115000"/>
                        </a:lnSpc>
                        <a:spcBef>
                          <a:spcPts val="0"/>
                        </a:spcBef>
                        <a:spcAft>
                          <a:spcPts val="0"/>
                        </a:spcAft>
                        <a:buNone/>
                      </a:pPr>
                      <a:r>
                        <a:rPr b="1" lang="en-US" sz="1600">
                          <a:latin typeface="Poppins"/>
                          <a:ea typeface="Poppins"/>
                          <a:cs typeface="Poppins"/>
                          <a:sym typeface="Poppins"/>
                        </a:rPr>
                        <a:t>Accuracy</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600">
                          <a:latin typeface="Poppins"/>
                          <a:ea typeface="Poppins"/>
                          <a:cs typeface="Poppins"/>
                          <a:sym typeface="Poppins"/>
                        </a:rPr>
                        <a:t>0.43</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Poppins"/>
                          <a:ea typeface="Poppins"/>
                          <a:cs typeface="Poppins"/>
                          <a:sym typeface="Poppins"/>
                        </a:rPr>
                        <a:t>58</a:t>
                      </a:r>
                      <a:endParaRPr sz="160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281" name="Google Shape;281;g30504478cd7_0_193"/>
          <p:cNvSpPr txBox="1"/>
          <p:nvPr/>
        </p:nvSpPr>
        <p:spPr>
          <a:xfrm>
            <a:off x="4186518" y="1699575"/>
            <a:ext cx="7957800" cy="72300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lang="en-US" sz="4698">
                <a:solidFill>
                  <a:srgbClr val="593C8F"/>
                </a:solidFill>
                <a:latin typeface="League Spartan"/>
                <a:ea typeface="League Spartan"/>
                <a:cs typeface="League Spartan"/>
                <a:sym typeface="League Spartan"/>
              </a:rPr>
              <a:t>Results - Performance Metrics</a:t>
            </a:r>
            <a:endParaRPr sz="1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30504478cd7_0_21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0309" r="-20309" t="0"/>
            </a:stretch>
          </a:blipFill>
          <a:ln>
            <a:noFill/>
          </a:ln>
        </p:spPr>
      </p:sp>
      <p:cxnSp>
        <p:nvCxnSpPr>
          <p:cNvPr id="287" name="Google Shape;287;g30504478cd7_0_212"/>
          <p:cNvCxnSpPr/>
          <p:nvPr/>
        </p:nvCxnSpPr>
        <p:spPr>
          <a:xfrm>
            <a:off x="4187609" y="2542074"/>
            <a:ext cx="2618700" cy="0"/>
          </a:xfrm>
          <a:prstGeom prst="straightConnector1">
            <a:avLst/>
          </a:prstGeom>
          <a:noFill/>
          <a:ln cap="flat" cmpd="sng" w="38100">
            <a:solidFill>
              <a:srgbClr val="000000"/>
            </a:solidFill>
            <a:prstDash val="solid"/>
            <a:round/>
            <a:headEnd len="sm" w="sm" type="none"/>
            <a:tailEnd len="sm" w="sm" type="none"/>
          </a:ln>
        </p:spPr>
      </p:cxnSp>
      <p:grpSp>
        <p:nvGrpSpPr>
          <p:cNvPr id="288" name="Google Shape;288;g30504478cd7_0_212"/>
          <p:cNvGrpSpPr/>
          <p:nvPr/>
        </p:nvGrpSpPr>
        <p:grpSpPr>
          <a:xfrm>
            <a:off x="0" y="-180827"/>
            <a:ext cx="3086120" cy="10468053"/>
            <a:chOff x="0" y="-47625"/>
            <a:chExt cx="812800" cy="2757000"/>
          </a:xfrm>
        </p:grpSpPr>
        <p:sp>
          <p:nvSpPr>
            <p:cNvPr id="289" name="Google Shape;289;g30504478cd7_0_212"/>
            <p:cNvSpPr/>
            <p:nvPr/>
          </p:nvSpPr>
          <p:spPr>
            <a:xfrm>
              <a:off x="0" y="0"/>
              <a:ext cx="812800" cy="2709333"/>
            </a:xfrm>
            <a:custGeom>
              <a:rect b="b" l="l" r="r" t="t"/>
              <a:pathLst>
                <a:path extrusionOk="0" h="2709333" w="812800">
                  <a:moveTo>
                    <a:pt x="0" y="0"/>
                  </a:moveTo>
                  <a:lnTo>
                    <a:pt x="812800" y="0"/>
                  </a:lnTo>
                  <a:lnTo>
                    <a:pt x="812800" y="2709333"/>
                  </a:lnTo>
                  <a:lnTo>
                    <a:pt x="0" y="2709333"/>
                  </a:lnTo>
                  <a:close/>
                </a:path>
              </a:pathLst>
            </a:custGeom>
            <a:solidFill>
              <a:srgbClr val="593C8F"/>
            </a:solidFill>
            <a:ln>
              <a:noFill/>
            </a:ln>
          </p:spPr>
        </p:sp>
        <p:sp>
          <p:nvSpPr>
            <p:cNvPr id="290" name="Google Shape;290;g30504478cd7_0_212"/>
            <p:cNvSpPr txBox="1"/>
            <p:nvPr/>
          </p:nvSpPr>
          <p:spPr>
            <a:xfrm>
              <a:off x="0" y="-47625"/>
              <a:ext cx="812700" cy="2757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1" name="Google Shape;291;g30504478cd7_0_212"/>
          <p:cNvSpPr txBox="1"/>
          <p:nvPr/>
        </p:nvSpPr>
        <p:spPr>
          <a:xfrm>
            <a:off x="4151902" y="2973500"/>
            <a:ext cx="10029900" cy="623100"/>
          </a:xfrm>
          <a:prstGeom prst="rect">
            <a:avLst/>
          </a:prstGeom>
          <a:noFill/>
          <a:ln>
            <a:noFill/>
          </a:ln>
        </p:spPr>
        <p:txBody>
          <a:bodyPr anchorCtr="0" anchor="t" bIns="0" lIns="0" spcFirstLastPara="1" rIns="0" wrap="square" tIns="0">
            <a:spAutoFit/>
          </a:bodyPr>
          <a:lstStyle/>
          <a:p>
            <a:pPr indent="0" lvl="0" marL="0" marR="0" rtl="0" algn="l">
              <a:lnSpc>
                <a:spcPct val="140045"/>
              </a:lnSpc>
              <a:spcBef>
                <a:spcPts val="0"/>
              </a:spcBef>
              <a:spcAft>
                <a:spcPts val="0"/>
              </a:spcAft>
              <a:buNone/>
            </a:pPr>
            <a:r>
              <a:rPr b="1" lang="en-US" sz="4000">
                <a:latin typeface="Poppins"/>
                <a:ea typeface="Poppins"/>
                <a:cs typeface="Poppins"/>
                <a:sym typeface="Poppins"/>
              </a:rPr>
              <a:t>Additional Step</a:t>
            </a:r>
            <a:r>
              <a:rPr b="1" lang="en-US" sz="4000">
                <a:latin typeface="Poppins"/>
                <a:ea typeface="Poppins"/>
                <a:cs typeface="Poppins"/>
                <a:sym typeface="Poppins"/>
              </a:rPr>
              <a:t>: </a:t>
            </a:r>
            <a:r>
              <a:rPr lang="en-US" sz="4048">
                <a:solidFill>
                  <a:schemeClr val="dk1"/>
                </a:solidFill>
                <a:latin typeface="Poppins"/>
                <a:ea typeface="Poppins"/>
                <a:cs typeface="Poppins"/>
                <a:sym typeface="Poppins"/>
              </a:rPr>
              <a:t>Combined Dataset</a:t>
            </a:r>
            <a:endParaRPr b="1" sz="4000"/>
          </a:p>
        </p:txBody>
      </p:sp>
      <p:sp>
        <p:nvSpPr>
          <p:cNvPr id="292" name="Google Shape;292;g30504478cd7_0_212"/>
          <p:cNvSpPr txBox="1"/>
          <p:nvPr/>
        </p:nvSpPr>
        <p:spPr>
          <a:xfrm>
            <a:off x="4151900" y="3876250"/>
            <a:ext cx="5308800" cy="551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100">
                <a:solidFill>
                  <a:schemeClr val="dk1"/>
                </a:solidFill>
                <a:latin typeface="Poppins"/>
                <a:ea typeface="Poppins"/>
                <a:cs typeface="Poppins"/>
                <a:sym typeface="Poppins"/>
              </a:rPr>
              <a:t>Overall Accuracy</a:t>
            </a:r>
            <a:r>
              <a:rPr lang="en-US" sz="2100">
                <a:solidFill>
                  <a:schemeClr val="dk1"/>
                </a:solidFill>
                <a:latin typeface="Poppins"/>
                <a:ea typeface="Poppins"/>
                <a:cs typeface="Poppins"/>
                <a:sym typeface="Poppins"/>
              </a:rPr>
              <a:t>: </a:t>
            </a:r>
            <a:r>
              <a:rPr lang="en-US" sz="2100">
                <a:solidFill>
                  <a:schemeClr val="dk1"/>
                </a:solidFill>
                <a:latin typeface="Poppins"/>
                <a:ea typeface="Poppins"/>
                <a:cs typeface="Poppins"/>
                <a:sym typeface="Poppins"/>
              </a:rPr>
              <a:t>60%</a:t>
            </a:r>
            <a:endParaRPr sz="2100">
              <a:solidFill>
                <a:schemeClr val="dk1"/>
              </a:solidFill>
              <a:latin typeface="Poppins"/>
              <a:ea typeface="Poppins"/>
              <a:cs typeface="Poppins"/>
              <a:sym typeface="Poppins"/>
            </a:endParaRPr>
          </a:p>
          <a:p>
            <a:pPr indent="0" lvl="0" marL="0" rtl="0" algn="l">
              <a:spcBef>
                <a:spcPts val="0"/>
              </a:spcBef>
              <a:spcAft>
                <a:spcPts val="0"/>
              </a:spcAft>
              <a:buNone/>
            </a:pPr>
            <a:r>
              <a:t/>
            </a:r>
            <a:endParaRPr sz="2100">
              <a:solidFill>
                <a:schemeClr val="dk1"/>
              </a:solidFill>
              <a:latin typeface="Poppins"/>
              <a:ea typeface="Poppins"/>
              <a:cs typeface="Poppins"/>
              <a:sym typeface="Poppins"/>
            </a:endParaRPr>
          </a:p>
          <a:p>
            <a:pPr indent="0" lvl="0" marL="0" rtl="0" algn="l">
              <a:spcBef>
                <a:spcPts val="0"/>
              </a:spcBef>
              <a:spcAft>
                <a:spcPts val="0"/>
              </a:spcAft>
              <a:buNone/>
            </a:pPr>
            <a:r>
              <a:rPr b="1" lang="en-US" sz="2100">
                <a:solidFill>
                  <a:schemeClr val="dk1"/>
                </a:solidFill>
                <a:latin typeface="Poppins"/>
                <a:ea typeface="Poppins"/>
                <a:cs typeface="Poppins"/>
                <a:sym typeface="Poppins"/>
              </a:rPr>
              <a:t>GBM </a:t>
            </a:r>
            <a:r>
              <a:rPr b="1" lang="en-US" sz="2100">
                <a:solidFill>
                  <a:schemeClr val="dk1"/>
                </a:solidFill>
                <a:latin typeface="Poppins"/>
                <a:ea typeface="Poppins"/>
                <a:cs typeface="Poppins"/>
                <a:sym typeface="Poppins"/>
              </a:rPr>
              <a:t>→ </a:t>
            </a:r>
            <a:r>
              <a:rPr b="1" lang="en-US" sz="2100">
                <a:solidFill>
                  <a:schemeClr val="accent3"/>
                </a:solidFill>
                <a:latin typeface="Poppins"/>
                <a:ea typeface="Poppins"/>
                <a:cs typeface="Poppins"/>
                <a:sym typeface="Poppins"/>
              </a:rPr>
              <a:t>Best Performance </a:t>
            </a:r>
            <a:endParaRPr b="1" sz="2100">
              <a:solidFill>
                <a:schemeClr val="accent3"/>
              </a:solidFill>
              <a:latin typeface="Poppins"/>
              <a:ea typeface="Poppins"/>
              <a:cs typeface="Poppins"/>
              <a:sym typeface="Poppins"/>
            </a:endParaRPr>
          </a:p>
          <a:p>
            <a:pPr indent="-361950" lvl="0" marL="457200" rtl="0" algn="l">
              <a:lnSpc>
                <a:spcPct val="100000"/>
              </a:lnSpc>
              <a:spcBef>
                <a:spcPts val="0"/>
              </a:spcBef>
              <a:spcAft>
                <a:spcPts val="0"/>
              </a:spcAft>
              <a:buClr>
                <a:schemeClr val="dk1"/>
              </a:buClr>
              <a:buSzPts val="2100"/>
              <a:buChar char="●"/>
            </a:pPr>
            <a:r>
              <a:rPr lang="en-US" sz="2100">
                <a:solidFill>
                  <a:schemeClr val="dk1"/>
                </a:solidFill>
                <a:latin typeface="Poppins"/>
                <a:ea typeface="Poppins"/>
                <a:cs typeface="Poppins"/>
                <a:sym typeface="Poppins"/>
              </a:rPr>
              <a:t>F1 Score: </a:t>
            </a:r>
            <a:r>
              <a:rPr b="1" lang="en-US" sz="2100">
                <a:solidFill>
                  <a:schemeClr val="dk1"/>
                </a:solidFill>
                <a:latin typeface="Poppins"/>
                <a:ea typeface="Poppins"/>
                <a:cs typeface="Poppins"/>
                <a:sym typeface="Poppins"/>
              </a:rPr>
              <a:t>0.74 </a:t>
            </a:r>
            <a:r>
              <a:rPr lang="en-US" sz="2100">
                <a:solidFill>
                  <a:schemeClr val="dk1"/>
                </a:solidFill>
                <a:latin typeface="Poppins"/>
                <a:ea typeface="Poppins"/>
                <a:cs typeface="Poppins"/>
                <a:sym typeface="Poppins"/>
              </a:rPr>
              <a:t>(highest)</a:t>
            </a:r>
            <a:endParaRPr sz="2100">
              <a:solidFill>
                <a:schemeClr val="dk1"/>
              </a:solidFill>
              <a:latin typeface="Poppins"/>
              <a:ea typeface="Poppins"/>
              <a:cs typeface="Poppins"/>
              <a:sym typeface="Poppins"/>
            </a:endParaRPr>
          </a:p>
          <a:p>
            <a:pPr indent="-361950" lvl="0" marL="457200" rtl="0" algn="l">
              <a:lnSpc>
                <a:spcPct val="100000"/>
              </a:lnSpc>
              <a:spcBef>
                <a:spcPts val="0"/>
              </a:spcBef>
              <a:spcAft>
                <a:spcPts val="0"/>
              </a:spcAft>
              <a:buClr>
                <a:schemeClr val="dk1"/>
              </a:buClr>
              <a:buSzPts val="2100"/>
              <a:buChar char="●"/>
            </a:pPr>
            <a:r>
              <a:rPr lang="en-US" sz="2100">
                <a:solidFill>
                  <a:schemeClr val="dk1"/>
                </a:solidFill>
                <a:latin typeface="Poppins"/>
                <a:ea typeface="Poppins"/>
                <a:cs typeface="Poppins"/>
                <a:sym typeface="Poppins"/>
              </a:rPr>
              <a:t>Recall: 0.83</a:t>
            </a:r>
            <a:br>
              <a:rPr b="1" lang="en-US" sz="2100">
                <a:solidFill>
                  <a:schemeClr val="dk1"/>
                </a:solidFill>
                <a:latin typeface="Poppins"/>
                <a:ea typeface="Poppins"/>
                <a:cs typeface="Poppins"/>
                <a:sym typeface="Poppins"/>
              </a:rPr>
            </a:br>
            <a:endParaRPr b="1" sz="21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b="1" lang="en-US" sz="2100">
                <a:solidFill>
                  <a:schemeClr val="dk1"/>
                </a:solidFill>
                <a:latin typeface="Poppins"/>
                <a:ea typeface="Poppins"/>
                <a:cs typeface="Poppins"/>
                <a:sym typeface="Poppins"/>
              </a:rPr>
              <a:t>Astrocytoma</a:t>
            </a:r>
            <a:r>
              <a:rPr b="1" lang="en-US" sz="2100">
                <a:solidFill>
                  <a:schemeClr val="dk1"/>
                </a:solidFill>
                <a:latin typeface="Poppins"/>
                <a:ea typeface="Poppins"/>
                <a:cs typeface="Poppins"/>
                <a:sym typeface="Poppins"/>
              </a:rPr>
              <a:t>: </a:t>
            </a:r>
            <a:r>
              <a:rPr lang="en-US" sz="2100">
                <a:solidFill>
                  <a:schemeClr val="dk1"/>
                </a:solidFill>
                <a:latin typeface="Poppins"/>
                <a:ea typeface="Poppins"/>
                <a:cs typeface="Poppins"/>
                <a:sym typeface="Poppins"/>
              </a:rPr>
              <a:t>Moderate Performance</a:t>
            </a:r>
            <a:endParaRPr sz="2100">
              <a:solidFill>
                <a:schemeClr val="dk1"/>
              </a:solidFill>
              <a:latin typeface="Poppins"/>
              <a:ea typeface="Poppins"/>
              <a:cs typeface="Poppins"/>
              <a:sym typeface="Poppins"/>
            </a:endParaRPr>
          </a:p>
          <a:p>
            <a:pPr indent="-361950" lvl="0" marL="457200" rtl="0" algn="l">
              <a:lnSpc>
                <a:spcPct val="115000"/>
              </a:lnSpc>
              <a:spcBef>
                <a:spcPts val="1200"/>
              </a:spcBef>
              <a:spcAft>
                <a:spcPts val="0"/>
              </a:spcAft>
              <a:buClr>
                <a:schemeClr val="dk1"/>
              </a:buClr>
              <a:buSzPts val="2100"/>
              <a:buFont typeface="Poppins"/>
              <a:buChar char="●"/>
            </a:pPr>
            <a:r>
              <a:rPr lang="en-US" sz="2100">
                <a:solidFill>
                  <a:schemeClr val="dk1"/>
                </a:solidFill>
                <a:latin typeface="Poppins"/>
                <a:ea typeface="Poppins"/>
                <a:cs typeface="Poppins"/>
                <a:sym typeface="Poppins"/>
              </a:rPr>
              <a:t>F1 Score: 0.40</a:t>
            </a:r>
            <a:endParaRPr sz="2100">
              <a:solidFill>
                <a:schemeClr val="dk1"/>
              </a:solidFill>
              <a:latin typeface="Poppins"/>
              <a:ea typeface="Poppins"/>
              <a:cs typeface="Poppins"/>
              <a:sym typeface="Poppins"/>
            </a:endParaRPr>
          </a:p>
          <a:p>
            <a:pPr indent="-361950" lvl="0" marL="457200" rtl="0" algn="l">
              <a:lnSpc>
                <a:spcPct val="115000"/>
              </a:lnSpc>
              <a:spcBef>
                <a:spcPts val="0"/>
              </a:spcBef>
              <a:spcAft>
                <a:spcPts val="0"/>
              </a:spcAft>
              <a:buClr>
                <a:schemeClr val="dk1"/>
              </a:buClr>
              <a:buSzPts val="2100"/>
              <a:buFont typeface="Poppins"/>
              <a:buChar char="●"/>
            </a:pPr>
            <a:r>
              <a:rPr lang="en-US" sz="2100">
                <a:solidFill>
                  <a:schemeClr val="dk1"/>
                </a:solidFill>
                <a:latin typeface="Poppins"/>
                <a:ea typeface="Poppins"/>
                <a:cs typeface="Poppins"/>
                <a:sym typeface="Poppins"/>
              </a:rPr>
              <a:t>Balanced precision and recall</a:t>
            </a:r>
            <a:endParaRPr sz="21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b="1" lang="en-US" sz="2100">
                <a:solidFill>
                  <a:schemeClr val="dk1"/>
                </a:solidFill>
                <a:latin typeface="Poppins"/>
                <a:ea typeface="Poppins"/>
                <a:cs typeface="Poppins"/>
                <a:sym typeface="Poppins"/>
              </a:rPr>
              <a:t>Oligodendroglioma → </a:t>
            </a:r>
            <a:r>
              <a:rPr b="1" lang="en-US" sz="2100">
                <a:solidFill>
                  <a:srgbClr val="FF0000"/>
                </a:solidFill>
                <a:latin typeface="Poppins"/>
                <a:ea typeface="Poppins"/>
                <a:cs typeface="Poppins"/>
                <a:sym typeface="Poppins"/>
              </a:rPr>
              <a:t>Lowest Performance:</a:t>
            </a:r>
            <a:endParaRPr b="1" sz="2100">
              <a:solidFill>
                <a:srgbClr val="FF0000"/>
              </a:solidFill>
              <a:latin typeface="Poppins"/>
              <a:ea typeface="Poppins"/>
              <a:cs typeface="Poppins"/>
              <a:sym typeface="Poppins"/>
            </a:endParaRPr>
          </a:p>
          <a:p>
            <a:pPr indent="-361950" lvl="0" marL="457200" rtl="0" algn="l">
              <a:lnSpc>
                <a:spcPct val="115000"/>
              </a:lnSpc>
              <a:spcBef>
                <a:spcPts val="1200"/>
              </a:spcBef>
              <a:spcAft>
                <a:spcPts val="0"/>
              </a:spcAft>
              <a:buClr>
                <a:schemeClr val="dk1"/>
              </a:buClr>
              <a:buSzPts val="2100"/>
              <a:buFont typeface="Poppins"/>
              <a:buChar char="●"/>
            </a:pPr>
            <a:r>
              <a:rPr lang="en-US" sz="2100">
                <a:solidFill>
                  <a:schemeClr val="dk1"/>
                </a:solidFill>
                <a:latin typeface="Poppins"/>
                <a:ea typeface="Poppins"/>
                <a:cs typeface="Poppins"/>
                <a:sym typeface="Poppins"/>
              </a:rPr>
              <a:t>F1 Score: 0.20</a:t>
            </a:r>
            <a:endParaRPr sz="2100">
              <a:solidFill>
                <a:schemeClr val="dk1"/>
              </a:solidFill>
              <a:latin typeface="Poppins"/>
              <a:ea typeface="Poppins"/>
              <a:cs typeface="Poppins"/>
              <a:sym typeface="Poppins"/>
            </a:endParaRPr>
          </a:p>
          <a:p>
            <a:pPr indent="-361950" lvl="0" marL="457200" rtl="0" algn="l">
              <a:lnSpc>
                <a:spcPct val="115000"/>
              </a:lnSpc>
              <a:spcBef>
                <a:spcPts val="0"/>
              </a:spcBef>
              <a:spcAft>
                <a:spcPts val="0"/>
              </a:spcAft>
              <a:buClr>
                <a:schemeClr val="dk1"/>
              </a:buClr>
              <a:buSzPts val="2100"/>
              <a:buFont typeface="Poppins"/>
              <a:buChar char="●"/>
            </a:pPr>
            <a:r>
              <a:rPr lang="en-US" sz="2100">
                <a:solidFill>
                  <a:schemeClr val="dk1"/>
                </a:solidFill>
                <a:latin typeface="Poppins"/>
                <a:ea typeface="Poppins"/>
                <a:cs typeface="Poppins"/>
                <a:sym typeface="Poppins"/>
              </a:rPr>
              <a:t>Recall: 0.12, despite high specificity (0.971)</a:t>
            </a:r>
            <a:endParaRPr sz="2100">
              <a:solidFill>
                <a:schemeClr val="dk1"/>
              </a:solidFill>
              <a:latin typeface="Poppins"/>
              <a:ea typeface="Poppins"/>
              <a:cs typeface="Poppins"/>
              <a:sym typeface="Poppins"/>
            </a:endParaRPr>
          </a:p>
        </p:txBody>
      </p:sp>
      <p:graphicFrame>
        <p:nvGraphicFramePr>
          <p:cNvPr id="293" name="Google Shape;293;g30504478cd7_0_212"/>
          <p:cNvGraphicFramePr/>
          <p:nvPr/>
        </p:nvGraphicFramePr>
        <p:xfrm>
          <a:off x="9672675" y="4390725"/>
          <a:ext cx="3000000" cy="3000000"/>
        </p:xfrm>
        <a:graphic>
          <a:graphicData uri="http://schemas.openxmlformats.org/drawingml/2006/table">
            <a:tbl>
              <a:tblPr>
                <a:noFill/>
                <a:tableStyleId>{DE100FA3-2363-4569-B0D9-8915101A3F80}</a:tableStyleId>
              </a:tblPr>
              <a:tblGrid>
                <a:gridCol w="1987150"/>
                <a:gridCol w="1333400"/>
                <a:gridCol w="1464650"/>
                <a:gridCol w="1342625"/>
                <a:gridCol w="1029525"/>
                <a:gridCol w="962100"/>
              </a:tblGrid>
              <a:tr h="979300">
                <a:tc>
                  <a:txBody>
                    <a:bodyPr/>
                    <a:lstStyle/>
                    <a:p>
                      <a:pPr indent="0" lvl="0" marL="0" rtl="0" algn="ctr">
                        <a:lnSpc>
                          <a:spcPct val="115000"/>
                        </a:lnSpc>
                        <a:spcBef>
                          <a:spcPts val="0"/>
                        </a:spcBef>
                        <a:spcAft>
                          <a:spcPts val="0"/>
                        </a:spcAft>
                        <a:buNone/>
                      </a:pPr>
                      <a:r>
                        <a:rPr b="1" lang="en-US" sz="1650">
                          <a:latin typeface="Poppins"/>
                          <a:ea typeface="Poppins"/>
                          <a:cs typeface="Poppins"/>
                          <a:sym typeface="Poppins"/>
                        </a:rPr>
                        <a:t>Class</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Poppins"/>
                          <a:ea typeface="Poppins"/>
                          <a:cs typeface="Poppins"/>
                          <a:sym typeface="Poppins"/>
                        </a:rPr>
                        <a:t>Precision</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Poppins"/>
                          <a:ea typeface="Poppins"/>
                          <a:cs typeface="Poppins"/>
                          <a:sym typeface="Poppins"/>
                        </a:rPr>
                        <a:t>Recall (Sensitivity)</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Poppins"/>
                          <a:ea typeface="Poppins"/>
                          <a:cs typeface="Poppins"/>
                          <a:sym typeface="Poppins"/>
                        </a:rPr>
                        <a:t>Specificity</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Poppins"/>
                          <a:ea typeface="Poppins"/>
                          <a:cs typeface="Poppins"/>
                          <a:sym typeface="Poppins"/>
                        </a:rPr>
                        <a:t>F1-Score</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50">
                          <a:latin typeface="Poppins"/>
                          <a:ea typeface="Poppins"/>
                          <a:cs typeface="Poppins"/>
                          <a:sym typeface="Poppins"/>
                        </a:rPr>
                        <a:t>Support</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07650">
                <a:tc>
                  <a:txBody>
                    <a:bodyPr/>
                    <a:lstStyle/>
                    <a:p>
                      <a:pPr indent="0" lvl="0" marL="0" rtl="0" algn="l">
                        <a:lnSpc>
                          <a:spcPct val="115000"/>
                        </a:lnSpc>
                        <a:spcBef>
                          <a:spcPts val="0"/>
                        </a:spcBef>
                        <a:spcAft>
                          <a:spcPts val="0"/>
                        </a:spcAft>
                        <a:buNone/>
                      </a:pPr>
                      <a:r>
                        <a:rPr b="1" lang="en-US" sz="1650">
                          <a:latin typeface="Poppins"/>
                          <a:ea typeface="Poppins"/>
                          <a:cs typeface="Poppins"/>
                          <a:sym typeface="Poppins"/>
                        </a:rPr>
                        <a:t>GBM</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50">
                          <a:latin typeface="Poppins"/>
                          <a:ea typeface="Poppins"/>
                          <a:cs typeface="Poppins"/>
                          <a:sym typeface="Poppins"/>
                        </a:rPr>
                        <a:t>0.67</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50">
                          <a:latin typeface="Poppins"/>
                          <a:ea typeface="Poppins"/>
                          <a:cs typeface="Poppins"/>
                          <a:sym typeface="Poppins"/>
                        </a:rPr>
                        <a:t>0.83</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50">
                          <a:latin typeface="Poppins"/>
                          <a:ea typeface="Poppins"/>
                          <a:cs typeface="Poppins"/>
                          <a:sym typeface="Poppins"/>
                        </a:rPr>
                        <a:t>0.444</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50">
                          <a:latin typeface="Poppins"/>
                          <a:ea typeface="Poppins"/>
                          <a:cs typeface="Poppins"/>
                          <a:sym typeface="Poppins"/>
                        </a:rPr>
                        <a:t>0.74</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50">
                          <a:latin typeface="Poppins"/>
                          <a:ea typeface="Poppins"/>
                          <a:cs typeface="Poppins"/>
                          <a:sym typeface="Poppins"/>
                        </a:rPr>
                        <a:t>24</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979300">
                <a:tc>
                  <a:txBody>
                    <a:bodyPr/>
                    <a:lstStyle/>
                    <a:p>
                      <a:pPr indent="0" lvl="0" marL="0" rtl="0" algn="l">
                        <a:lnSpc>
                          <a:spcPct val="115000"/>
                        </a:lnSpc>
                        <a:spcBef>
                          <a:spcPts val="0"/>
                        </a:spcBef>
                        <a:spcAft>
                          <a:spcPts val="0"/>
                        </a:spcAft>
                        <a:buNone/>
                      </a:pPr>
                      <a:r>
                        <a:rPr b="1" lang="en-US" sz="1650">
                          <a:latin typeface="Poppins"/>
                          <a:ea typeface="Poppins"/>
                          <a:cs typeface="Poppins"/>
                          <a:sym typeface="Poppins"/>
                        </a:rPr>
                        <a:t>Oligodendroglioma</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50">
                          <a:latin typeface="Poppins"/>
                          <a:ea typeface="Poppins"/>
                          <a:cs typeface="Poppins"/>
                          <a:sym typeface="Poppins"/>
                        </a:rPr>
                        <a:t>0.50</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50">
                          <a:latin typeface="Poppins"/>
                          <a:ea typeface="Poppins"/>
                          <a:cs typeface="Poppins"/>
                          <a:sym typeface="Poppins"/>
                        </a:rPr>
                        <a:t>0.12</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50">
                          <a:latin typeface="Poppins"/>
                          <a:ea typeface="Poppins"/>
                          <a:cs typeface="Poppins"/>
                          <a:sym typeface="Poppins"/>
                        </a:rPr>
                        <a:t>0.971</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50">
                          <a:latin typeface="Poppins"/>
                          <a:ea typeface="Poppins"/>
                          <a:cs typeface="Poppins"/>
                          <a:sym typeface="Poppins"/>
                        </a:rPr>
                        <a:t>0.20</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50">
                          <a:latin typeface="Poppins"/>
                          <a:ea typeface="Poppins"/>
                          <a:cs typeface="Poppins"/>
                          <a:sym typeface="Poppins"/>
                        </a:rPr>
                        <a:t>8</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07650">
                <a:tc>
                  <a:txBody>
                    <a:bodyPr/>
                    <a:lstStyle/>
                    <a:p>
                      <a:pPr indent="0" lvl="0" marL="0" rtl="0" algn="l">
                        <a:lnSpc>
                          <a:spcPct val="115000"/>
                        </a:lnSpc>
                        <a:spcBef>
                          <a:spcPts val="0"/>
                        </a:spcBef>
                        <a:spcAft>
                          <a:spcPts val="0"/>
                        </a:spcAft>
                        <a:buNone/>
                      </a:pPr>
                      <a:r>
                        <a:rPr b="1" lang="en-US" sz="1650">
                          <a:latin typeface="Poppins"/>
                          <a:ea typeface="Poppins"/>
                          <a:cs typeface="Poppins"/>
                          <a:sym typeface="Poppins"/>
                        </a:rPr>
                        <a:t>Astrocytoma</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50">
                          <a:latin typeface="Poppins"/>
                          <a:ea typeface="Poppins"/>
                          <a:cs typeface="Poppins"/>
                          <a:sym typeface="Poppins"/>
                        </a:rPr>
                        <a:t>0.40</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50">
                          <a:latin typeface="Poppins"/>
                          <a:ea typeface="Poppins"/>
                          <a:cs typeface="Poppins"/>
                          <a:sym typeface="Poppins"/>
                        </a:rPr>
                        <a:t>0.40</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50">
                          <a:latin typeface="Poppins"/>
                          <a:ea typeface="Poppins"/>
                          <a:cs typeface="Poppins"/>
                          <a:sym typeface="Poppins"/>
                        </a:rPr>
                        <a:t>0.812</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50">
                          <a:latin typeface="Poppins"/>
                          <a:ea typeface="Poppins"/>
                          <a:cs typeface="Poppins"/>
                          <a:sym typeface="Poppins"/>
                        </a:rPr>
                        <a:t>0.40</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50">
                          <a:latin typeface="Poppins"/>
                          <a:ea typeface="Poppins"/>
                          <a:cs typeface="Poppins"/>
                          <a:sym typeface="Poppins"/>
                        </a:rPr>
                        <a:t>10</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07650">
                <a:tc>
                  <a:txBody>
                    <a:bodyPr/>
                    <a:lstStyle/>
                    <a:p>
                      <a:pPr indent="0" lvl="0" marL="0" rtl="0" algn="l">
                        <a:lnSpc>
                          <a:spcPct val="115000"/>
                        </a:lnSpc>
                        <a:spcBef>
                          <a:spcPts val="0"/>
                        </a:spcBef>
                        <a:spcAft>
                          <a:spcPts val="0"/>
                        </a:spcAft>
                        <a:buNone/>
                      </a:pPr>
                      <a:r>
                        <a:rPr b="1" lang="en-US" sz="1650">
                          <a:latin typeface="Poppins"/>
                          <a:ea typeface="Poppins"/>
                          <a:cs typeface="Poppins"/>
                          <a:sym typeface="Poppins"/>
                        </a:rPr>
                        <a:t>Overall Accuracy</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50">
                          <a:latin typeface="Poppins"/>
                          <a:ea typeface="Poppins"/>
                          <a:cs typeface="Poppins"/>
                          <a:sym typeface="Poppins"/>
                        </a:rPr>
                        <a:t>—</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50">
                          <a:latin typeface="Poppins"/>
                          <a:ea typeface="Poppins"/>
                          <a:cs typeface="Poppins"/>
                          <a:sym typeface="Poppins"/>
                        </a:rPr>
                        <a:t>—</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50">
                          <a:latin typeface="Poppins"/>
                          <a:ea typeface="Poppins"/>
                          <a:cs typeface="Poppins"/>
                          <a:sym typeface="Poppins"/>
                        </a:rPr>
                        <a:t>—</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50">
                          <a:latin typeface="Poppins"/>
                          <a:ea typeface="Poppins"/>
                          <a:cs typeface="Poppins"/>
                          <a:sym typeface="Poppins"/>
                        </a:rPr>
                        <a:t>0.60</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50">
                          <a:latin typeface="Poppins"/>
                          <a:ea typeface="Poppins"/>
                          <a:cs typeface="Poppins"/>
                          <a:sym typeface="Poppins"/>
                        </a:rPr>
                        <a:t>42</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07650">
                <a:tc>
                  <a:txBody>
                    <a:bodyPr/>
                    <a:lstStyle/>
                    <a:p>
                      <a:pPr indent="0" lvl="0" marL="0" rtl="0" algn="l">
                        <a:lnSpc>
                          <a:spcPct val="115000"/>
                        </a:lnSpc>
                        <a:spcBef>
                          <a:spcPts val="0"/>
                        </a:spcBef>
                        <a:spcAft>
                          <a:spcPts val="0"/>
                        </a:spcAft>
                        <a:buNone/>
                      </a:pPr>
                      <a:r>
                        <a:rPr b="1" lang="en-US" sz="1650">
                          <a:latin typeface="Poppins"/>
                          <a:ea typeface="Poppins"/>
                          <a:cs typeface="Poppins"/>
                          <a:sym typeface="Poppins"/>
                        </a:rPr>
                        <a:t>Macro Avg</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50">
                          <a:latin typeface="Poppins"/>
                          <a:ea typeface="Poppins"/>
                          <a:cs typeface="Poppins"/>
                          <a:sym typeface="Poppins"/>
                        </a:rPr>
                        <a:t>0.52</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50">
                          <a:latin typeface="Poppins"/>
                          <a:ea typeface="Poppins"/>
                          <a:cs typeface="Poppins"/>
                          <a:sym typeface="Poppins"/>
                        </a:rPr>
                        <a:t>0.45</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50">
                          <a:latin typeface="Poppins"/>
                          <a:ea typeface="Poppins"/>
                          <a:cs typeface="Poppins"/>
                          <a:sym typeface="Poppins"/>
                        </a:rPr>
                        <a:t>—</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50">
                          <a:latin typeface="Poppins"/>
                          <a:ea typeface="Poppins"/>
                          <a:cs typeface="Poppins"/>
                          <a:sym typeface="Poppins"/>
                        </a:rPr>
                        <a:t>0.45</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50">
                          <a:latin typeface="Poppins"/>
                          <a:ea typeface="Poppins"/>
                          <a:cs typeface="Poppins"/>
                          <a:sym typeface="Poppins"/>
                        </a:rPr>
                        <a:t>42</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07650">
                <a:tc>
                  <a:txBody>
                    <a:bodyPr/>
                    <a:lstStyle/>
                    <a:p>
                      <a:pPr indent="0" lvl="0" marL="0" rtl="0" algn="l">
                        <a:lnSpc>
                          <a:spcPct val="115000"/>
                        </a:lnSpc>
                        <a:spcBef>
                          <a:spcPts val="0"/>
                        </a:spcBef>
                        <a:spcAft>
                          <a:spcPts val="0"/>
                        </a:spcAft>
                        <a:buNone/>
                      </a:pPr>
                      <a:r>
                        <a:rPr b="1" lang="en-US" sz="1650">
                          <a:latin typeface="Poppins"/>
                          <a:ea typeface="Poppins"/>
                          <a:cs typeface="Poppins"/>
                          <a:sym typeface="Poppins"/>
                        </a:rPr>
                        <a:t>Weighted Avg</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50">
                          <a:latin typeface="Poppins"/>
                          <a:ea typeface="Poppins"/>
                          <a:cs typeface="Poppins"/>
                          <a:sym typeface="Poppins"/>
                        </a:rPr>
                        <a:t>0.57</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50">
                          <a:latin typeface="Poppins"/>
                          <a:ea typeface="Poppins"/>
                          <a:cs typeface="Poppins"/>
                          <a:sym typeface="Poppins"/>
                        </a:rPr>
                        <a:t>0.60</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50">
                          <a:latin typeface="Poppins"/>
                          <a:ea typeface="Poppins"/>
                          <a:cs typeface="Poppins"/>
                          <a:sym typeface="Poppins"/>
                        </a:rPr>
                        <a:t>—</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50">
                          <a:latin typeface="Poppins"/>
                          <a:ea typeface="Poppins"/>
                          <a:cs typeface="Poppins"/>
                          <a:sym typeface="Poppins"/>
                        </a:rPr>
                        <a:t>0.56</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50">
                          <a:latin typeface="Poppins"/>
                          <a:ea typeface="Poppins"/>
                          <a:cs typeface="Poppins"/>
                          <a:sym typeface="Poppins"/>
                        </a:rPr>
                        <a:t>42</a:t>
                      </a:r>
                      <a:endParaRPr sz="1650">
                        <a:latin typeface="Poppins"/>
                        <a:ea typeface="Poppins"/>
                        <a:cs typeface="Poppins"/>
                        <a:sym typeface="Poppi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294" name="Google Shape;294;g30504478cd7_0_212"/>
          <p:cNvSpPr txBox="1"/>
          <p:nvPr/>
        </p:nvSpPr>
        <p:spPr>
          <a:xfrm>
            <a:off x="4186518" y="1699575"/>
            <a:ext cx="7957800" cy="72300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lang="en-US" sz="4698">
                <a:solidFill>
                  <a:srgbClr val="593C8F"/>
                </a:solidFill>
                <a:latin typeface="League Spartan"/>
                <a:ea typeface="League Spartan"/>
                <a:cs typeface="League Spartan"/>
                <a:sym typeface="League Spartan"/>
              </a:rPr>
              <a:t>Results - Performance Metrics</a:t>
            </a:r>
            <a:endParaRPr sz="18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g30504478cd7_0_23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0309" r="-20309" t="0"/>
            </a:stretch>
          </a:blipFill>
          <a:ln>
            <a:noFill/>
          </a:ln>
        </p:spPr>
      </p:sp>
      <p:sp>
        <p:nvSpPr>
          <p:cNvPr id="300" name="Google Shape;300;g30504478cd7_0_230"/>
          <p:cNvSpPr txBox="1"/>
          <p:nvPr/>
        </p:nvSpPr>
        <p:spPr>
          <a:xfrm>
            <a:off x="4186517" y="1699575"/>
            <a:ext cx="8447400" cy="72300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lang="en-US" sz="4698">
                <a:solidFill>
                  <a:srgbClr val="593C8F"/>
                </a:solidFill>
                <a:latin typeface="League Spartan"/>
                <a:ea typeface="League Spartan"/>
                <a:cs typeface="League Spartan"/>
                <a:sym typeface="League Spartan"/>
              </a:rPr>
              <a:t>Results - Confusion Matrix</a:t>
            </a:r>
            <a:endParaRPr sz="1800"/>
          </a:p>
        </p:txBody>
      </p:sp>
      <p:cxnSp>
        <p:nvCxnSpPr>
          <p:cNvPr id="301" name="Google Shape;301;g30504478cd7_0_230"/>
          <p:cNvCxnSpPr/>
          <p:nvPr/>
        </p:nvCxnSpPr>
        <p:spPr>
          <a:xfrm>
            <a:off x="4187609" y="2542074"/>
            <a:ext cx="2618700" cy="0"/>
          </a:xfrm>
          <a:prstGeom prst="straightConnector1">
            <a:avLst/>
          </a:prstGeom>
          <a:noFill/>
          <a:ln cap="flat" cmpd="sng" w="38100">
            <a:solidFill>
              <a:srgbClr val="000000"/>
            </a:solidFill>
            <a:prstDash val="solid"/>
            <a:round/>
            <a:headEnd len="sm" w="sm" type="none"/>
            <a:tailEnd len="sm" w="sm" type="none"/>
          </a:ln>
        </p:spPr>
      </p:cxnSp>
      <p:grpSp>
        <p:nvGrpSpPr>
          <p:cNvPr id="302" name="Google Shape;302;g30504478cd7_0_230"/>
          <p:cNvGrpSpPr/>
          <p:nvPr/>
        </p:nvGrpSpPr>
        <p:grpSpPr>
          <a:xfrm>
            <a:off x="0" y="-180827"/>
            <a:ext cx="3086120" cy="10468053"/>
            <a:chOff x="0" y="-47625"/>
            <a:chExt cx="812800" cy="2757000"/>
          </a:xfrm>
        </p:grpSpPr>
        <p:sp>
          <p:nvSpPr>
            <p:cNvPr id="303" name="Google Shape;303;g30504478cd7_0_230"/>
            <p:cNvSpPr/>
            <p:nvPr/>
          </p:nvSpPr>
          <p:spPr>
            <a:xfrm>
              <a:off x="0" y="0"/>
              <a:ext cx="812800" cy="2709333"/>
            </a:xfrm>
            <a:custGeom>
              <a:rect b="b" l="l" r="r" t="t"/>
              <a:pathLst>
                <a:path extrusionOk="0" h="2709333" w="812800">
                  <a:moveTo>
                    <a:pt x="0" y="0"/>
                  </a:moveTo>
                  <a:lnTo>
                    <a:pt x="812800" y="0"/>
                  </a:lnTo>
                  <a:lnTo>
                    <a:pt x="812800" y="2709333"/>
                  </a:lnTo>
                  <a:lnTo>
                    <a:pt x="0" y="2709333"/>
                  </a:lnTo>
                  <a:close/>
                </a:path>
              </a:pathLst>
            </a:custGeom>
            <a:solidFill>
              <a:srgbClr val="593C8F"/>
            </a:solidFill>
            <a:ln>
              <a:noFill/>
            </a:ln>
          </p:spPr>
        </p:sp>
        <p:sp>
          <p:nvSpPr>
            <p:cNvPr id="304" name="Google Shape;304;g30504478cd7_0_230"/>
            <p:cNvSpPr txBox="1"/>
            <p:nvPr/>
          </p:nvSpPr>
          <p:spPr>
            <a:xfrm>
              <a:off x="0" y="-47625"/>
              <a:ext cx="812700" cy="2757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5" name="Google Shape;305;g30504478cd7_0_230"/>
          <p:cNvSpPr txBox="1"/>
          <p:nvPr/>
        </p:nvSpPr>
        <p:spPr>
          <a:xfrm>
            <a:off x="4151902" y="2973500"/>
            <a:ext cx="10029900" cy="623100"/>
          </a:xfrm>
          <a:prstGeom prst="rect">
            <a:avLst/>
          </a:prstGeom>
          <a:noFill/>
          <a:ln>
            <a:noFill/>
          </a:ln>
        </p:spPr>
        <p:txBody>
          <a:bodyPr anchorCtr="0" anchor="t" bIns="0" lIns="0" spcFirstLastPara="1" rIns="0" wrap="square" tIns="0">
            <a:spAutoFit/>
          </a:bodyPr>
          <a:lstStyle/>
          <a:p>
            <a:pPr indent="0" lvl="0" marL="0" marR="0" rtl="0" algn="l">
              <a:lnSpc>
                <a:spcPct val="140045"/>
              </a:lnSpc>
              <a:spcBef>
                <a:spcPts val="0"/>
              </a:spcBef>
              <a:spcAft>
                <a:spcPts val="0"/>
              </a:spcAft>
              <a:buNone/>
            </a:pPr>
            <a:r>
              <a:rPr b="1" lang="en-US" sz="4000">
                <a:latin typeface="Poppins"/>
                <a:ea typeface="Poppins"/>
                <a:cs typeface="Poppins"/>
                <a:sym typeface="Poppins"/>
              </a:rPr>
              <a:t>Additional Step: </a:t>
            </a:r>
            <a:r>
              <a:rPr lang="en-US" sz="4048">
                <a:solidFill>
                  <a:schemeClr val="dk1"/>
                </a:solidFill>
                <a:latin typeface="Poppins"/>
                <a:ea typeface="Poppins"/>
                <a:cs typeface="Poppins"/>
                <a:sym typeface="Poppins"/>
              </a:rPr>
              <a:t>Combined Dataset</a:t>
            </a:r>
            <a:endParaRPr b="1" sz="4000"/>
          </a:p>
        </p:txBody>
      </p:sp>
      <p:pic>
        <p:nvPicPr>
          <p:cNvPr id="306" name="Google Shape;306;g30504478cd7_0_230"/>
          <p:cNvPicPr preferRelativeResize="0"/>
          <p:nvPr/>
        </p:nvPicPr>
        <p:blipFill>
          <a:blip r:embed="rId4">
            <a:alphaModFix/>
          </a:blip>
          <a:stretch>
            <a:fillRect/>
          </a:stretch>
        </p:blipFill>
        <p:spPr>
          <a:xfrm>
            <a:off x="10909600" y="4028025"/>
            <a:ext cx="6921200" cy="5806250"/>
          </a:xfrm>
          <a:prstGeom prst="rect">
            <a:avLst/>
          </a:prstGeom>
          <a:noFill/>
          <a:ln>
            <a:noFill/>
          </a:ln>
        </p:spPr>
      </p:pic>
      <p:sp>
        <p:nvSpPr>
          <p:cNvPr id="307" name="Google Shape;307;g30504478cd7_0_230"/>
          <p:cNvSpPr txBox="1"/>
          <p:nvPr/>
        </p:nvSpPr>
        <p:spPr>
          <a:xfrm>
            <a:off x="4046625" y="4028025"/>
            <a:ext cx="6921300" cy="6133200"/>
          </a:xfrm>
          <a:prstGeom prst="rect">
            <a:avLst/>
          </a:prstGeom>
          <a:noFill/>
          <a:ln>
            <a:noFill/>
          </a:ln>
        </p:spPr>
        <p:txBody>
          <a:bodyPr anchorCtr="0" anchor="t" bIns="91425" lIns="91425" spcFirstLastPara="1" rIns="91425" wrap="square" tIns="91425">
            <a:spAutoFit/>
          </a:bodyPr>
          <a:lstStyle/>
          <a:p>
            <a:pPr indent="-400050" lvl="0" marL="457200" rtl="0" algn="l">
              <a:lnSpc>
                <a:spcPct val="115000"/>
              </a:lnSpc>
              <a:spcBef>
                <a:spcPts val="3200"/>
              </a:spcBef>
              <a:spcAft>
                <a:spcPts val="0"/>
              </a:spcAft>
              <a:buClr>
                <a:schemeClr val="dk1"/>
              </a:buClr>
              <a:buSzPts val="2700"/>
              <a:buChar char="●"/>
            </a:pPr>
            <a:r>
              <a:rPr b="1" lang="en-US" sz="2700">
                <a:solidFill>
                  <a:schemeClr val="dk1"/>
                </a:solidFill>
                <a:latin typeface="Poppins"/>
                <a:ea typeface="Poppins"/>
                <a:cs typeface="Poppins"/>
                <a:sym typeface="Poppins"/>
              </a:rPr>
              <a:t>GBM </a:t>
            </a:r>
            <a:r>
              <a:rPr lang="en-US" sz="2700">
                <a:solidFill>
                  <a:schemeClr val="dk1"/>
                </a:solidFill>
                <a:latin typeface="Poppins"/>
                <a:ea typeface="Poppins"/>
                <a:cs typeface="Poppins"/>
                <a:sym typeface="Poppins"/>
              </a:rPr>
              <a:t>was the </a:t>
            </a:r>
            <a:r>
              <a:rPr b="1" lang="en-US" sz="2700">
                <a:solidFill>
                  <a:schemeClr val="dk1"/>
                </a:solidFill>
                <a:latin typeface="Poppins"/>
                <a:ea typeface="Poppins"/>
                <a:cs typeface="Poppins"/>
                <a:sym typeface="Poppins"/>
              </a:rPr>
              <a:t>most accurately predicted</a:t>
            </a:r>
            <a:r>
              <a:rPr lang="en-US" sz="2700">
                <a:solidFill>
                  <a:schemeClr val="dk1"/>
                </a:solidFill>
                <a:latin typeface="Poppins"/>
                <a:ea typeface="Poppins"/>
                <a:cs typeface="Poppins"/>
                <a:sym typeface="Poppins"/>
              </a:rPr>
              <a:t> class (20 out of 24 cases correctly identified)</a:t>
            </a:r>
            <a:endParaRPr sz="2700">
              <a:solidFill>
                <a:schemeClr val="dk1"/>
              </a:solidFill>
              <a:latin typeface="Poppins"/>
              <a:ea typeface="Poppins"/>
              <a:cs typeface="Poppins"/>
              <a:sym typeface="Poppins"/>
            </a:endParaRPr>
          </a:p>
          <a:p>
            <a:pPr indent="-400050" lvl="0" marL="457200" rtl="0" algn="l">
              <a:lnSpc>
                <a:spcPct val="115000"/>
              </a:lnSpc>
              <a:spcBef>
                <a:spcPts val="3200"/>
              </a:spcBef>
              <a:spcAft>
                <a:spcPts val="0"/>
              </a:spcAft>
              <a:buClr>
                <a:schemeClr val="dk1"/>
              </a:buClr>
              <a:buSzPts val="2700"/>
              <a:buChar char="●"/>
            </a:pPr>
            <a:r>
              <a:rPr b="1" lang="en-US" sz="2700">
                <a:solidFill>
                  <a:schemeClr val="dk1"/>
                </a:solidFill>
                <a:latin typeface="Poppins"/>
                <a:ea typeface="Poppins"/>
                <a:cs typeface="Poppins"/>
                <a:sym typeface="Poppins"/>
              </a:rPr>
              <a:t>Oligodendroglioma </a:t>
            </a:r>
            <a:r>
              <a:rPr lang="en-US" sz="2700">
                <a:solidFill>
                  <a:schemeClr val="dk1"/>
                </a:solidFill>
                <a:latin typeface="Poppins"/>
                <a:ea typeface="Poppins"/>
                <a:cs typeface="Poppins"/>
                <a:sym typeface="Poppins"/>
              </a:rPr>
              <a:t>showed the </a:t>
            </a:r>
            <a:r>
              <a:rPr b="1" lang="en-US" sz="2700">
                <a:solidFill>
                  <a:schemeClr val="dk1"/>
                </a:solidFill>
                <a:latin typeface="Poppins"/>
                <a:ea typeface="Poppins"/>
                <a:cs typeface="Poppins"/>
                <a:sym typeface="Poppins"/>
              </a:rPr>
              <a:t>highest misclassification rate </a:t>
            </a:r>
            <a:endParaRPr sz="2700">
              <a:solidFill>
                <a:schemeClr val="dk1"/>
              </a:solidFill>
              <a:latin typeface="Poppins"/>
              <a:ea typeface="Poppins"/>
              <a:cs typeface="Poppins"/>
              <a:sym typeface="Poppins"/>
            </a:endParaRPr>
          </a:p>
          <a:p>
            <a:pPr indent="-400050" lvl="0" marL="457200" rtl="0" algn="l">
              <a:lnSpc>
                <a:spcPct val="115000"/>
              </a:lnSpc>
              <a:spcBef>
                <a:spcPts val="3200"/>
              </a:spcBef>
              <a:spcAft>
                <a:spcPts val="0"/>
              </a:spcAft>
              <a:buClr>
                <a:schemeClr val="dk1"/>
              </a:buClr>
              <a:buSzPts val="2700"/>
              <a:buFont typeface="Poppins"/>
              <a:buChar char="●"/>
            </a:pPr>
            <a:r>
              <a:rPr lang="en-US" sz="2700">
                <a:solidFill>
                  <a:schemeClr val="dk1"/>
                </a:solidFill>
                <a:latin typeface="Poppins"/>
                <a:ea typeface="Poppins"/>
                <a:cs typeface="Poppins"/>
                <a:sym typeface="Poppins"/>
              </a:rPr>
              <a:t> Astrocytoma and Oligodendroglioma often misclassified as GBM</a:t>
            </a:r>
            <a:endParaRPr sz="2700">
              <a:solidFill>
                <a:schemeClr val="dk1"/>
              </a:solidFill>
              <a:latin typeface="Poppins"/>
              <a:ea typeface="Poppins"/>
              <a:cs typeface="Poppins"/>
              <a:sym typeface="Poppins"/>
            </a:endParaRPr>
          </a:p>
          <a:p>
            <a:pPr indent="-400050" lvl="0" marL="457200" rtl="0" algn="l">
              <a:lnSpc>
                <a:spcPct val="115000"/>
              </a:lnSpc>
              <a:spcBef>
                <a:spcPts val="3200"/>
              </a:spcBef>
              <a:spcAft>
                <a:spcPts val="0"/>
              </a:spcAft>
              <a:buClr>
                <a:schemeClr val="dk1"/>
              </a:buClr>
              <a:buSzPts val="2700"/>
              <a:buChar char="●"/>
            </a:pPr>
            <a:r>
              <a:rPr lang="en-US" sz="2700">
                <a:solidFill>
                  <a:schemeClr val="dk1"/>
                </a:solidFill>
                <a:latin typeface="Poppins"/>
                <a:ea typeface="Poppins"/>
                <a:cs typeface="Poppins"/>
                <a:sym typeface="Poppins"/>
              </a:rPr>
              <a:t>Reflects </a:t>
            </a:r>
            <a:r>
              <a:rPr b="1" lang="en-US" sz="2700">
                <a:solidFill>
                  <a:schemeClr val="dk1"/>
                </a:solidFill>
                <a:latin typeface="Poppins"/>
                <a:ea typeface="Poppins"/>
                <a:cs typeface="Poppins"/>
                <a:sym typeface="Poppins"/>
              </a:rPr>
              <a:t>class imbalance</a:t>
            </a:r>
            <a:r>
              <a:rPr lang="en-US" sz="2700">
                <a:solidFill>
                  <a:schemeClr val="dk1"/>
                </a:solidFill>
                <a:latin typeface="Poppins"/>
                <a:ea typeface="Poppins"/>
                <a:cs typeface="Poppins"/>
                <a:sym typeface="Poppins"/>
              </a:rPr>
              <a:t> and overlapping radiomic signatures</a:t>
            </a:r>
            <a:endParaRPr sz="2700">
              <a:solidFill>
                <a:schemeClr val="dk1"/>
              </a:solidFill>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g30504478cd7_0_25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0309" r="-20309" t="0"/>
            </a:stretch>
          </a:blipFill>
          <a:ln>
            <a:noFill/>
          </a:ln>
        </p:spPr>
      </p:sp>
      <p:sp>
        <p:nvSpPr>
          <p:cNvPr id="313" name="Google Shape;313;g30504478cd7_0_251"/>
          <p:cNvSpPr txBox="1"/>
          <p:nvPr/>
        </p:nvSpPr>
        <p:spPr>
          <a:xfrm>
            <a:off x="4186517" y="1699575"/>
            <a:ext cx="8447400" cy="72300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lang="en-US" sz="4698">
                <a:solidFill>
                  <a:srgbClr val="593C8F"/>
                </a:solidFill>
                <a:latin typeface="League Spartan"/>
                <a:ea typeface="League Spartan"/>
                <a:cs typeface="League Spartan"/>
                <a:sym typeface="League Spartan"/>
              </a:rPr>
              <a:t>Results - </a:t>
            </a:r>
            <a:r>
              <a:rPr lang="en-US" sz="4698">
                <a:solidFill>
                  <a:srgbClr val="593C8F"/>
                </a:solidFill>
                <a:latin typeface="League Spartan"/>
                <a:ea typeface="League Spartan"/>
                <a:cs typeface="League Spartan"/>
                <a:sym typeface="League Spartan"/>
              </a:rPr>
              <a:t>ROC Curve</a:t>
            </a:r>
            <a:endParaRPr sz="1800"/>
          </a:p>
        </p:txBody>
      </p:sp>
      <p:cxnSp>
        <p:nvCxnSpPr>
          <p:cNvPr id="314" name="Google Shape;314;g30504478cd7_0_251"/>
          <p:cNvCxnSpPr/>
          <p:nvPr/>
        </p:nvCxnSpPr>
        <p:spPr>
          <a:xfrm>
            <a:off x="4187609" y="2542074"/>
            <a:ext cx="2618700" cy="0"/>
          </a:xfrm>
          <a:prstGeom prst="straightConnector1">
            <a:avLst/>
          </a:prstGeom>
          <a:noFill/>
          <a:ln cap="flat" cmpd="sng" w="38100">
            <a:solidFill>
              <a:srgbClr val="000000"/>
            </a:solidFill>
            <a:prstDash val="solid"/>
            <a:round/>
            <a:headEnd len="sm" w="sm" type="none"/>
            <a:tailEnd len="sm" w="sm" type="none"/>
          </a:ln>
        </p:spPr>
      </p:cxnSp>
      <p:grpSp>
        <p:nvGrpSpPr>
          <p:cNvPr id="315" name="Google Shape;315;g30504478cd7_0_251"/>
          <p:cNvGrpSpPr/>
          <p:nvPr/>
        </p:nvGrpSpPr>
        <p:grpSpPr>
          <a:xfrm>
            <a:off x="0" y="-180827"/>
            <a:ext cx="3086120" cy="10468053"/>
            <a:chOff x="0" y="-47625"/>
            <a:chExt cx="812800" cy="2757000"/>
          </a:xfrm>
        </p:grpSpPr>
        <p:sp>
          <p:nvSpPr>
            <p:cNvPr id="316" name="Google Shape;316;g30504478cd7_0_251"/>
            <p:cNvSpPr/>
            <p:nvPr/>
          </p:nvSpPr>
          <p:spPr>
            <a:xfrm>
              <a:off x="0" y="0"/>
              <a:ext cx="812800" cy="2709333"/>
            </a:xfrm>
            <a:custGeom>
              <a:rect b="b" l="l" r="r" t="t"/>
              <a:pathLst>
                <a:path extrusionOk="0" h="2709333" w="812800">
                  <a:moveTo>
                    <a:pt x="0" y="0"/>
                  </a:moveTo>
                  <a:lnTo>
                    <a:pt x="812800" y="0"/>
                  </a:lnTo>
                  <a:lnTo>
                    <a:pt x="812800" y="2709333"/>
                  </a:lnTo>
                  <a:lnTo>
                    <a:pt x="0" y="2709333"/>
                  </a:lnTo>
                  <a:close/>
                </a:path>
              </a:pathLst>
            </a:custGeom>
            <a:solidFill>
              <a:srgbClr val="593C8F"/>
            </a:solidFill>
            <a:ln>
              <a:noFill/>
            </a:ln>
          </p:spPr>
        </p:sp>
        <p:sp>
          <p:nvSpPr>
            <p:cNvPr id="317" name="Google Shape;317;g30504478cd7_0_251"/>
            <p:cNvSpPr txBox="1"/>
            <p:nvPr/>
          </p:nvSpPr>
          <p:spPr>
            <a:xfrm>
              <a:off x="0" y="-47625"/>
              <a:ext cx="812700" cy="2757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8" name="Google Shape;318;g30504478cd7_0_251"/>
          <p:cNvSpPr txBox="1"/>
          <p:nvPr/>
        </p:nvSpPr>
        <p:spPr>
          <a:xfrm>
            <a:off x="4151902" y="2973500"/>
            <a:ext cx="10029900" cy="623100"/>
          </a:xfrm>
          <a:prstGeom prst="rect">
            <a:avLst/>
          </a:prstGeom>
          <a:noFill/>
          <a:ln>
            <a:noFill/>
          </a:ln>
        </p:spPr>
        <p:txBody>
          <a:bodyPr anchorCtr="0" anchor="t" bIns="0" lIns="0" spcFirstLastPara="1" rIns="0" wrap="square" tIns="0">
            <a:spAutoFit/>
          </a:bodyPr>
          <a:lstStyle/>
          <a:p>
            <a:pPr indent="0" lvl="0" marL="0" marR="0" rtl="0" algn="l">
              <a:lnSpc>
                <a:spcPct val="140045"/>
              </a:lnSpc>
              <a:spcBef>
                <a:spcPts val="0"/>
              </a:spcBef>
              <a:spcAft>
                <a:spcPts val="0"/>
              </a:spcAft>
              <a:buNone/>
            </a:pPr>
            <a:r>
              <a:rPr b="1" lang="en-US" sz="4000">
                <a:latin typeface="Poppins"/>
                <a:ea typeface="Poppins"/>
                <a:cs typeface="Poppins"/>
                <a:sym typeface="Poppins"/>
              </a:rPr>
              <a:t>Additional Step: </a:t>
            </a:r>
            <a:r>
              <a:rPr lang="en-US" sz="4048">
                <a:solidFill>
                  <a:schemeClr val="dk1"/>
                </a:solidFill>
                <a:latin typeface="Poppins"/>
                <a:ea typeface="Poppins"/>
                <a:cs typeface="Poppins"/>
                <a:sym typeface="Poppins"/>
              </a:rPr>
              <a:t>Combined Dataset</a:t>
            </a:r>
            <a:endParaRPr b="1" sz="4000"/>
          </a:p>
        </p:txBody>
      </p:sp>
      <p:sp>
        <p:nvSpPr>
          <p:cNvPr id="319" name="Google Shape;319;g30504478cd7_0_251"/>
          <p:cNvSpPr txBox="1"/>
          <p:nvPr/>
        </p:nvSpPr>
        <p:spPr>
          <a:xfrm>
            <a:off x="4046625" y="4028025"/>
            <a:ext cx="6921300" cy="3810900"/>
          </a:xfrm>
          <a:prstGeom prst="rect">
            <a:avLst/>
          </a:prstGeom>
          <a:noFill/>
          <a:ln>
            <a:noFill/>
          </a:ln>
        </p:spPr>
        <p:txBody>
          <a:bodyPr anchorCtr="0" anchor="t" bIns="91425" lIns="91425" spcFirstLastPara="1" rIns="91425" wrap="square" tIns="91425">
            <a:spAutoFit/>
          </a:bodyPr>
          <a:lstStyle/>
          <a:p>
            <a:pPr indent="-400050" lvl="0" marL="457200" rtl="0" algn="l">
              <a:lnSpc>
                <a:spcPct val="115000"/>
              </a:lnSpc>
              <a:spcBef>
                <a:spcPts val="3200"/>
              </a:spcBef>
              <a:spcAft>
                <a:spcPts val="0"/>
              </a:spcAft>
              <a:buClr>
                <a:schemeClr val="dk1"/>
              </a:buClr>
              <a:buSzPts val="2700"/>
              <a:buChar char="●"/>
            </a:pPr>
            <a:r>
              <a:rPr b="1" lang="en-US" sz="2700">
                <a:solidFill>
                  <a:schemeClr val="dk1"/>
                </a:solidFill>
                <a:latin typeface="Poppins"/>
                <a:ea typeface="Poppins"/>
                <a:cs typeface="Poppins"/>
                <a:sym typeface="Poppins"/>
              </a:rPr>
              <a:t>GBM</a:t>
            </a:r>
            <a:r>
              <a:rPr lang="en-US" sz="2700">
                <a:solidFill>
                  <a:schemeClr val="dk1"/>
                </a:solidFill>
                <a:latin typeface="Poppins"/>
                <a:ea typeface="Poppins"/>
                <a:cs typeface="Poppins"/>
                <a:sym typeface="Poppins"/>
              </a:rPr>
              <a:t> achieved the </a:t>
            </a:r>
            <a:r>
              <a:rPr b="1" lang="en-US" sz="2700">
                <a:solidFill>
                  <a:schemeClr val="dk1"/>
                </a:solidFill>
                <a:latin typeface="Poppins"/>
                <a:ea typeface="Poppins"/>
                <a:cs typeface="Poppins"/>
                <a:sym typeface="Poppins"/>
              </a:rPr>
              <a:t>highest </a:t>
            </a:r>
            <a:r>
              <a:rPr lang="en-US" sz="2700">
                <a:solidFill>
                  <a:schemeClr val="dk1"/>
                </a:solidFill>
                <a:latin typeface="Poppins"/>
                <a:ea typeface="Poppins"/>
                <a:cs typeface="Poppins"/>
                <a:sym typeface="Poppins"/>
              </a:rPr>
              <a:t>AUC: 0.82</a:t>
            </a:r>
            <a:endParaRPr sz="2700">
              <a:solidFill>
                <a:schemeClr val="dk1"/>
              </a:solidFill>
              <a:latin typeface="Poppins"/>
              <a:ea typeface="Poppins"/>
              <a:cs typeface="Poppins"/>
              <a:sym typeface="Poppins"/>
            </a:endParaRPr>
          </a:p>
          <a:p>
            <a:pPr indent="-400050" lvl="0" marL="457200" rtl="0" algn="l">
              <a:lnSpc>
                <a:spcPct val="115000"/>
              </a:lnSpc>
              <a:spcBef>
                <a:spcPts val="3200"/>
              </a:spcBef>
              <a:spcAft>
                <a:spcPts val="0"/>
              </a:spcAft>
              <a:buClr>
                <a:schemeClr val="dk1"/>
              </a:buClr>
              <a:buSzPts val="2700"/>
              <a:buChar char="●"/>
            </a:pPr>
            <a:r>
              <a:rPr b="1" lang="en-US" sz="2700">
                <a:solidFill>
                  <a:schemeClr val="dk1"/>
                </a:solidFill>
                <a:latin typeface="Poppins"/>
                <a:ea typeface="Poppins"/>
                <a:cs typeface="Poppins"/>
                <a:sym typeface="Poppins"/>
              </a:rPr>
              <a:t>Astrocytoma AUC: 0.70 </a:t>
            </a:r>
            <a:r>
              <a:rPr lang="en-US" sz="2700">
                <a:solidFill>
                  <a:schemeClr val="dk1"/>
                </a:solidFill>
                <a:latin typeface="Poppins"/>
                <a:ea typeface="Poppins"/>
                <a:cs typeface="Poppins"/>
                <a:sym typeface="Poppins"/>
              </a:rPr>
              <a:t>(Moderate discriminative ability)</a:t>
            </a:r>
            <a:endParaRPr sz="2700">
              <a:solidFill>
                <a:schemeClr val="dk1"/>
              </a:solidFill>
              <a:latin typeface="Poppins"/>
              <a:ea typeface="Poppins"/>
              <a:cs typeface="Poppins"/>
              <a:sym typeface="Poppins"/>
            </a:endParaRPr>
          </a:p>
          <a:p>
            <a:pPr indent="-400050" lvl="0" marL="457200" rtl="0" algn="l">
              <a:lnSpc>
                <a:spcPct val="115000"/>
              </a:lnSpc>
              <a:spcBef>
                <a:spcPts val="3200"/>
              </a:spcBef>
              <a:spcAft>
                <a:spcPts val="0"/>
              </a:spcAft>
              <a:buClr>
                <a:schemeClr val="dk1"/>
              </a:buClr>
              <a:buSzPts val="2700"/>
              <a:buFont typeface="Poppins"/>
              <a:buChar char="●"/>
            </a:pPr>
            <a:r>
              <a:rPr lang="en-US" sz="2700">
                <a:solidFill>
                  <a:schemeClr val="dk1"/>
                </a:solidFill>
                <a:latin typeface="Poppins"/>
                <a:ea typeface="Poppins"/>
                <a:cs typeface="Poppins"/>
                <a:sym typeface="Poppins"/>
              </a:rPr>
              <a:t>Oligodendroglioma AUC: 0.64 (Despite poor F1 score, model ranked cases fairly well</a:t>
            </a:r>
            <a:r>
              <a:rPr lang="en-US" sz="2700">
                <a:solidFill>
                  <a:schemeClr val="dk1"/>
                </a:solidFill>
                <a:latin typeface="Poppins"/>
                <a:ea typeface="Poppins"/>
                <a:cs typeface="Poppins"/>
                <a:sym typeface="Poppins"/>
              </a:rPr>
              <a:t>)</a:t>
            </a:r>
            <a:endParaRPr sz="2700">
              <a:solidFill>
                <a:schemeClr val="dk1"/>
              </a:solidFill>
              <a:latin typeface="Poppins"/>
              <a:ea typeface="Poppins"/>
              <a:cs typeface="Poppins"/>
              <a:sym typeface="Poppins"/>
            </a:endParaRPr>
          </a:p>
        </p:txBody>
      </p:sp>
      <p:pic>
        <p:nvPicPr>
          <p:cNvPr id="320" name="Google Shape;320;g30504478cd7_0_251"/>
          <p:cNvPicPr preferRelativeResize="0"/>
          <p:nvPr/>
        </p:nvPicPr>
        <p:blipFill>
          <a:blip r:embed="rId4">
            <a:alphaModFix/>
          </a:blip>
          <a:stretch>
            <a:fillRect/>
          </a:stretch>
        </p:blipFill>
        <p:spPr>
          <a:xfrm>
            <a:off x="11400550" y="4283600"/>
            <a:ext cx="6555250" cy="49044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g30504478cd7_1_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0309" r="-20309" t="0"/>
            </a:stretch>
          </a:blipFill>
          <a:ln>
            <a:noFill/>
          </a:ln>
        </p:spPr>
      </p:sp>
      <p:sp>
        <p:nvSpPr>
          <p:cNvPr id="326" name="Google Shape;326;g30504478cd7_1_0"/>
          <p:cNvSpPr txBox="1"/>
          <p:nvPr/>
        </p:nvSpPr>
        <p:spPr>
          <a:xfrm>
            <a:off x="4186518" y="1699575"/>
            <a:ext cx="7957800" cy="72300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lang="en-US" sz="4698">
                <a:solidFill>
                  <a:srgbClr val="593C8F"/>
                </a:solidFill>
                <a:latin typeface="League Spartan"/>
                <a:ea typeface="League Spartan"/>
                <a:cs typeface="League Spartan"/>
                <a:sym typeface="League Spartan"/>
              </a:rPr>
              <a:t>Results - Feature Importances</a:t>
            </a:r>
            <a:endParaRPr sz="1800"/>
          </a:p>
        </p:txBody>
      </p:sp>
      <p:cxnSp>
        <p:nvCxnSpPr>
          <p:cNvPr id="327" name="Google Shape;327;g30504478cd7_1_0"/>
          <p:cNvCxnSpPr/>
          <p:nvPr/>
        </p:nvCxnSpPr>
        <p:spPr>
          <a:xfrm>
            <a:off x="4187609" y="2542074"/>
            <a:ext cx="2618700" cy="0"/>
          </a:xfrm>
          <a:prstGeom prst="straightConnector1">
            <a:avLst/>
          </a:prstGeom>
          <a:noFill/>
          <a:ln cap="flat" cmpd="sng" w="38100">
            <a:solidFill>
              <a:srgbClr val="000000"/>
            </a:solidFill>
            <a:prstDash val="solid"/>
            <a:round/>
            <a:headEnd len="sm" w="sm" type="none"/>
            <a:tailEnd len="sm" w="sm" type="none"/>
          </a:ln>
        </p:spPr>
      </p:cxnSp>
      <p:grpSp>
        <p:nvGrpSpPr>
          <p:cNvPr id="328" name="Google Shape;328;g30504478cd7_1_0"/>
          <p:cNvGrpSpPr/>
          <p:nvPr/>
        </p:nvGrpSpPr>
        <p:grpSpPr>
          <a:xfrm>
            <a:off x="0" y="-180827"/>
            <a:ext cx="3086120" cy="10468053"/>
            <a:chOff x="0" y="-47625"/>
            <a:chExt cx="812800" cy="2757000"/>
          </a:xfrm>
        </p:grpSpPr>
        <p:sp>
          <p:nvSpPr>
            <p:cNvPr id="329" name="Google Shape;329;g30504478cd7_1_0"/>
            <p:cNvSpPr/>
            <p:nvPr/>
          </p:nvSpPr>
          <p:spPr>
            <a:xfrm>
              <a:off x="0" y="0"/>
              <a:ext cx="812800" cy="2709333"/>
            </a:xfrm>
            <a:custGeom>
              <a:rect b="b" l="l" r="r" t="t"/>
              <a:pathLst>
                <a:path extrusionOk="0" h="2709333" w="812800">
                  <a:moveTo>
                    <a:pt x="0" y="0"/>
                  </a:moveTo>
                  <a:lnTo>
                    <a:pt x="812800" y="0"/>
                  </a:lnTo>
                  <a:lnTo>
                    <a:pt x="812800" y="2709333"/>
                  </a:lnTo>
                  <a:lnTo>
                    <a:pt x="0" y="2709333"/>
                  </a:lnTo>
                  <a:close/>
                </a:path>
              </a:pathLst>
            </a:custGeom>
            <a:solidFill>
              <a:srgbClr val="593C8F"/>
            </a:solidFill>
            <a:ln>
              <a:noFill/>
            </a:ln>
          </p:spPr>
        </p:sp>
        <p:sp>
          <p:nvSpPr>
            <p:cNvPr id="330" name="Google Shape;330;g30504478cd7_1_0"/>
            <p:cNvSpPr txBox="1"/>
            <p:nvPr/>
          </p:nvSpPr>
          <p:spPr>
            <a:xfrm>
              <a:off x="0" y="-47625"/>
              <a:ext cx="812700" cy="2757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31" name="Google Shape;331;g30504478cd7_1_0"/>
          <p:cNvSpPr txBox="1"/>
          <p:nvPr/>
        </p:nvSpPr>
        <p:spPr>
          <a:xfrm>
            <a:off x="4151900" y="2973500"/>
            <a:ext cx="13049400" cy="1477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b="1" lang="en-US" sz="4000">
                <a:latin typeface="Poppins"/>
                <a:ea typeface="Poppins"/>
                <a:cs typeface="Poppins"/>
                <a:sym typeface="Poppins"/>
              </a:rPr>
              <a:t>Top Predictive Features (TCGA Training Set)</a:t>
            </a:r>
            <a:endParaRPr b="1" sz="4000">
              <a:latin typeface="Poppins"/>
              <a:ea typeface="Poppins"/>
              <a:cs typeface="Poppins"/>
              <a:sym typeface="Poppins"/>
            </a:endParaRPr>
          </a:p>
          <a:p>
            <a:pPr indent="0" lvl="0" marL="0" marR="0" rtl="0" algn="l">
              <a:lnSpc>
                <a:spcPct val="140045"/>
              </a:lnSpc>
              <a:spcBef>
                <a:spcPts val="1200"/>
              </a:spcBef>
              <a:spcAft>
                <a:spcPts val="0"/>
              </a:spcAft>
              <a:buNone/>
            </a:pPr>
            <a:r>
              <a:t/>
            </a:r>
            <a:endParaRPr b="1" sz="4000">
              <a:latin typeface="Poppins"/>
              <a:ea typeface="Poppins"/>
              <a:cs typeface="Poppins"/>
              <a:sym typeface="Poppins"/>
            </a:endParaRPr>
          </a:p>
        </p:txBody>
      </p:sp>
      <p:sp>
        <p:nvSpPr>
          <p:cNvPr id="332" name="Google Shape;332;g30504478cd7_1_0"/>
          <p:cNvSpPr txBox="1"/>
          <p:nvPr/>
        </p:nvSpPr>
        <p:spPr>
          <a:xfrm>
            <a:off x="4076925" y="3756700"/>
            <a:ext cx="13495500" cy="6194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2900">
                <a:latin typeface="Poppins"/>
                <a:ea typeface="Poppins"/>
                <a:cs typeface="Poppins"/>
                <a:sym typeface="Poppins"/>
              </a:rPr>
              <a:t>GBM:</a:t>
            </a:r>
            <a:r>
              <a:rPr lang="en-US" sz="2900">
                <a:latin typeface="Poppins"/>
                <a:ea typeface="Poppins"/>
                <a:cs typeface="Poppins"/>
                <a:sym typeface="Poppins"/>
              </a:rPr>
              <a:t> Shape and texture features dominate</a:t>
            </a:r>
            <a:endParaRPr sz="2900">
              <a:latin typeface="Poppins"/>
              <a:ea typeface="Poppins"/>
              <a:cs typeface="Poppins"/>
              <a:sym typeface="Poppins"/>
            </a:endParaRPr>
          </a:p>
          <a:p>
            <a:pPr indent="-412750" lvl="0" marL="457200" rtl="0" algn="l">
              <a:lnSpc>
                <a:spcPct val="115000"/>
              </a:lnSpc>
              <a:spcBef>
                <a:spcPts val="1200"/>
              </a:spcBef>
              <a:spcAft>
                <a:spcPts val="0"/>
              </a:spcAft>
              <a:buClr>
                <a:schemeClr val="dk1"/>
              </a:buClr>
              <a:buSzPts val="2900"/>
              <a:buFont typeface="Poppins"/>
              <a:buChar char="●"/>
            </a:pPr>
            <a:r>
              <a:rPr lang="en-US" sz="2900">
                <a:solidFill>
                  <a:schemeClr val="dk1"/>
                </a:solidFill>
                <a:latin typeface="Poppins"/>
                <a:ea typeface="Poppins"/>
                <a:cs typeface="Poppins"/>
                <a:sym typeface="Poppins"/>
              </a:rPr>
              <a:t>Top features: </a:t>
            </a:r>
            <a:r>
              <a:rPr lang="en-US" sz="2900">
                <a:solidFill>
                  <a:srgbClr val="188038"/>
                </a:solidFill>
                <a:latin typeface="Poppins"/>
                <a:ea typeface="Poppins"/>
                <a:cs typeface="Poppins"/>
                <a:sym typeface="Poppins"/>
              </a:rPr>
              <a:t>SurfaceVolumeRatio, MeshVolume</a:t>
            </a:r>
            <a:endParaRPr sz="2900">
              <a:solidFill>
                <a:srgbClr val="188038"/>
              </a:solidFill>
              <a:latin typeface="Poppins"/>
              <a:ea typeface="Poppins"/>
              <a:cs typeface="Poppins"/>
              <a:sym typeface="Poppins"/>
            </a:endParaRPr>
          </a:p>
          <a:p>
            <a:pPr indent="0" lvl="0" marL="457200" rtl="0" algn="l">
              <a:lnSpc>
                <a:spcPct val="100000"/>
              </a:lnSpc>
              <a:spcBef>
                <a:spcPts val="1200"/>
              </a:spcBef>
              <a:spcAft>
                <a:spcPts val="0"/>
              </a:spcAft>
              <a:buNone/>
            </a:pPr>
            <a:r>
              <a:t/>
            </a:r>
            <a:endParaRPr sz="2900">
              <a:solidFill>
                <a:srgbClr val="188038"/>
              </a:solidFill>
              <a:latin typeface="Poppins"/>
              <a:ea typeface="Poppins"/>
              <a:cs typeface="Poppins"/>
              <a:sym typeface="Poppins"/>
            </a:endParaRPr>
          </a:p>
          <a:p>
            <a:pPr indent="0" lvl="0" marL="0" rtl="0" algn="l">
              <a:lnSpc>
                <a:spcPct val="115000"/>
              </a:lnSpc>
              <a:spcBef>
                <a:spcPts val="1200"/>
              </a:spcBef>
              <a:spcAft>
                <a:spcPts val="0"/>
              </a:spcAft>
              <a:buNone/>
            </a:pPr>
            <a:r>
              <a:rPr b="1" lang="en-US" sz="2900">
                <a:latin typeface="Poppins"/>
                <a:ea typeface="Poppins"/>
                <a:cs typeface="Poppins"/>
                <a:sym typeface="Poppins"/>
              </a:rPr>
              <a:t>Oligodendroglioma:</a:t>
            </a:r>
            <a:r>
              <a:rPr lang="en-US" sz="2900">
                <a:latin typeface="Poppins"/>
                <a:ea typeface="Poppins"/>
                <a:cs typeface="Poppins"/>
                <a:sym typeface="Poppins"/>
              </a:rPr>
              <a:t> Texture features indicating calcification patterns</a:t>
            </a:r>
            <a:endParaRPr sz="2900">
              <a:latin typeface="Poppins"/>
              <a:ea typeface="Poppins"/>
              <a:cs typeface="Poppins"/>
              <a:sym typeface="Poppins"/>
            </a:endParaRPr>
          </a:p>
          <a:p>
            <a:pPr indent="-412750" lvl="0" marL="457200" rtl="0" algn="l">
              <a:lnSpc>
                <a:spcPct val="115000"/>
              </a:lnSpc>
              <a:spcBef>
                <a:spcPts val="1200"/>
              </a:spcBef>
              <a:spcAft>
                <a:spcPts val="0"/>
              </a:spcAft>
              <a:buClr>
                <a:schemeClr val="dk1"/>
              </a:buClr>
              <a:buSzPts val="2900"/>
              <a:buFont typeface="Poppins"/>
              <a:buChar char="●"/>
            </a:pPr>
            <a:r>
              <a:rPr lang="en-US" sz="2900">
                <a:solidFill>
                  <a:schemeClr val="dk1"/>
                </a:solidFill>
                <a:latin typeface="Poppins"/>
                <a:ea typeface="Poppins"/>
                <a:cs typeface="Poppins"/>
                <a:sym typeface="Poppins"/>
              </a:rPr>
              <a:t>Top features: </a:t>
            </a:r>
            <a:r>
              <a:rPr lang="en-US" sz="2900">
                <a:solidFill>
                  <a:srgbClr val="188038"/>
                </a:solidFill>
                <a:latin typeface="Poppins"/>
                <a:ea typeface="Poppins"/>
                <a:cs typeface="Poppins"/>
                <a:sym typeface="Poppins"/>
              </a:rPr>
              <a:t>SizeZoneNonUniformityNormalized, RunLengthNonUniformity</a:t>
            </a:r>
            <a:endParaRPr sz="2900">
              <a:solidFill>
                <a:srgbClr val="188038"/>
              </a:solidFill>
              <a:latin typeface="Poppins"/>
              <a:ea typeface="Poppins"/>
              <a:cs typeface="Poppins"/>
              <a:sym typeface="Poppins"/>
            </a:endParaRPr>
          </a:p>
          <a:p>
            <a:pPr indent="0" lvl="0" marL="457200" rtl="0" algn="l">
              <a:lnSpc>
                <a:spcPct val="100000"/>
              </a:lnSpc>
              <a:spcBef>
                <a:spcPts val="1200"/>
              </a:spcBef>
              <a:spcAft>
                <a:spcPts val="0"/>
              </a:spcAft>
              <a:buNone/>
            </a:pPr>
            <a:r>
              <a:t/>
            </a:r>
            <a:endParaRPr sz="2900">
              <a:solidFill>
                <a:srgbClr val="188038"/>
              </a:solidFill>
              <a:latin typeface="Poppins"/>
              <a:ea typeface="Poppins"/>
              <a:cs typeface="Poppins"/>
              <a:sym typeface="Poppins"/>
            </a:endParaRPr>
          </a:p>
          <a:p>
            <a:pPr indent="0" lvl="0" marL="0" rtl="0" algn="l">
              <a:lnSpc>
                <a:spcPct val="115000"/>
              </a:lnSpc>
              <a:spcBef>
                <a:spcPts val="1200"/>
              </a:spcBef>
              <a:spcAft>
                <a:spcPts val="0"/>
              </a:spcAft>
              <a:buNone/>
            </a:pPr>
            <a:r>
              <a:rPr b="1" lang="en-US" sz="2900">
                <a:latin typeface="Poppins"/>
                <a:ea typeface="Poppins"/>
                <a:cs typeface="Poppins"/>
                <a:sym typeface="Poppins"/>
              </a:rPr>
              <a:t>Astrocytoma:</a:t>
            </a:r>
            <a:r>
              <a:rPr lang="en-US" sz="2900">
                <a:latin typeface="Poppins"/>
                <a:ea typeface="Poppins"/>
                <a:cs typeface="Poppins"/>
                <a:sym typeface="Poppins"/>
              </a:rPr>
              <a:t> Mix of shape and first-order statistics</a:t>
            </a:r>
            <a:endParaRPr sz="2900">
              <a:latin typeface="Poppins"/>
              <a:ea typeface="Poppins"/>
              <a:cs typeface="Poppins"/>
              <a:sym typeface="Poppins"/>
            </a:endParaRPr>
          </a:p>
          <a:p>
            <a:pPr indent="-412750" lvl="0" marL="457200" rtl="0" algn="l">
              <a:lnSpc>
                <a:spcPct val="115000"/>
              </a:lnSpc>
              <a:spcBef>
                <a:spcPts val="1200"/>
              </a:spcBef>
              <a:spcAft>
                <a:spcPts val="0"/>
              </a:spcAft>
              <a:buClr>
                <a:schemeClr val="dk1"/>
              </a:buClr>
              <a:buSzPts val="2900"/>
              <a:buFont typeface="Poppins"/>
              <a:buChar char="●"/>
            </a:pPr>
            <a:r>
              <a:rPr lang="en-US" sz="2900">
                <a:solidFill>
                  <a:schemeClr val="dk1"/>
                </a:solidFill>
                <a:latin typeface="Poppins"/>
                <a:ea typeface="Poppins"/>
                <a:cs typeface="Poppins"/>
                <a:sym typeface="Poppins"/>
              </a:rPr>
              <a:t>Top features: </a:t>
            </a:r>
            <a:r>
              <a:rPr lang="en-US" sz="2900">
                <a:solidFill>
                  <a:srgbClr val="188038"/>
                </a:solidFill>
                <a:latin typeface="Poppins"/>
                <a:ea typeface="Poppins"/>
                <a:cs typeface="Poppins"/>
                <a:sym typeface="Poppins"/>
              </a:rPr>
              <a:t>SurfaceVolumeRatio, SurfaceArea</a:t>
            </a:r>
            <a:endParaRPr sz="2900">
              <a:solidFill>
                <a:srgbClr val="188038"/>
              </a:solidFill>
              <a:latin typeface="Poppins"/>
              <a:ea typeface="Poppins"/>
              <a:cs typeface="Poppins"/>
              <a:sym typeface="Poppins"/>
            </a:endParaRPr>
          </a:p>
          <a:p>
            <a:pPr indent="-412750" lvl="0" marL="457200" rtl="0" algn="l">
              <a:lnSpc>
                <a:spcPct val="115000"/>
              </a:lnSpc>
              <a:spcBef>
                <a:spcPts val="0"/>
              </a:spcBef>
              <a:spcAft>
                <a:spcPts val="0"/>
              </a:spcAft>
              <a:buClr>
                <a:schemeClr val="dk1"/>
              </a:buClr>
              <a:buSzPts val="2900"/>
              <a:buFont typeface="Poppins"/>
              <a:buChar char="●"/>
            </a:pPr>
            <a:r>
              <a:rPr lang="en-US" sz="2900">
                <a:solidFill>
                  <a:schemeClr val="dk1"/>
                </a:solidFill>
                <a:latin typeface="Poppins"/>
                <a:ea typeface="Poppins"/>
                <a:cs typeface="Poppins"/>
                <a:sym typeface="Poppins"/>
              </a:rPr>
              <a:t>First-order statistical metrics such as </a:t>
            </a:r>
            <a:r>
              <a:rPr lang="en-US" sz="2900">
                <a:solidFill>
                  <a:srgbClr val="188038"/>
                </a:solidFill>
                <a:latin typeface="Poppins"/>
                <a:ea typeface="Poppins"/>
                <a:cs typeface="Poppins"/>
                <a:sym typeface="Poppins"/>
              </a:rPr>
              <a:t>Kurtosis</a:t>
            </a:r>
            <a:r>
              <a:rPr lang="en-US" sz="2900">
                <a:solidFill>
                  <a:schemeClr val="dk1"/>
                </a:solidFill>
                <a:latin typeface="Poppins"/>
                <a:ea typeface="Poppins"/>
                <a:cs typeface="Poppins"/>
                <a:sym typeface="Poppins"/>
              </a:rPr>
              <a:t> and </a:t>
            </a:r>
            <a:r>
              <a:rPr lang="en-US" sz="2900">
                <a:solidFill>
                  <a:srgbClr val="188038"/>
                </a:solidFill>
                <a:latin typeface="Poppins"/>
                <a:ea typeface="Poppins"/>
                <a:cs typeface="Poppins"/>
                <a:sym typeface="Poppins"/>
              </a:rPr>
              <a:t>Minimum</a:t>
            </a:r>
            <a:endParaRPr sz="2900">
              <a:latin typeface="Poppins"/>
              <a:ea typeface="Poppins"/>
              <a:cs typeface="Poppins"/>
              <a:sym typeface="Poppi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g30504478cd7_2_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0309" r="-20309" t="0"/>
            </a:stretch>
          </a:blipFill>
          <a:ln>
            <a:noFill/>
          </a:ln>
        </p:spPr>
      </p:sp>
      <p:sp>
        <p:nvSpPr>
          <p:cNvPr id="338" name="Google Shape;338;g30504478cd7_2_2"/>
          <p:cNvSpPr txBox="1"/>
          <p:nvPr/>
        </p:nvSpPr>
        <p:spPr>
          <a:xfrm>
            <a:off x="4186518" y="1699575"/>
            <a:ext cx="7957800" cy="72300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lang="en-US" sz="4698">
                <a:solidFill>
                  <a:srgbClr val="593C8F"/>
                </a:solidFill>
                <a:latin typeface="League Spartan"/>
                <a:ea typeface="League Spartan"/>
                <a:cs typeface="League Spartan"/>
                <a:sym typeface="League Spartan"/>
              </a:rPr>
              <a:t>Results - Feature Importances</a:t>
            </a:r>
            <a:endParaRPr sz="1800"/>
          </a:p>
        </p:txBody>
      </p:sp>
      <p:cxnSp>
        <p:nvCxnSpPr>
          <p:cNvPr id="339" name="Google Shape;339;g30504478cd7_2_2"/>
          <p:cNvCxnSpPr/>
          <p:nvPr/>
        </p:nvCxnSpPr>
        <p:spPr>
          <a:xfrm>
            <a:off x="4187609" y="2542074"/>
            <a:ext cx="2618700" cy="0"/>
          </a:xfrm>
          <a:prstGeom prst="straightConnector1">
            <a:avLst/>
          </a:prstGeom>
          <a:noFill/>
          <a:ln cap="flat" cmpd="sng" w="38100">
            <a:solidFill>
              <a:srgbClr val="000000"/>
            </a:solidFill>
            <a:prstDash val="solid"/>
            <a:round/>
            <a:headEnd len="sm" w="sm" type="none"/>
            <a:tailEnd len="sm" w="sm" type="none"/>
          </a:ln>
        </p:spPr>
      </p:cxnSp>
      <p:grpSp>
        <p:nvGrpSpPr>
          <p:cNvPr id="340" name="Google Shape;340;g30504478cd7_2_2"/>
          <p:cNvGrpSpPr/>
          <p:nvPr/>
        </p:nvGrpSpPr>
        <p:grpSpPr>
          <a:xfrm>
            <a:off x="0" y="-180827"/>
            <a:ext cx="3086120" cy="10468053"/>
            <a:chOff x="0" y="-47625"/>
            <a:chExt cx="812800" cy="2757000"/>
          </a:xfrm>
        </p:grpSpPr>
        <p:sp>
          <p:nvSpPr>
            <p:cNvPr id="341" name="Google Shape;341;g30504478cd7_2_2"/>
            <p:cNvSpPr/>
            <p:nvPr/>
          </p:nvSpPr>
          <p:spPr>
            <a:xfrm>
              <a:off x="0" y="0"/>
              <a:ext cx="812800" cy="2709333"/>
            </a:xfrm>
            <a:custGeom>
              <a:rect b="b" l="l" r="r" t="t"/>
              <a:pathLst>
                <a:path extrusionOk="0" h="2709333" w="812800">
                  <a:moveTo>
                    <a:pt x="0" y="0"/>
                  </a:moveTo>
                  <a:lnTo>
                    <a:pt x="812800" y="0"/>
                  </a:lnTo>
                  <a:lnTo>
                    <a:pt x="812800" y="2709333"/>
                  </a:lnTo>
                  <a:lnTo>
                    <a:pt x="0" y="2709333"/>
                  </a:lnTo>
                  <a:close/>
                </a:path>
              </a:pathLst>
            </a:custGeom>
            <a:solidFill>
              <a:srgbClr val="593C8F"/>
            </a:solidFill>
            <a:ln>
              <a:noFill/>
            </a:ln>
          </p:spPr>
        </p:sp>
        <p:sp>
          <p:nvSpPr>
            <p:cNvPr id="342" name="Google Shape;342;g30504478cd7_2_2"/>
            <p:cNvSpPr txBox="1"/>
            <p:nvPr/>
          </p:nvSpPr>
          <p:spPr>
            <a:xfrm>
              <a:off x="0" y="-47625"/>
              <a:ext cx="812700" cy="2757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43" name="Google Shape;343;g30504478cd7_2_2"/>
          <p:cNvSpPr txBox="1"/>
          <p:nvPr/>
        </p:nvSpPr>
        <p:spPr>
          <a:xfrm>
            <a:off x="4151900" y="2973500"/>
            <a:ext cx="12722100" cy="1477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b="1" lang="en-US" sz="4000">
                <a:latin typeface="Poppins"/>
                <a:ea typeface="Poppins"/>
                <a:cs typeface="Poppins"/>
                <a:sym typeface="Poppins"/>
              </a:rPr>
              <a:t>Top Predictive Features (Combined Data Set)</a:t>
            </a:r>
            <a:endParaRPr b="1" sz="4000">
              <a:latin typeface="Poppins"/>
              <a:ea typeface="Poppins"/>
              <a:cs typeface="Poppins"/>
              <a:sym typeface="Poppins"/>
            </a:endParaRPr>
          </a:p>
          <a:p>
            <a:pPr indent="0" lvl="0" marL="0" marR="0" rtl="0" algn="l">
              <a:lnSpc>
                <a:spcPct val="140045"/>
              </a:lnSpc>
              <a:spcBef>
                <a:spcPts val="1200"/>
              </a:spcBef>
              <a:spcAft>
                <a:spcPts val="0"/>
              </a:spcAft>
              <a:buNone/>
            </a:pPr>
            <a:r>
              <a:t/>
            </a:r>
            <a:endParaRPr b="1" sz="4000">
              <a:latin typeface="Poppins"/>
              <a:ea typeface="Poppins"/>
              <a:cs typeface="Poppins"/>
              <a:sym typeface="Poppins"/>
            </a:endParaRPr>
          </a:p>
        </p:txBody>
      </p:sp>
      <p:sp>
        <p:nvSpPr>
          <p:cNvPr id="344" name="Google Shape;344;g30504478cd7_2_2"/>
          <p:cNvSpPr txBox="1"/>
          <p:nvPr/>
        </p:nvSpPr>
        <p:spPr>
          <a:xfrm>
            <a:off x="4016150" y="3799050"/>
            <a:ext cx="13814700" cy="6051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2900">
                <a:solidFill>
                  <a:schemeClr val="dk1"/>
                </a:solidFill>
                <a:latin typeface="Poppins"/>
                <a:ea typeface="Poppins"/>
                <a:cs typeface="Poppins"/>
                <a:sym typeface="Poppins"/>
              </a:rPr>
              <a:t>GBM: </a:t>
            </a:r>
            <a:r>
              <a:rPr lang="en-US" sz="2900">
                <a:solidFill>
                  <a:schemeClr val="dk1"/>
                </a:solidFill>
                <a:latin typeface="Poppins"/>
                <a:ea typeface="Poppins"/>
                <a:cs typeface="Poppins"/>
                <a:sym typeface="Poppins"/>
              </a:rPr>
              <a:t>Shape and texture features dominate</a:t>
            </a:r>
            <a:endParaRPr sz="2900">
              <a:solidFill>
                <a:schemeClr val="dk1"/>
              </a:solidFill>
              <a:latin typeface="Poppins"/>
              <a:ea typeface="Poppins"/>
              <a:cs typeface="Poppins"/>
              <a:sym typeface="Poppins"/>
            </a:endParaRPr>
          </a:p>
          <a:p>
            <a:pPr indent="-412750" lvl="0" marL="457200" rtl="0" algn="l">
              <a:lnSpc>
                <a:spcPct val="115000"/>
              </a:lnSpc>
              <a:spcBef>
                <a:spcPts val="1200"/>
              </a:spcBef>
              <a:spcAft>
                <a:spcPts val="0"/>
              </a:spcAft>
              <a:buClr>
                <a:schemeClr val="dk1"/>
              </a:buClr>
              <a:buSzPts val="2900"/>
              <a:buChar char="●"/>
            </a:pPr>
            <a:r>
              <a:rPr lang="en-US" sz="2900">
                <a:solidFill>
                  <a:schemeClr val="dk1"/>
                </a:solidFill>
                <a:latin typeface="Poppins"/>
                <a:ea typeface="Poppins"/>
                <a:cs typeface="Poppins"/>
                <a:sym typeface="Poppins"/>
              </a:rPr>
              <a:t>Top features: </a:t>
            </a:r>
            <a:r>
              <a:rPr lang="en-US" sz="2900">
                <a:solidFill>
                  <a:srgbClr val="188038"/>
                </a:solidFill>
                <a:latin typeface="Poppins"/>
                <a:ea typeface="Poppins"/>
                <a:cs typeface="Poppins"/>
                <a:sym typeface="Poppins"/>
              </a:rPr>
              <a:t>NGTDM_Coarseness</a:t>
            </a:r>
            <a:r>
              <a:rPr lang="en-US" sz="2900">
                <a:solidFill>
                  <a:schemeClr val="dk1"/>
                </a:solidFill>
                <a:latin typeface="Poppins"/>
                <a:ea typeface="Poppins"/>
                <a:cs typeface="Poppins"/>
                <a:sym typeface="Poppins"/>
              </a:rPr>
              <a:t>, </a:t>
            </a:r>
            <a:r>
              <a:rPr lang="en-US" sz="2900">
                <a:solidFill>
                  <a:srgbClr val="188038"/>
                </a:solidFill>
                <a:latin typeface="Poppins"/>
                <a:ea typeface="Poppins"/>
                <a:cs typeface="Poppins"/>
                <a:sym typeface="Poppins"/>
              </a:rPr>
              <a:t>MinorAxisLength</a:t>
            </a:r>
            <a:r>
              <a:rPr lang="en-US" sz="2900">
                <a:solidFill>
                  <a:schemeClr val="dk1"/>
                </a:solidFill>
                <a:latin typeface="Poppins"/>
                <a:ea typeface="Poppins"/>
                <a:cs typeface="Poppins"/>
                <a:sym typeface="Poppins"/>
              </a:rPr>
              <a:t>, </a:t>
            </a:r>
            <a:r>
              <a:rPr lang="en-US" sz="2900">
                <a:solidFill>
                  <a:srgbClr val="188038"/>
                </a:solidFill>
                <a:latin typeface="Poppins"/>
                <a:ea typeface="Poppins"/>
                <a:cs typeface="Poppins"/>
                <a:sym typeface="Poppins"/>
              </a:rPr>
              <a:t>Sphericity</a:t>
            </a:r>
            <a:br>
              <a:rPr lang="en-US" sz="2900">
                <a:solidFill>
                  <a:srgbClr val="188038"/>
                </a:solidFill>
                <a:latin typeface="Poppins"/>
                <a:ea typeface="Poppins"/>
                <a:cs typeface="Poppins"/>
                <a:sym typeface="Poppins"/>
              </a:rPr>
            </a:br>
            <a:endParaRPr sz="29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b="1" lang="en-US" sz="2900">
                <a:solidFill>
                  <a:schemeClr val="dk1"/>
                </a:solidFill>
                <a:latin typeface="Poppins"/>
                <a:ea typeface="Poppins"/>
                <a:cs typeface="Poppins"/>
                <a:sym typeface="Poppins"/>
              </a:rPr>
              <a:t>Oligodendroglioma: </a:t>
            </a:r>
            <a:r>
              <a:rPr lang="en-US" sz="2900">
                <a:solidFill>
                  <a:schemeClr val="dk1"/>
                </a:solidFill>
                <a:latin typeface="Poppins"/>
                <a:ea typeface="Poppins"/>
                <a:cs typeface="Poppins"/>
                <a:sym typeface="Poppins"/>
              </a:rPr>
              <a:t>Texture features reflect calcification patterns</a:t>
            </a:r>
            <a:endParaRPr sz="2900">
              <a:solidFill>
                <a:schemeClr val="dk1"/>
              </a:solidFill>
              <a:latin typeface="Poppins"/>
              <a:ea typeface="Poppins"/>
              <a:cs typeface="Poppins"/>
              <a:sym typeface="Poppins"/>
            </a:endParaRPr>
          </a:p>
          <a:p>
            <a:pPr indent="-412750" lvl="0" marL="457200" rtl="0" algn="l">
              <a:lnSpc>
                <a:spcPct val="115000"/>
              </a:lnSpc>
              <a:spcBef>
                <a:spcPts val="1200"/>
              </a:spcBef>
              <a:spcAft>
                <a:spcPts val="0"/>
              </a:spcAft>
              <a:buClr>
                <a:schemeClr val="dk1"/>
              </a:buClr>
              <a:buSzPts val="2900"/>
              <a:buChar char="●"/>
            </a:pPr>
            <a:r>
              <a:rPr lang="en-US" sz="2900">
                <a:solidFill>
                  <a:schemeClr val="dk1"/>
                </a:solidFill>
                <a:latin typeface="Poppins"/>
                <a:ea typeface="Poppins"/>
                <a:cs typeface="Poppins"/>
                <a:sym typeface="Poppins"/>
              </a:rPr>
              <a:t>Top features: </a:t>
            </a:r>
            <a:r>
              <a:rPr lang="en-US" sz="2900">
                <a:solidFill>
                  <a:srgbClr val="188038"/>
                </a:solidFill>
                <a:latin typeface="Poppins"/>
                <a:ea typeface="Poppins"/>
                <a:cs typeface="Poppins"/>
                <a:sym typeface="Poppins"/>
              </a:rPr>
              <a:t>RunLengthNonUniformity</a:t>
            </a:r>
            <a:r>
              <a:rPr lang="en-US" sz="2900">
                <a:solidFill>
                  <a:schemeClr val="dk1"/>
                </a:solidFill>
                <a:latin typeface="Poppins"/>
                <a:ea typeface="Poppins"/>
                <a:cs typeface="Poppins"/>
                <a:sym typeface="Poppins"/>
              </a:rPr>
              <a:t>, </a:t>
            </a:r>
            <a:r>
              <a:rPr lang="en-US" sz="2900">
                <a:solidFill>
                  <a:srgbClr val="188038"/>
                </a:solidFill>
                <a:latin typeface="Poppins"/>
                <a:ea typeface="Poppins"/>
                <a:cs typeface="Poppins"/>
                <a:sym typeface="Poppins"/>
              </a:rPr>
              <a:t>ZonePercentage</a:t>
            </a:r>
            <a:r>
              <a:rPr lang="en-US" sz="2900">
                <a:solidFill>
                  <a:schemeClr val="dk1"/>
                </a:solidFill>
                <a:latin typeface="Poppins"/>
                <a:ea typeface="Poppins"/>
                <a:cs typeface="Poppins"/>
                <a:sym typeface="Poppins"/>
              </a:rPr>
              <a:t>,</a:t>
            </a:r>
            <a:r>
              <a:rPr lang="en-US" sz="2900">
                <a:solidFill>
                  <a:schemeClr val="dk1"/>
                </a:solidFill>
                <a:latin typeface="Poppins"/>
                <a:ea typeface="Poppins"/>
                <a:cs typeface="Poppins"/>
                <a:sym typeface="Poppins"/>
              </a:rPr>
              <a:t> </a:t>
            </a:r>
            <a:r>
              <a:rPr lang="en-US" sz="2900">
                <a:solidFill>
                  <a:srgbClr val="188038"/>
                </a:solidFill>
                <a:latin typeface="Poppins"/>
                <a:ea typeface="Poppins"/>
                <a:cs typeface="Poppins"/>
                <a:sym typeface="Poppins"/>
              </a:rPr>
              <a:t>SizeZoneNonUniformityNormalized</a:t>
            </a:r>
            <a:br>
              <a:rPr lang="en-US" sz="2900">
                <a:solidFill>
                  <a:schemeClr val="dk1"/>
                </a:solidFill>
                <a:latin typeface="Poppins"/>
                <a:ea typeface="Poppins"/>
                <a:cs typeface="Poppins"/>
                <a:sym typeface="Poppins"/>
              </a:rPr>
            </a:br>
            <a:endParaRPr sz="29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b="1" lang="en-US" sz="2900">
                <a:solidFill>
                  <a:schemeClr val="dk1"/>
                </a:solidFill>
                <a:latin typeface="Poppins"/>
                <a:ea typeface="Poppins"/>
                <a:cs typeface="Poppins"/>
                <a:sym typeface="Poppins"/>
              </a:rPr>
              <a:t>Astrocytoma: </a:t>
            </a:r>
            <a:r>
              <a:rPr lang="en-US" sz="2900">
                <a:solidFill>
                  <a:schemeClr val="dk1"/>
                </a:solidFill>
                <a:latin typeface="Poppins"/>
                <a:ea typeface="Poppins"/>
                <a:cs typeface="Poppins"/>
                <a:sym typeface="Poppins"/>
              </a:rPr>
              <a:t>Combination of shape and first-order features</a:t>
            </a:r>
            <a:endParaRPr sz="2900">
              <a:solidFill>
                <a:schemeClr val="dk1"/>
              </a:solidFill>
              <a:latin typeface="Poppins"/>
              <a:ea typeface="Poppins"/>
              <a:cs typeface="Poppins"/>
              <a:sym typeface="Poppins"/>
            </a:endParaRPr>
          </a:p>
          <a:p>
            <a:pPr indent="-374650" lvl="0" marL="457200" rtl="0" algn="l">
              <a:lnSpc>
                <a:spcPct val="115000"/>
              </a:lnSpc>
              <a:spcBef>
                <a:spcPts val="1200"/>
              </a:spcBef>
              <a:spcAft>
                <a:spcPts val="0"/>
              </a:spcAft>
              <a:buClr>
                <a:schemeClr val="dk1"/>
              </a:buClr>
              <a:buSzPts val="2300"/>
              <a:buChar char="●"/>
            </a:pPr>
            <a:r>
              <a:rPr lang="en-US" sz="2900">
                <a:solidFill>
                  <a:schemeClr val="dk1"/>
                </a:solidFill>
                <a:latin typeface="Poppins"/>
                <a:ea typeface="Poppins"/>
                <a:cs typeface="Poppins"/>
                <a:sym typeface="Poppins"/>
              </a:rPr>
              <a:t>Top features: </a:t>
            </a:r>
            <a:r>
              <a:rPr lang="en-US" sz="2900">
                <a:solidFill>
                  <a:srgbClr val="188038"/>
                </a:solidFill>
                <a:latin typeface="Poppins"/>
                <a:ea typeface="Poppins"/>
                <a:cs typeface="Poppins"/>
                <a:sym typeface="Poppins"/>
              </a:rPr>
              <a:t>SurfaceVolumeRatio</a:t>
            </a:r>
            <a:r>
              <a:rPr lang="en-US" sz="2900">
                <a:solidFill>
                  <a:schemeClr val="dk1"/>
                </a:solidFill>
                <a:latin typeface="Poppins"/>
                <a:ea typeface="Poppins"/>
                <a:cs typeface="Poppins"/>
                <a:sym typeface="Poppins"/>
              </a:rPr>
              <a:t>, </a:t>
            </a:r>
            <a:r>
              <a:rPr lang="en-US" sz="2900">
                <a:solidFill>
                  <a:srgbClr val="188038"/>
                </a:solidFill>
                <a:latin typeface="Poppins"/>
                <a:ea typeface="Poppins"/>
                <a:cs typeface="Poppins"/>
                <a:sym typeface="Poppins"/>
              </a:rPr>
              <a:t>Skewness</a:t>
            </a:r>
            <a:r>
              <a:rPr lang="en-US" sz="2900">
                <a:solidFill>
                  <a:schemeClr val="dk1"/>
                </a:solidFill>
                <a:latin typeface="Poppins"/>
                <a:ea typeface="Poppins"/>
                <a:cs typeface="Poppins"/>
                <a:sym typeface="Poppins"/>
              </a:rPr>
              <a:t>, </a:t>
            </a:r>
            <a:r>
              <a:rPr lang="en-US" sz="2900">
                <a:solidFill>
                  <a:srgbClr val="188038"/>
                </a:solidFill>
                <a:latin typeface="Poppins"/>
                <a:ea typeface="Poppins"/>
                <a:cs typeface="Poppins"/>
                <a:sym typeface="Poppins"/>
              </a:rPr>
              <a:t>Kurtosis</a:t>
            </a:r>
            <a:br>
              <a:rPr lang="en-US" sz="2300">
                <a:solidFill>
                  <a:srgbClr val="188038"/>
                </a:solidFill>
                <a:latin typeface="Poppins"/>
                <a:ea typeface="Poppins"/>
                <a:cs typeface="Poppins"/>
                <a:sym typeface="Poppins"/>
              </a:rPr>
            </a:br>
            <a:endParaRPr sz="3100">
              <a:latin typeface="Poppins"/>
              <a:ea typeface="Poppins"/>
              <a:cs typeface="Poppins"/>
              <a:sym typeface="Poppi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g30504478cd7_1_1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0309" r="-20309" t="0"/>
            </a:stretch>
          </a:blipFill>
          <a:ln>
            <a:noFill/>
          </a:ln>
        </p:spPr>
      </p:sp>
      <p:sp>
        <p:nvSpPr>
          <p:cNvPr id="350" name="Google Shape;350;g30504478cd7_1_16"/>
          <p:cNvSpPr txBox="1"/>
          <p:nvPr/>
        </p:nvSpPr>
        <p:spPr>
          <a:xfrm>
            <a:off x="4041979" y="1362300"/>
            <a:ext cx="12123300" cy="73890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lang="en-US" sz="4800">
                <a:solidFill>
                  <a:schemeClr val="accent4"/>
                </a:solidFill>
                <a:latin typeface="League Spartan"/>
                <a:ea typeface="League Spartan"/>
                <a:cs typeface="League Spartan"/>
                <a:sym typeface="League Spartan"/>
              </a:rPr>
              <a:t>Discussion </a:t>
            </a:r>
            <a:r>
              <a:rPr lang="en-US" sz="4800">
                <a:solidFill>
                  <a:schemeClr val="accent4"/>
                </a:solidFill>
                <a:latin typeface="League Spartan"/>
                <a:ea typeface="League Spartan"/>
                <a:cs typeface="League Spartan"/>
                <a:sym typeface="League Spartan"/>
              </a:rPr>
              <a:t>- </a:t>
            </a:r>
            <a:r>
              <a:rPr lang="en-US" sz="4800">
                <a:solidFill>
                  <a:schemeClr val="accent4"/>
                </a:solidFill>
                <a:latin typeface="League Spartan"/>
                <a:ea typeface="League Spartan"/>
                <a:cs typeface="League Spartan"/>
                <a:sym typeface="League Spartan"/>
              </a:rPr>
              <a:t>GBM</a:t>
            </a:r>
            <a:endParaRPr sz="4800">
              <a:solidFill>
                <a:schemeClr val="accent4"/>
              </a:solidFill>
              <a:latin typeface="League Spartan"/>
              <a:ea typeface="League Spartan"/>
              <a:cs typeface="League Spartan"/>
              <a:sym typeface="League Spartan"/>
            </a:endParaRPr>
          </a:p>
        </p:txBody>
      </p:sp>
      <p:cxnSp>
        <p:nvCxnSpPr>
          <p:cNvPr id="351" name="Google Shape;351;g30504478cd7_1_16"/>
          <p:cNvCxnSpPr/>
          <p:nvPr/>
        </p:nvCxnSpPr>
        <p:spPr>
          <a:xfrm>
            <a:off x="4187609" y="2542074"/>
            <a:ext cx="2618700" cy="0"/>
          </a:xfrm>
          <a:prstGeom prst="straightConnector1">
            <a:avLst/>
          </a:prstGeom>
          <a:noFill/>
          <a:ln cap="flat" cmpd="sng" w="38100">
            <a:solidFill>
              <a:srgbClr val="000000"/>
            </a:solidFill>
            <a:prstDash val="solid"/>
            <a:round/>
            <a:headEnd len="sm" w="sm" type="none"/>
            <a:tailEnd len="sm" w="sm" type="none"/>
          </a:ln>
        </p:spPr>
      </p:cxnSp>
      <p:grpSp>
        <p:nvGrpSpPr>
          <p:cNvPr id="352" name="Google Shape;352;g30504478cd7_1_16"/>
          <p:cNvGrpSpPr/>
          <p:nvPr/>
        </p:nvGrpSpPr>
        <p:grpSpPr>
          <a:xfrm>
            <a:off x="0" y="-180827"/>
            <a:ext cx="3086120" cy="10468053"/>
            <a:chOff x="0" y="-47625"/>
            <a:chExt cx="812800" cy="2757000"/>
          </a:xfrm>
        </p:grpSpPr>
        <p:sp>
          <p:nvSpPr>
            <p:cNvPr id="353" name="Google Shape;353;g30504478cd7_1_16"/>
            <p:cNvSpPr/>
            <p:nvPr/>
          </p:nvSpPr>
          <p:spPr>
            <a:xfrm>
              <a:off x="0" y="0"/>
              <a:ext cx="812800" cy="2709333"/>
            </a:xfrm>
            <a:custGeom>
              <a:rect b="b" l="l" r="r" t="t"/>
              <a:pathLst>
                <a:path extrusionOk="0" h="2709333" w="812800">
                  <a:moveTo>
                    <a:pt x="0" y="0"/>
                  </a:moveTo>
                  <a:lnTo>
                    <a:pt x="812800" y="0"/>
                  </a:lnTo>
                  <a:lnTo>
                    <a:pt x="812800" y="2709333"/>
                  </a:lnTo>
                  <a:lnTo>
                    <a:pt x="0" y="2709333"/>
                  </a:lnTo>
                  <a:close/>
                </a:path>
              </a:pathLst>
            </a:custGeom>
            <a:solidFill>
              <a:srgbClr val="593C8F"/>
            </a:solidFill>
            <a:ln>
              <a:noFill/>
            </a:ln>
          </p:spPr>
        </p:sp>
        <p:sp>
          <p:nvSpPr>
            <p:cNvPr id="354" name="Google Shape;354;g30504478cd7_1_16"/>
            <p:cNvSpPr txBox="1"/>
            <p:nvPr/>
          </p:nvSpPr>
          <p:spPr>
            <a:xfrm>
              <a:off x="0" y="-47625"/>
              <a:ext cx="812700" cy="2757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55" name="Google Shape;355;g30504478cd7_1_16"/>
          <p:cNvSpPr txBox="1"/>
          <p:nvPr/>
        </p:nvSpPr>
        <p:spPr>
          <a:xfrm>
            <a:off x="4041975" y="2846625"/>
            <a:ext cx="11352300" cy="5713500"/>
          </a:xfrm>
          <a:prstGeom prst="rect">
            <a:avLst/>
          </a:prstGeom>
          <a:noFill/>
          <a:ln>
            <a:noFill/>
          </a:ln>
        </p:spPr>
        <p:txBody>
          <a:bodyPr anchorCtr="0" anchor="t" bIns="91425" lIns="91425" spcFirstLastPara="1" rIns="91425" wrap="square" tIns="91425">
            <a:spAutoFit/>
          </a:bodyPr>
          <a:lstStyle/>
          <a:p>
            <a:pPr indent="-482600" lvl="0" marL="457200" rtl="0" algn="l">
              <a:lnSpc>
                <a:spcPct val="115000"/>
              </a:lnSpc>
              <a:spcBef>
                <a:spcPts val="1200"/>
              </a:spcBef>
              <a:spcAft>
                <a:spcPts val="0"/>
              </a:spcAft>
              <a:buClr>
                <a:schemeClr val="dk1"/>
              </a:buClr>
              <a:buSzPts val="4000"/>
              <a:buChar char="●"/>
            </a:pPr>
            <a:r>
              <a:rPr b="1" lang="en-US" sz="2800">
                <a:solidFill>
                  <a:schemeClr val="dk1"/>
                </a:solidFill>
                <a:latin typeface="Poppins"/>
                <a:ea typeface="Poppins"/>
                <a:cs typeface="Poppins"/>
                <a:sym typeface="Poppins"/>
              </a:rPr>
              <a:t>NGTDM Coarseness</a:t>
            </a:r>
            <a:r>
              <a:rPr lang="en-US" sz="2800">
                <a:solidFill>
                  <a:schemeClr val="dk1"/>
                </a:solidFill>
                <a:latin typeface="Poppins"/>
                <a:ea typeface="Poppins"/>
                <a:cs typeface="Poppins"/>
                <a:sym typeface="Poppins"/>
              </a:rPr>
              <a:t>: Captures rapid voxel intensity shifts; reflects mottled texture from necrosis and microvascular proliferation.</a:t>
            </a:r>
            <a:br>
              <a:rPr lang="en-US" sz="2800">
                <a:solidFill>
                  <a:schemeClr val="dk1"/>
                </a:solidFill>
                <a:latin typeface="Poppins"/>
                <a:ea typeface="Poppins"/>
                <a:cs typeface="Poppins"/>
                <a:sym typeface="Poppins"/>
              </a:rPr>
            </a:br>
            <a:endParaRPr sz="2800">
              <a:solidFill>
                <a:schemeClr val="dk1"/>
              </a:solidFill>
              <a:latin typeface="Poppins"/>
              <a:ea typeface="Poppins"/>
              <a:cs typeface="Poppins"/>
              <a:sym typeface="Poppins"/>
            </a:endParaRPr>
          </a:p>
          <a:p>
            <a:pPr indent="-482600" lvl="0" marL="457200" rtl="0" algn="l">
              <a:lnSpc>
                <a:spcPct val="115000"/>
              </a:lnSpc>
              <a:spcBef>
                <a:spcPts val="0"/>
              </a:spcBef>
              <a:spcAft>
                <a:spcPts val="0"/>
              </a:spcAft>
              <a:buClr>
                <a:schemeClr val="dk1"/>
              </a:buClr>
              <a:buSzPts val="4000"/>
              <a:buChar char="●"/>
            </a:pPr>
            <a:r>
              <a:rPr b="1" lang="en-US" sz="2800">
                <a:solidFill>
                  <a:schemeClr val="dk1"/>
                </a:solidFill>
                <a:latin typeface="Poppins"/>
                <a:ea typeface="Poppins"/>
                <a:cs typeface="Poppins"/>
                <a:sym typeface="Poppins"/>
              </a:rPr>
              <a:t>Shape Metrics</a:t>
            </a:r>
            <a:r>
              <a:rPr lang="en-US" sz="2800">
                <a:solidFill>
                  <a:schemeClr val="dk1"/>
                </a:solidFill>
                <a:latin typeface="Poppins"/>
                <a:ea typeface="Poppins"/>
                <a:cs typeface="Poppins"/>
                <a:sym typeface="Poppins"/>
              </a:rPr>
              <a:t>: High surface-to-volume ratio, low sphericity, elongated shape—indicate invasive, lobulated tumor growth along white matter tracts.</a:t>
            </a:r>
            <a:br>
              <a:rPr lang="en-US" sz="2800">
                <a:solidFill>
                  <a:schemeClr val="dk1"/>
                </a:solidFill>
                <a:latin typeface="Poppins"/>
                <a:ea typeface="Poppins"/>
                <a:cs typeface="Poppins"/>
                <a:sym typeface="Poppins"/>
              </a:rPr>
            </a:br>
            <a:endParaRPr sz="2800">
              <a:solidFill>
                <a:schemeClr val="dk1"/>
              </a:solidFill>
              <a:latin typeface="Poppins"/>
              <a:ea typeface="Poppins"/>
              <a:cs typeface="Poppins"/>
              <a:sym typeface="Poppins"/>
            </a:endParaRPr>
          </a:p>
          <a:p>
            <a:pPr indent="-482600" lvl="0" marL="457200" rtl="0" algn="l">
              <a:lnSpc>
                <a:spcPct val="115000"/>
              </a:lnSpc>
              <a:spcBef>
                <a:spcPts val="0"/>
              </a:spcBef>
              <a:spcAft>
                <a:spcPts val="0"/>
              </a:spcAft>
              <a:buClr>
                <a:schemeClr val="dk1"/>
              </a:buClr>
              <a:buSzPts val="4000"/>
              <a:buChar char="●"/>
            </a:pPr>
            <a:r>
              <a:rPr b="1" lang="en-US" sz="2800">
                <a:solidFill>
                  <a:schemeClr val="dk1"/>
                </a:solidFill>
                <a:latin typeface="Poppins"/>
                <a:ea typeface="Poppins"/>
                <a:cs typeface="Poppins"/>
                <a:sym typeface="Poppins"/>
              </a:rPr>
              <a:t>Low Gray-Level Run Emphasis</a:t>
            </a:r>
            <a:r>
              <a:rPr lang="en-US" sz="2800">
                <a:solidFill>
                  <a:schemeClr val="dk1"/>
                </a:solidFill>
                <a:latin typeface="Poppins"/>
                <a:ea typeface="Poppins"/>
                <a:cs typeface="Poppins"/>
                <a:sym typeface="Poppins"/>
              </a:rPr>
              <a:t>: Detects long stretches of dark voxels; consistent with central necrosis.</a:t>
            </a:r>
            <a:endParaRPr sz="6000">
              <a:latin typeface="Poppins"/>
              <a:ea typeface="Poppins"/>
              <a:cs typeface="Poppins"/>
              <a:sym typeface="Poppi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g30504478cd7_1_2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0309" r="-20309" t="0"/>
            </a:stretch>
          </a:blipFill>
          <a:ln>
            <a:noFill/>
          </a:ln>
        </p:spPr>
      </p:sp>
      <p:sp>
        <p:nvSpPr>
          <p:cNvPr id="361" name="Google Shape;361;g30504478cd7_1_27"/>
          <p:cNvSpPr txBox="1"/>
          <p:nvPr/>
        </p:nvSpPr>
        <p:spPr>
          <a:xfrm>
            <a:off x="4041979" y="1362300"/>
            <a:ext cx="12123300" cy="73890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lang="en-US" sz="4800">
                <a:solidFill>
                  <a:schemeClr val="accent4"/>
                </a:solidFill>
                <a:latin typeface="League Spartan"/>
                <a:ea typeface="League Spartan"/>
                <a:cs typeface="League Spartan"/>
                <a:sym typeface="League Spartan"/>
              </a:rPr>
              <a:t>Discussion - </a:t>
            </a:r>
            <a:r>
              <a:rPr lang="en-US" sz="4800">
                <a:solidFill>
                  <a:schemeClr val="accent4"/>
                </a:solidFill>
                <a:latin typeface="League Spartan"/>
                <a:ea typeface="League Spartan"/>
                <a:cs typeface="League Spartan"/>
                <a:sym typeface="League Spartan"/>
              </a:rPr>
              <a:t>Oligodendroglioma</a:t>
            </a:r>
            <a:endParaRPr sz="4800">
              <a:solidFill>
                <a:schemeClr val="accent4"/>
              </a:solidFill>
              <a:latin typeface="League Spartan"/>
              <a:ea typeface="League Spartan"/>
              <a:cs typeface="League Spartan"/>
              <a:sym typeface="League Spartan"/>
            </a:endParaRPr>
          </a:p>
        </p:txBody>
      </p:sp>
      <p:cxnSp>
        <p:nvCxnSpPr>
          <p:cNvPr id="362" name="Google Shape;362;g30504478cd7_1_27"/>
          <p:cNvCxnSpPr/>
          <p:nvPr/>
        </p:nvCxnSpPr>
        <p:spPr>
          <a:xfrm>
            <a:off x="4187609" y="2542074"/>
            <a:ext cx="2618700" cy="0"/>
          </a:xfrm>
          <a:prstGeom prst="straightConnector1">
            <a:avLst/>
          </a:prstGeom>
          <a:noFill/>
          <a:ln cap="flat" cmpd="sng" w="38100">
            <a:solidFill>
              <a:srgbClr val="000000"/>
            </a:solidFill>
            <a:prstDash val="solid"/>
            <a:round/>
            <a:headEnd len="sm" w="sm" type="none"/>
            <a:tailEnd len="sm" w="sm" type="none"/>
          </a:ln>
        </p:spPr>
      </p:cxnSp>
      <p:grpSp>
        <p:nvGrpSpPr>
          <p:cNvPr id="363" name="Google Shape;363;g30504478cd7_1_27"/>
          <p:cNvGrpSpPr/>
          <p:nvPr/>
        </p:nvGrpSpPr>
        <p:grpSpPr>
          <a:xfrm>
            <a:off x="0" y="-180827"/>
            <a:ext cx="3086120" cy="10468053"/>
            <a:chOff x="0" y="-47625"/>
            <a:chExt cx="812800" cy="2757000"/>
          </a:xfrm>
        </p:grpSpPr>
        <p:sp>
          <p:nvSpPr>
            <p:cNvPr id="364" name="Google Shape;364;g30504478cd7_1_27"/>
            <p:cNvSpPr/>
            <p:nvPr/>
          </p:nvSpPr>
          <p:spPr>
            <a:xfrm>
              <a:off x="0" y="0"/>
              <a:ext cx="812800" cy="2709333"/>
            </a:xfrm>
            <a:custGeom>
              <a:rect b="b" l="l" r="r" t="t"/>
              <a:pathLst>
                <a:path extrusionOk="0" h="2709333" w="812800">
                  <a:moveTo>
                    <a:pt x="0" y="0"/>
                  </a:moveTo>
                  <a:lnTo>
                    <a:pt x="812800" y="0"/>
                  </a:lnTo>
                  <a:lnTo>
                    <a:pt x="812800" y="2709333"/>
                  </a:lnTo>
                  <a:lnTo>
                    <a:pt x="0" y="2709333"/>
                  </a:lnTo>
                  <a:close/>
                </a:path>
              </a:pathLst>
            </a:custGeom>
            <a:solidFill>
              <a:srgbClr val="593C8F"/>
            </a:solidFill>
            <a:ln>
              <a:noFill/>
            </a:ln>
          </p:spPr>
        </p:sp>
        <p:sp>
          <p:nvSpPr>
            <p:cNvPr id="365" name="Google Shape;365;g30504478cd7_1_27"/>
            <p:cNvSpPr txBox="1"/>
            <p:nvPr/>
          </p:nvSpPr>
          <p:spPr>
            <a:xfrm>
              <a:off x="0" y="-47625"/>
              <a:ext cx="812700" cy="2757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66" name="Google Shape;366;g30504478cd7_1_27"/>
          <p:cNvSpPr txBox="1"/>
          <p:nvPr/>
        </p:nvSpPr>
        <p:spPr>
          <a:xfrm>
            <a:off x="4041975" y="2846625"/>
            <a:ext cx="13181100" cy="6596400"/>
          </a:xfrm>
          <a:prstGeom prst="rect">
            <a:avLst/>
          </a:prstGeom>
          <a:noFill/>
          <a:ln>
            <a:noFill/>
          </a:ln>
        </p:spPr>
        <p:txBody>
          <a:bodyPr anchorCtr="0" anchor="t" bIns="91425" lIns="91425" spcFirstLastPara="1" rIns="91425" wrap="square" tIns="91425">
            <a:spAutoFit/>
          </a:bodyPr>
          <a:lstStyle/>
          <a:p>
            <a:pPr indent="-438150" lvl="0" marL="457200" rtl="0" algn="l">
              <a:lnSpc>
                <a:spcPct val="115000"/>
              </a:lnSpc>
              <a:spcBef>
                <a:spcPts val="1200"/>
              </a:spcBef>
              <a:spcAft>
                <a:spcPts val="0"/>
              </a:spcAft>
              <a:buClr>
                <a:schemeClr val="dk1"/>
              </a:buClr>
              <a:buSzPts val="3300"/>
              <a:buChar char="●"/>
            </a:pPr>
            <a:r>
              <a:rPr lang="en-US" sz="3300">
                <a:solidFill>
                  <a:schemeClr val="dk1"/>
                </a:solidFill>
                <a:latin typeface="Poppins"/>
                <a:ea typeface="Poppins"/>
                <a:cs typeface="Poppins"/>
                <a:sym typeface="Poppins"/>
              </a:rPr>
              <a:t>Dominated by </a:t>
            </a:r>
            <a:r>
              <a:rPr b="1" lang="en-US" sz="3300">
                <a:solidFill>
                  <a:schemeClr val="dk1"/>
                </a:solidFill>
                <a:latin typeface="Poppins"/>
                <a:ea typeface="Poppins"/>
                <a:cs typeface="Poppins"/>
                <a:sym typeface="Poppins"/>
              </a:rPr>
              <a:t>texture features</a:t>
            </a:r>
            <a:r>
              <a:rPr lang="en-US" sz="3300">
                <a:solidFill>
                  <a:schemeClr val="dk1"/>
                </a:solidFill>
                <a:latin typeface="Poppins"/>
                <a:ea typeface="Poppins"/>
                <a:cs typeface="Poppins"/>
                <a:sym typeface="Poppins"/>
              </a:rPr>
              <a:t> linked to calcification</a:t>
            </a:r>
            <a:br>
              <a:rPr lang="en-US" sz="3300">
                <a:solidFill>
                  <a:schemeClr val="dk1"/>
                </a:solidFill>
                <a:latin typeface="Poppins"/>
                <a:ea typeface="Poppins"/>
                <a:cs typeface="Poppins"/>
                <a:sym typeface="Poppins"/>
              </a:rPr>
            </a:br>
            <a:endParaRPr sz="3300">
              <a:solidFill>
                <a:schemeClr val="dk1"/>
              </a:solidFill>
              <a:latin typeface="Poppins"/>
              <a:ea typeface="Poppins"/>
              <a:cs typeface="Poppins"/>
              <a:sym typeface="Poppins"/>
            </a:endParaRPr>
          </a:p>
          <a:p>
            <a:pPr indent="-438150" lvl="0" marL="457200" rtl="0" algn="l">
              <a:lnSpc>
                <a:spcPct val="115000"/>
              </a:lnSpc>
              <a:spcBef>
                <a:spcPts val="0"/>
              </a:spcBef>
              <a:spcAft>
                <a:spcPts val="0"/>
              </a:spcAft>
              <a:buClr>
                <a:schemeClr val="dk1"/>
              </a:buClr>
              <a:buSzPts val="3300"/>
              <a:buChar char="●"/>
            </a:pPr>
            <a:r>
              <a:rPr b="1" lang="en-US" sz="3300">
                <a:solidFill>
                  <a:schemeClr val="dk1"/>
                </a:solidFill>
                <a:latin typeface="Poppins"/>
                <a:ea typeface="Poppins"/>
                <a:cs typeface="Poppins"/>
                <a:sym typeface="Poppins"/>
              </a:rPr>
              <a:t>Run/Zone non-uniformity</a:t>
            </a:r>
            <a:r>
              <a:rPr lang="en-US" sz="3300">
                <a:solidFill>
                  <a:schemeClr val="dk1"/>
                </a:solidFill>
                <a:latin typeface="Poppins"/>
                <a:ea typeface="Poppins"/>
                <a:cs typeface="Poppins"/>
                <a:sym typeface="Poppins"/>
              </a:rPr>
              <a:t> reflects patchy calcified areas</a:t>
            </a:r>
            <a:br>
              <a:rPr lang="en-US" sz="3300">
                <a:solidFill>
                  <a:schemeClr val="dk1"/>
                </a:solidFill>
                <a:latin typeface="Poppins"/>
                <a:ea typeface="Poppins"/>
                <a:cs typeface="Poppins"/>
                <a:sym typeface="Poppins"/>
              </a:rPr>
            </a:br>
            <a:endParaRPr sz="3300">
              <a:solidFill>
                <a:schemeClr val="dk1"/>
              </a:solidFill>
              <a:latin typeface="Poppins"/>
              <a:ea typeface="Poppins"/>
              <a:cs typeface="Poppins"/>
              <a:sym typeface="Poppins"/>
            </a:endParaRPr>
          </a:p>
          <a:p>
            <a:pPr indent="-438150" lvl="0" marL="457200" rtl="0" algn="l">
              <a:lnSpc>
                <a:spcPct val="115000"/>
              </a:lnSpc>
              <a:spcBef>
                <a:spcPts val="0"/>
              </a:spcBef>
              <a:spcAft>
                <a:spcPts val="0"/>
              </a:spcAft>
              <a:buClr>
                <a:schemeClr val="dk1"/>
              </a:buClr>
              <a:buSzPts val="3300"/>
              <a:buChar char="●"/>
            </a:pPr>
            <a:r>
              <a:rPr b="1" lang="en-US" sz="3300">
                <a:solidFill>
                  <a:schemeClr val="dk1"/>
                </a:solidFill>
                <a:latin typeface="Poppins"/>
                <a:ea typeface="Poppins"/>
                <a:cs typeface="Poppins"/>
                <a:sym typeface="Poppins"/>
              </a:rPr>
              <a:t>Low-gray-level emphasis</a:t>
            </a:r>
            <a:r>
              <a:rPr lang="en-US" sz="3300">
                <a:solidFill>
                  <a:schemeClr val="dk1"/>
                </a:solidFill>
                <a:latin typeface="Poppins"/>
                <a:ea typeface="Poppins"/>
                <a:cs typeface="Poppins"/>
                <a:sym typeface="Poppins"/>
              </a:rPr>
              <a:t> captures abundance of dark voxels</a:t>
            </a:r>
            <a:br>
              <a:rPr lang="en-US" sz="3300">
                <a:solidFill>
                  <a:schemeClr val="dk1"/>
                </a:solidFill>
                <a:latin typeface="Poppins"/>
                <a:ea typeface="Poppins"/>
                <a:cs typeface="Poppins"/>
                <a:sym typeface="Poppins"/>
              </a:rPr>
            </a:br>
            <a:endParaRPr sz="3300">
              <a:solidFill>
                <a:schemeClr val="dk1"/>
              </a:solidFill>
              <a:latin typeface="Poppins"/>
              <a:ea typeface="Poppins"/>
              <a:cs typeface="Poppins"/>
              <a:sym typeface="Poppins"/>
            </a:endParaRPr>
          </a:p>
          <a:p>
            <a:pPr indent="-438150" lvl="0" marL="457200" rtl="0" algn="l">
              <a:lnSpc>
                <a:spcPct val="115000"/>
              </a:lnSpc>
              <a:spcBef>
                <a:spcPts val="0"/>
              </a:spcBef>
              <a:spcAft>
                <a:spcPts val="0"/>
              </a:spcAft>
              <a:buClr>
                <a:schemeClr val="dk1"/>
              </a:buClr>
              <a:buSzPts val="3300"/>
              <a:buChar char="●"/>
            </a:pPr>
            <a:r>
              <a:rPr lang="en-US" sz="3300">
                <a:solidFill>
                  <a:schemeClr val="dk1"/>
                </a:solidFill>
                <a:latin typeface="Poppins"/>
                <a:ea typeface="Poppins"/>
                <a:cs typeface="Poppins"/>
                <a:sym typeface="Poppins"/>
              </a:rPr>
              <a:t>Patterns match known </a:t>
            </a:r>
            <a:r>
              <a:rPr b="1" lang="en-US" sz="3300">
                <a:solidFill>
                  <a:schemeClr val="dk1"/>
                </a:solidFill>
                <a:latin typeface="Poppins"/>
                <a:ea typeface="Poppins"/>
                <a:cs typeface="Poppins"/>
                <a:sym typeface="Poppins"/>
              </a:rPr>
              <a:t>1p/19q codeletion phenotype</a:t>
            </a:r>
            <a:endParaRPr b="1" sz="3300">
              <a:solidFill>
                <a:schemeClr val="dk1"/>
              </a:solidFill>
              <a:latin typeface="Poppins"/>
              <a:ea typeface="Poppins"/>
              <a:cs typeface="Poppins"/>
              <a:sym typeface="Poppins"/>
            </a:endParaRPr>
          </a:p>
          <a:p>
            <a:pPr indent="0" lvl="0" marL="457200" rtl="0" algn="l">
              <a:lnSpc>
                <a:spcPct val="115000"/>
              </a:lnSpc>
              <a:spcBef>
                <a:spcPts val="1200"/>
              </a:spcBef>
              <a:spcAft>
                <a:spcPts val="0"/>
              </a:spcAft>
              <a:buNone/>
            </a:pPr>
            <a:r>
              <a:t/>
            </a:r>
            <a:endParaRPr sz="5300">
              <a:latin typeface="Poppins"/>
              <a:ea typeface="Poppins"/>
              <a:cs typeface="Poppins"/>
              <a:sym typeface="Poppins"/>
            </a:endParaRPr>
          </a:p>
          <a:p>
            <a:pPr indent="0" lvl="0" marL="0" rtl="0" algn="l">
              <a:lnSpc>
                <a:spcPct val="115000"/>
              </a:lnSpc>
              <a:spcBef>
                <a:spcPts val="1200"/>
              </a:spcBef>
              <a:spcAft>
                <a:spcPts val="1200"/>
              </a:spcAft>
              <a:buNone/>
            </a:pPr>
            <a:r>
              <a:t/>
            </a:r>
            <a:endParaRPr sz="3200">
              <a:latin typeface="Poppins"/>
              <a:ea typeface="Poppins"/>
              <a:cs typeface="Poppins"/>
              <a:sym typeface="Poppi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g30504478cd7_1_3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0309" r="-20309" t="0"/>
            </a:stretch>
          </a:blipFill>
          <a:ln>
            <a:noFill/>
          </a:ln>
        </p:spPr>
      </p:sp>
      <p:sp>
        <p:nvSpPr>
          <p:cNvPr id="372" name="Google Shape;372;g30504478cd7_1_37"/>
          <p:cNvSpPr txBox="1"/>
          <p:nvPr/>
        </p:nvSpPr>
        <p:spPr>
          <a:xfrm>
            <a:off x="4041979" y="1362300"/>
            <a:ext cx="12123300" cy="73890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lang="en-US" sz="4800">
                <a:solidFill>
                  <a:schemeClr val="accent4"/>
                </a:solidFill>
                <a:latin typeface="League Spartan"/>
                <a:ea typeface="League Spartan"/>
                <a:cs typeface="League Spartan"/>
                <a:sym typeface="League Spartan"/>
              </a:rPr>
              <a:t>Discussion - </a:t>
            </a:r>
            <a:r>
              <a:rPr lang="en-US" sz="4800">
                <a:solidFill>
                  <a:schemeClr val="accent4"/>
                </a:solidFill>
                <a:latin typeface="League Spartan"/>
                <a:ea typeface="League Spartan"/>
                <a:cs typeface="League Spartan"/>
                <a:sym typeface="League Spartan"/>
              </a:rPr>
              <a:t>Astrocytoma</a:t>
            </a:r>
            <a:endParaRPr sz="4800">
              <a:solidFill>
                <a:schemeClr val="accent4"/>
              </a:solidFill>
              <a:latin typeface="League Spartan"/>
              <a:ea typeface="League Spartan"/>
              <a:cs typeface="League Spartan"/>
              <a:sym typeface="League Spartan"/>
            </a:endParaRPr>
          </a:p>
        </p:txBody>
      </p:sp>
      <p:cxnSp>
        <p:nvCxnSpPr>
          <p:cNvPr id="373" name="Google Shape;373;g30504478cd7_1_37"/>
          <p:cNvCxnSpPr/>
          <p:nvPr/>
        </p:nvCxnSpPr>
        <p:spPr>
          <a:xfrm>
            <a:off x="4187609" y="2542074"/>
            <a:ext cx="2618700" cy="0"/>
          </a:xfrm>
          <a:prstGeom prst="straightConnector1">
            <a:avLst/>
          </a:prstGeom>
          <a:noFill/>
          <a:ln cap="flat" cmpd="sng" w="38100">
            <a:solidFill>
              <a:srgbClr val="000000"/>
            </a:solidFill>
            <a:prstDash val="solid"/>
            <a:round/>
            <a:headEnd len="sm" w="sm" type="none"/>
            <a:tailEnd len="sm" w="sm" type="none"/>
          </a:ln>
        </p:spPr>
      </p:cxnSp>
      <p:grpSp>
        <p:nvGrpSpPr>
          <p:cNvPr id="374" name="Google Shape;374;g30504478cd7_1_37"/>
          <p:cNvGrpSpPr/>
          <p:nvPr/>
        </p:nvGrpSpPr>
        <p:grpSpPr>
          <a:xfrm>
            <a:off x="0" y="-180827"/>
            <a:ext cx="3086120" cy="10468053"/>
            <a:chOff x="0" y="-47625"/>
            <a:chExt cx="812800" cy="2757000"/>
          </a:xfrm>
        </p:grpSpPr>
        <p:sp>
          <p:nvSpPr>
            <p:cNvPr id="375" name="Google Shape;375;g30504478cd7_1_37"/>
            <p:cNvSpPr/>
            <p:nvPr/>
          </p:nvSpPr>
          <p:spPr>
            <a:xfrm>
              <a:off x="0" y="0"/>
              <a:ext cx="812800" cy="2709333"/>
            </a:xfrm>
            <a:custGeom>
              <a:rect b="b" l="l" r="r" t="t"/>
              <a:pathLst>
                <a:path extrusionOk="0" h="2709333" w="812800">
                  <a:moveTo>
                    <a:pt x="0" y="0"/>
                  </a:moveTo>
                  <a:lnTo>
                    <a:pt x="812800" y="0"/>
                  </a:lnTo>
                  <a:lnTo>
                    <a:pt x="812800" y="2709333"/>
                  </a:lnTo>
                  <a:lnTo>
                    <a:pt x="0" y="2709333"/>
                  </a:lnTo>
                  <a:close/>
                </a:path>
              </a:pathLst>
            </a:custGeom>
            <a:solidFill>
              <a:srgbClr val="593C8F"/>
            </a:solidFill>
            <a:ln>
              <a:noFill/>
            </a:ln>
          </p:spPr>
        </p:sp>
        <p:sp>
          <p:nvSpPr>
            <p:cNvPr id="376" name="Google Shape;376;g30504478cd7_1_37"/>
            <p:cNvSpPr txBox="1"/>
            <p:nvPr/>
          </p:nvSpPr>
          <p:spPr>
            <a:xfrm>
              <a:off x="0" y="-47625"/>
              <a:ext cx="812700" cy="2757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77" name="Google Shape;377;g30504478cd7_1_37"/>
          <p:cNvSpPr txBox="1"/>
          <p:nvPr/>
        </p:nvSpPr>
        <p:spPr>
          <a:xfrm>
            <a:off x="4041975" y="2732325"/>
            <a:ext cx="13495500" cy="7294500"/>
          </a:xfrm>
          <a:prstGeom prst="rect">
            <a:avLst/>
          </a:prstGeom>
          <a:noFill/>
          <a:ln>
            <a:noFill/>
          </a:ln>
        </p:spPr>
        <p:txBody>
          <a:bodyPr anchorCtr="0" anchor="t" bIns="91425" lIns="91425" spcFirstLastPara="1" rIns="91425" wrap="square" tIns="91425">
            <a:spAutoFit/>
          </a:bodyPr>
          <a:lstStyle/>
          <a:p>
            <a:pPr indent="-520700" lvl="0" marL="457200" rtl="0" algn="l">
              <a:lnSpc>
                <a:spcPct val="115000"/>
              </a:lnSpc>
              <a:spcBef>
                <a:spcPts val="1200"/>
              </a:spcBef>
              <a:spcAft>
                <a:spcPts val="0"/>
              </a:spcAft>
              <a:buClr>
                <a:schemeClr val="dk1"/>
              </a:buClr>
              <a:buSzPts val="4600"/>
              <a:buFont typeface="Poppins"/>
              <a:buChar char="●"/>
            </a:pPr>
            <a:r>
              <a:rPr b="1" lang="en-US" sz="2600">
                <a:solidFill>
                  <a:schemeClr val="dk1"/>
                </a:solidFill>
                <a:latin typeface="Poppins"/>
                <a:ea typeface="Poppins"/>
                <a:cs typeface="Poppins"/>
                <a:sym typeface="Poppins"/>
              </a:rPr>
              <a:t>Mixed radiomic signature</a:t>
            </a:r>
            <a:r>
              <a:rPr lang="en-US" sz="2600">
                <a:solidFill>
                  <a:schemeClr val="dk1"/>
                </a:solidFill>
                <a:latin typeface="Poppins"/>
                <a:ea typeface="Poppins"/>
                <a:cs typeface="Poppins"/>
                <a:sym typeface="Poppins"/>
              </a:rPr>
              <a:t> reflects Astrocytoma’s diffuse growth and variable density</a:t>
            </a:r>
            <a:br>
              <a:rPr lang="en-US" sz="2600">
                <a:solidFill>
                  <a:schemeClr val="dk1"/>
                </a:solidFill>
                <a:latin typeface="Poppins"/>
                <a:ea typeface="Poppins"/>
                <a:cs typeface="Poppins"/>
                <a:sym typeface="Poppins"/>
              </a:rPr>
            </a:br>
            <a:endParaRPr sz="2600">
              <a:solidFill>
                <a:schemeClr val="dk1"/>
              </a:solidFill>
              <a:latin typeface="Poppins"/>
              <a:ea typeface="Poppins"/>
              <a:cs typeface="Poppins"/>
              <a:sym typeface="Poppins"/>
            </a:endParaRPr>
          </a:p>
          <a:p>
            <a:pPr indent="-520700" lvl="0" marL="457200" rtl="0" algn="l">
              <a:lnSpc>
                <a:spcPct val="115000"/>
              </a:lnSpc>
              <a:spcBef>
                <a:spcPts val="0"/>
              </a:spcBef>
              <a:spcAft>
                <a:spcPts val="0"/>
              </a:spcAft>
              <a:buClr>
                <a:schemeClr val="dk1"/>
              </a:buClr>
              <a:buSzPts val="4600"/>
              <a:buFont typeface="Poppins"/>
              <a:buChar char="●"/>
            </a:pPr>
            <a:r>
              <a:rPr b="1" lang="en-US" sz="2600">
                <a:solidFill>
                  <a:schemeClr val="dk1"/>
                </a:solidFill>
                <a:latin typeface="Poppins"/>
                <a:ea typeface="Poppins"/>
                <a:cs typeface="Poppins"/>
                <a:sym typeface="Poppins"/>
              </a:rPr>
              <a:t>Shape features</a:t>
            </a:r>
            <a:r>
              <a:rPr lang="en-US" sz="2600">
                <a:solidFill>
                  <a:schemeClr val="dk1"/>
                </a:solidFill>
                <a:latin typeface="Poppins"/>
                <a:ea typeface="Poppins"/>
                <a:cs typeface="Poppins"/>
                <a:sym typeface="Poppins"/>
              </a:rPr>
              <a:t> (high surface-to-volume ratio, low sphericity) indicate </a:t>
            </a:r>
            <a:r>
              <a:rPr b="1" lang="en-US" sz="2600">
                <a:solidFill>
                  <a:schemeClr val="dk1"/>
                </a:solidFill>
                <a:latin typeface="Poppins"/>
                <a:ea typeface="Poppins"/>
                <a:cs typeface="Poppins"/>
                <a:sym typeface="Poppins"/>
              </a:rPr>
              <a:t>irregular, finger-like infiltration</a:t>
            </a:r>
            <a:r>
              <a:rPr lang="en-US" sz="2600">
                <a:solidFill>
                  <a:schemeClr val="dk1"/>
                </a:solidFill>
                <a:latin typeface="Poppins"/>
                <a:ea typeface="Poppins"/>
                <a:cs typeface="Poppins"/>
                <a:sym typeface="Poppins"/>
              </a:rPr>
              <a:t> along white matter</a:t>
            </a:r>
            <a:br>
              <a:rPr lang="en-US" sz="2600">
                <a:solidFill>
                  <a:schemeClr val="dk1"/>
                </a:solidFill>
                <a:latin typeface="Poppins"/>
                <a:ea typeface="Poppins"/>
                <a:cs typeface="Poppins"/>
                <a:sym typeface="Poppins"/>
              </a:rPr>
            </a:br>
            <a:endParaRPr sz="2600">
              <a:solidFill>
                <a:schemeClr val="dk1"/>
              </a:solidFill>
              <a:latin typeface="Poppins"/>
              <a:ea typeface="Poppins"/>
              <a:cs typeface="Poppins"/>
              <a:sym typeface="Poppins"/>
            </a:endParaRPr>
          </a:p>
          <a:p>
            <a:pPr indent="-520700" lvl="0" marL="457200" rtl="0" algn="l">
              <a:lnSpc>
                <a:spcPct val="115000"/>
              </a:lnSpc>
              <a:spcBef>
                <a:spcPts val="0"/>
              </a:spcBef>
              <a:spcAft>
                <a:spcPts val="0"/>
              </a:spcAft>
              <a:buClr>
                <a:schemeClr val="dk1"/>
              </a:buClr>
              <a:buSzPts val="4600"/>
              <a:buFont typeface="Poppins"/>
              <a:buChar char="●"/>
            </a:pPr>
            <a:r>
              <a:rPr b="1" lang="en-US" sz="2600">
                <a:solidFill>
                  <a:schemeClr val="dk1"/>
                </a:solidFill>
                <a:latin typeface="Poppins"/>
                <a:ea typeface="Poppins"/>
                <a:cs typeface="Poppins"/>
                <a:sym typeface="Poppins"/>
              </a:rPr>
              <a:t>First-order features</a:t>
            </a:r>
            <a:r>
              <a:rPr lang="en-US" sz="2600">
                <a:solidFill>
                  <a:schemeClr val="dk1"/>
                </a:solidFill>
                <a:latin typeface="Poppins"/>
                <a:ea typeface="Poppins"/>
                <a:cs typeface="Poppins"/>
                <a:sym typeface="Poppins"/>
              </a:rPr>
              <a:t> (skewness, kurtosis) capture </a:t>
            </a:r>
            <a:r>
              <a:rPr b="1" lang="en-US" sz="2600">
                <a:solidFill>
                  <a:schemeClr val="dk1"/>
                </a:solidFill>
                <a:latin typeface="Poppins"/>
                <a:ea typeface="Poppins"/>
                <a:cs typeface="Poppins"/>
                <a:sym typeface="Poppins"/>
              </a:rPr>
              <a:t>asymmetric intensity</a:t>
            </a:r>
            <a:r>
              <a:rPr lang="en-US" sz="2600">
                <a:solidFill>
                  <a:schemeClr val="dk1"/>
                </a:solidFill>
                <a:latin typeface="Poppins"/>
                <a:ea typeface="Poppins"/>
                <a:cs typeface="Poppins"/>
                <a:sym typeface="Poppins"/>
              </a:rPr>
              <a:t> from cystic change, edema, or necrosis</a:t>
            </a:r>
            <a:br>
              <a:rPr lang="en-US" sz="2600">
                <a:solidFill>
                  <a:schemeClr val="dk1"/>
                </a:solidFill>
                <a:latin typeface="Poppins"/>
                <a:ea typeface="Poppins"/>
                <a:cs typeface="Poppins"/>
                <a:sym typeface="Poppins"/>
              </a:rPr>
            </a:br>
            <a:endParaRPr sz="2600">
              <a:solidFill>
                <a:schemeClr val="dk1"/>
              </a:solidFill>
              <a:latin typeface="Poppins"/>
              <a:ea typeface="Poppins"/>
              <a:cs typeface="Poppins"/>
              <a:sym typeface="Poppins"/>
            </a:endParaRPr>
          </a:p>
          <a:p>
            <a:pPr indent="-520700" lvl="0" marL="457200" rtl="0" algn="l">
              <a:lnSpc>
                <a:spcPct val="115000"/>
              </a:lnSpc>
              <a:spcBef>
                <a:spcPts val="0"/>
              </a:spcBef>
              <a:spcAft>
                <a:spcPts val="0"/>
              </a:spcAft>
              <a:buClr>
                <a:schemeClr val="dk1"/>
              </a:buClr>
              <a:buSzPts val="4600"/>
              <a:buFont typeface="Poppins"/>
              <a:buChar char="●"/>
            </a:pPr>
            <a:r>
              <a:rPr b="1" lang="en-US" sz="2600">
                <a:solidFill>
                  <a:schemeClr val="dk1"/>
                </a:solidFill>
                <a:latin typeface="Poppins"/>
                <a:ea typeface="Poppins"/>
                <a:cs typeface="Poppins"/>
                <a:sym typeface="Poppins"/>
              </a:rPr>
              <a:t>Higher-order texture features</a:t>
            </a:r>
            <a:r>
              <a:rPr lang="en-US" sz="2600">
                <a:solidFill>
                  <a:schemeClr val="dk1"/>
                </a:solidFill>
                <a:latin typeface="Poppins"/>
                <a:ea typeface="Poppins"/>
                <a:cs typeface="Poppins"/>
                <a:sym typeface="Poppins"/>
              </a:rPr>
              <a:t> (GLCM cluster shade, GLSZM zone entropy) reveal </a:t>
            </a:r>
            <a:r>
              <a:rPr b="1" lang="en-US" sz="2600">
                <a:solidFill>
                  <a:schemeClr val="dk1"/>
                </a:solidFill>
                <a:latin typeface="Poppins"/>
                <a:ea typeface="Poppins"/>
                <a:cs typeface="Poppins"/>
                <a:sym typeface="Poppins"/>
              </a:rPr>
              <a:t>tissue heterogeneity</a:t>
            </a:r>
            <a:r>
              <a:rPr lang="en-US" sz="2600">
                <a:solidFill>
                  <a:schemeClr val="dk1"/>
                </a:solidFill>
                <a:latin typeface="Poppins"/>
                <a:ea typeface="Poppins"/>
                <a:cs typeface="Poppins"/>
                <a:sym typeface="Poppins"/>
              </a:rPr>
              <a:t> in higher-grade cases</a:t>
            </a:r>
            <a:endParaRPr sz="2600">
              <a:solidFill>
                <a:schemeClr val="dk1"/>
              </a:solidFill>
              <a:latin typeface="Poppins"/>
              <a:ea typeface="Poppins"/>
              <a:cs typeface="Poppins"/>
              <a:sym typeface="Poppins"/>
            </a:endParaRPr>
          </a:p>
          <a:p>
            <a:pPr indent="0" lvl="0" marL="457200" rtl="0" algn="l">
              <a:lnSpc>
                <a:spcPct val="115000"/>
              </a:lnSpc>
              <a:spcBef>
                <a:spcPts val="1200"/>
              </a:spcBef>
              <a:spcAft>
                <a:spcPts val="1200"/>
              </a:spcAft>
              <a:buNone/>
            </a:pPr>
            <a:r>
              <a:t/>
            </a:r>
            <a:endParaRPr sz="3100">
              <a:latin typeface="Poppins"/>
              <a:ea typeface="Poppins"/>
              <a:cs typeface="Poppins"/>
              <a:sym typeface="Poppi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g30504478cd7_1_5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0309" r="-20309" t="0"/>
            </a:stretch>
          </a:blipFill>
          <a:ln>
            <a:noFill/>
          </a:ln>
        </p:spPr>
      </p:sp>
      <p:sp>
        <p:nvSpPr>
          <p:cNvPr id="383" name="Google Shape;383;g30504478cd7_1_57"/>
          <p:cNvSpPr txBox="1"/>
          <p:nvPr/>
        </p:nvSpPr>
        <p:spPr>
          <a:xfrm>
            <a:off x="1029800" y="1292350"/>
            <a:ext cx="8686500" cy="69270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1" lang="en-US" sz="4500">
                <a:solidFill>
                  <a:srgbClr val="593C8F"/>
                </a:solidFill>
                <a:latin typeface="League Spartan"/>
                <a:ea typeface="League Spartan"/>
                <a:cs typeface="League Spartan"/>
                <a:sym typeface="League Spartan"/>
              </a:rPr>
              <a:t>Summary and Key Takeaways</a:t>
            </a:r>
            <a:endParaRPr b="1" sz="4500"/>
          </a:p>
        </p:txBody>
      </p:sp>
      <p:cxnSp>
        <p:nvCxnSpPr>
          <p:cNvPr id="384" name="Google Shape;384;g30504478cd7_1_57"/>
          <p:cNvCxnSpPr/>
          <p:nvPr/>
        </p:nvCxnSpPr>
        <p:spPr>
          <a:xfrm>
            <a:off x="1029792" y="2252109"/>
            <a:ext cx="2618700" cy="0"/>
          </a:xfrm>
          <a:prstGeom prst="straightConnector1">
            <a:avLst/>
          </a:prstGeom>
          <a:noFill/>
          <a:ln cap="flat" cmpd="sng" w="38100">
            <a:solidFill>
              <a:srgbClr val="000000"/>
            </a:solidFill>
            <a:prstDash val="solid"/>
            <a:round/>
            <a:headEnd len="sm" w="sm" type="none"/>
            <a:tailEnd len="sm" w="sm" type="none"/>
          </a:ln>
        </p:spPr>
      </p:cxnSp>
      <p:sp>
        <p:nvSpPr>
          <p:cNvPr id="385" name="Google Shape;385;g30504478cd7_1_57"/>
          <p:cNvSpPr txBox="1"/>
          <p:nvPr/>
        </p:nvSpPr>
        <p:spPr>
          <a:xfrm>
            <a:off x="1029800" y="2900475"/>
            <a:ext cx="16183500" cy="6474600"/>
          </a:xfrm>
          <a:prstGeom prst="rect">
            <a:avLst/>
          </a:prstGeom>
          <a:noFill/>
          <a:ln>
            <a:noFill/>
          </a:ln>
        </p:spPr>
        <p:txBody>
          <a:bodyPr anchorCtr="0" anchor="t" bIns="0" lIns="0" spcFirstLastPara="1" rIns="0" wrap="square" tIns="0">
            <a:spAutoFit/>
          </a:bodyPr>
          <a:lstStyle/>
          <a:p>
            <a:pPr indent="-374650" lvl="0" marL="457200" rtl="0" algn="l">
              <a:lnSpc>
                <a:spcPct val="115000"/>
              </a:lnSpc>
              <a:spcBef>
                <a:spcPts val="1200"/>
              </a:spcBef>
              <a:spcAft>
                <a:spcPts val="0"/>
              </a:spcAft>
              <a:buClr>
                <a:schemeClr val="dk1"/>
              </a:buClr>
              <a:buSzPts val="2300"/>
              <a:buChar char="●"/>
            </a:pPr>
            <a:r>
              <a:rPr lang="en-US" sz="4648">
                <a:latin typeface="Poppins"/>
                <a:ea typeface="Poppins"/>
                <a:cs typeface="Poppins"/>
                <a:sym typeface="Poppins"/>
              </a:rPr>
              <a:t>Radiomic features offer interpretable, non-invasive biomarkers</a:t>
            </a:r>
            <a:endParaRPr sz="4648">
              <a:latin typeface="Poppins"/>
              <a:ea typeface="Poppins"/>
              <a:cs typeface="Poppins"/>
              <a:sym typeface="Poppins"/>
            </a:endParaRPr>
          </a:p>
          <a:p>
            <a:pPr indent="-374650" lvl="0" marL="457200" rtl="0" algn="l">
              <a:lnSpc>
                <a:spcPct val="115000"/>
              </a:lnSpc>
              <a:spcBef>
                <a:spcPts val="0"/>
              </a:spcBef>
              <a:spcAft>
                <a:spcPts val="0"/>
              </a:spcAft>
              <a:buClr>
                <a:schemeClr val="dk1"/>
              </a:buClr>
              <a:buSzPts val="2300"/>
              <a:buChar char="●"/>
            </a:pPr>
            <a:r>
              <a:rPr lang="en-US" sz="4648">
                <a:latin typeface="Poppins"/>
                <a:ea typeface="Poppins"/>
                <a:cs typeface="Poppins"/>
                <a:sym typeface="Poppins"/>
              </a:rPr>
              <a:t>Each tumor subtype has a distinct radiomic signature</a:t>
            </a:r>
            <a:endParaRPr sz="4648">
              <a:latin typeface="Poppins"/>
              <a:ea typeface="Poppins"/>
              <a:cs typeface="Poppins"/>
              <a:sym typeface="Poppins"/>
            </a:endParaRPr>
          </a:p>
          <a:p>
            <a:pPr indent="-374650" lvl="0" marL="457200" rtl="0" algn="l">
              <a:lnSpc>
                <a:spcPct val="115000"/>
              </a:lnSpc>
              <a:spcBef>
                <a:spcPts val="0"/>
              </a:spcBef>
              <a:spcAft>
                <a:spcPts val="0"/>
              </a:spcAft>
              <a:buClr>
                <a:schemeClr val="dk1"/>
              </a:buClr>
              <a:buSzPts val="2300"/>
              <a:buChar char="●"/>
            </a:pPr>
            <a:r>
              <a:rPr lang="en-US" sz="4648">
                <a:latin typeface="Poppins"/>
                <a:ea typeface="Poppins"/>
                <a:cs typeface="Poppins"/>
                <a:sym typeface="Poppins"/>
              </a:rPr>
              <a:t>Combining datasets improves robustness and relevance</a:t>
            </a:r>
            <a:endParaRPr sz="4648">
              <a:latin typeface="Poppins"/>
              <a:ea typeface="Poppins"/>
              <a:cs typeface="Poppins"/>
              <a:sym typeface="Poppins"/>
            </a:endParaRPr>
          </a:p>
          <a:p>
            <a:pPr indent="-374650" lvl="0" marL="457200" rtl="0" algn="l">
              <a:lnSpc>
                <a:spcPct val="115000"/>
              </a:lnSpc>
              <a:spcBef>
                <a:spcPts val="0"/>
              </a:spcBef>
              <a:spcAft>
                <a:spcPts val="0"/>
              </a:spcAft>
              <a:buClr>
                <a:schemeClr val="dk1"/>
              </a:buClr>
              <a:buSzPts val="2300"/>
              <a:buChar char="●"/>
            </a:pPr>
            <a:r>
              <a:rPr lang="en-US" sz="4648">
                <a:latin typeface="Poppins"/>
                <a:ea typeface="Poppins"/>
                <a:cs typeface="Poppins"/>
                <a:sym typeface="Poppins"/>
              </a:rPr>
              <a:t>Features identified are consistent with clinical </a:t>
            </a:r>
            <a:r>
              <a:rPr lang="en-US" sz="4648">
                <a:latin typeface="Poppins"/>
                <a:ea typeface="Poppins"/>
                <a:cs typeface="Poppins"/>
                <a:sym typeface="Poppins"/>
              </a:rPr>
              <a:t>manifestation</a:t>
            </a:r>
            <a:r>
              <a:rPr lang="en-US" sz="4648">
                <a:latin typeface="Poppins"/>
                <a:ea typeface="Poppins"/>
                <a:cs typeface="Poppins"/>
                <a:sym typeface="Poppins"/>
              </a:rPr>
              <a:t> of disease</a:t>
            </a:r>
            <a:endParaRPr sz="3448">
              <a:latin typeface="Poppins"/>
              <a:ea typeface="Poppins"/>
              <a:cs typeface="Poppins"/>
              <a:sym typeface="Poppi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1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0311" r="-20309" t="0"/>
            </a:stretch>
          </a:blipFill>
          <a:ln>
            <a:noFill/>
          </a:ln>
        </p:spPr>
      </p:sp>
      <p:cxnSp>
        <p:nvCxnSpPr>
          <p:cNvPr id="391" name="Google Shape;391;p14"/>
          <p:cNvCxnSpPr/>
          <p:nvPr/>
        </p:nvCxnSpPr>
        <p:spPr>
          <a:xfrm flipH="1" rot="10800000">
            <a:off x="7209012" y="1962475"/>
            <a:ext cx="3869977" cy="39904"/>
          </a:xfrm>
          <a:prstGeom prst="straightConnector1">
            <a:avLst/>
          </a:prstGeom>
          <a:noFill/>
          <a:ln cap="flat" cmpd="sng" w="38100">
            <a:solidFill>
              <a:srgbClr val="000000"/>
            </a:solidFill>
            <a:prstDash val="solid"/>
            <a:round/>
            <a:headEnd len="sm" w="sm" type="none"/>
            <a:tailEnd len="sm" w="sm" type="none"/>
          </a:ln>
        </p:spPr>
      </p:cxnSp>
      <p:sp>
        <p:nvSpPr>
          <p:cNvPr id="392" name="Google Shape;392;p14"/>
          <p:cNvSpPr txBox="1"/>
          <p:nvPr/>
        </p:nvSpPr>
        <p:spPr>
          <a:xfrm>
            <a:off x="1069166" y="2521533"/>
            <a:ext cx="16527300" cy="5393400"/>
          </a:xfrm>
          <a:prstGeom prst="rect">
            <a:avLst/>
          </a:prstGeom>
          <a:noFill/>
          <a:ln>
            <a:noFill/>
          </a:ln>
        </p:spPr>
        <p:txBody>
          <a:bodyPr anchorCtr="0" anchor="t" bIns="0" lIns="0" spcFirstLastPara="1" rIns="0" wrap="square" tIns="0">
            <a:spAutoFit/>
          </a:bodyPr>
          <a:lstStyle/>
          <a:p>
            <a:pPr indent="-355600" lvl="0" marL="457200" rtl="0" algn="l">
              <a:lnSpc>
                <a:spcPct val="140013"/>
              </a:lnSpc>
              <a:spcBef>
                <a:spcPts val="0"/>
              </a:spcBef>
              <a:spcAft>
                <a:spcPts val="0"/>
              </a:spcAft>
              <a:buClr>
                <a:schemeClr val="dk1"/>
              </a:buClr>
              <a:buSzPts val="2000"/>
              <a:buAutoNum type="arabicPeriod"/>
            </a:pPr>
            <a:r>
              <a:rPr lang="en-US" sz="2000">
                <a:solidFill>
                  <a:schemeClr val="dk1"/>
                </a:solidFill>
              </a:rPr>
              <a:t>Louis, D. N., et al. (2021). </a:t>
            </a:r>
            <a:r>
              <a:rPr i="1" lang="en-US" sz="2000">
                <a:solidFill>
                  <a:schemeClr val="dk1"/>
                </a:solidFill>
              </a:rPr>
              <a:t>WHO Classification of Tumours of the Central Nervous System</a:t>
            </a:r>
            <a:r>
              <a:rPr lang="en-US" sz="2000">
                <a:solidFill>
                  <a:schemeClr val="dk1"/>
                </a:solidFill>
              </a:rPr>
              <a:t> (5th ed.). IARC. https://doi.org/10.1007/978-3-030-86355-</a:t>
            </a:r>
            <a:endParaRPr sz="2000">
              <a:solidFill>
                <a:schemeClr val="dk1"/>
              </a:solidFill>
            </a:endParaRPr>
          </a:p>
          <a:p>
            <a:pPr indent="-355600" lvl="0" marL="457200" rtl="0" algn="l">
              <a:lnSpc>
                <a:spcPct val="140013"/>
              </a:lnSpc>
              <a:spcBef>
                <a:spcPts val="0"/>
              </a:spcBef>
              <a:spcAft>
                <a:spcPts val="0"/>
              </a:spcAft>
              <a:buClr>
                <a:schemeClr val="dk1"/>
              </a:buClr>
              <a:buSzPts val="2000"/>
              <a:buAutoNum type="arabicPeriod"/>
            </a:pPr>
            <a:r>
              <a:rPr lang="en-US" sz="2000">
                <a:solidFill>
                  <a:schemeClr val="dk1"/>
                </a:solidFill>
              </a:rPr>
              <a:t>Wesseling, P., &amp; Capper, D. (2018). WHO 2016 classification of gliomas. </a:t>
            </a:r>
            <a:r>
              <a:rPr i="1" lang="en-US" sz="2000">
                <a:solidFill>
                  <a:schemeClr val="dk1"/>
                </a:solidFill>
              </a:rPr>
              <a:t>Acta Neuropathol</a:t>
            </a:r>
            <a:r>
              <a:rPr lang="en-US" sz="2000">
                <a:solidFill>
                  <a:schemeClr val="dk1"/>
                </a:solidFill>
              </a:rPr>
              <a:t>, 135(4), 581–588. https://doi.org/10.1007/s00401-018-1918-0</a:t>
            </a:r>
            <a:endParaRPr sz="2000">
              <a:solidFill>
                <a:schemeClr val="dk1"/>
              </a:solidFill>
            </a:endParaRPr>
          </a:p>
          <a:p>
            <a:pPr indent="-355600" lvl="0" marL="457200" rtl="0" algn="l">
              <a:lnSpc>
                <a:spcPct val="140013"/>
              </a:lnSpc>
              <a:spcBef>
                <a:spcPts val="0"/>
              </a:spcBef>
              <a:spcAft>
                <a:spcPts val="0"/>
              </a:spcAft>
              <a:buClr>
                <a:schemeClr val="dk1"/>
              </a:buClr>
              <a:buSzPts val="2000"/>
              <a:buAutoNum type="arabicPeriod"/>
            </a:pPr>
            <a:r>
              <a:rPr lang="en-US" sz="2000">
                <a:solidFill>
                  <a:schemeClr val="dk1"/>
                </a:solidFill>
              </a:rPr>
              <a:t>Ostrom, Q. T., et al. (2019). CBTRUS Statistical Report. </a:t>
            </a:r>
            <a:r>
              <a:rPr i="1" lang="en-US" sz="2000">
                <a:solidFill>
                  <a:schemeClr val="dk1"/>
                </a:solidFill>
              </a:rPr>
              <a:t>Neuro-Oncology</a:t>
            </a:r>
            <a:r>
              <a:rPr lang="en-US" sz="2000">
                <a:solidFill>
                  <a:schemeClr val="dk1"/>
                </a:solidFill>
              </a:rPr>
              <a:t>, 21(Suppl 5), v1–v100. https://doi.org/10.1093/neuonc/noz150</a:t>
            </a:r>
            <a:endParaRPr sz="2000">
              <a:solidFill>
                <a:schemeClr val="dk1"/>
              </a:solidFill>
            </a:endParaRPr>
          </a:p>
          <a:p>
            <a:pPr indent="-355600" lvl="0" marL="457200" rtl="0" algn="l">
              <a:lnSpc>
                <a:spcPct val="140013"/>
              </a:lnSpc>
              <a:spcBef>
                <a:spcPts val="0"/>
              </a:spcBef>
              <a:spcAft>
                <a:spcPts val="0"/>
              </a:spcAft>
              <a:buClr>
                <a:schemeClr val="dk1"/>
              </a:buClr>
              <a:buSzPts val="2000"/>
              <a:buAutoNum type="arabicPeriod"/>
            </a:pPr>
            <a:r>
              <a:rPr lang="en-US" sz="2000">
                <a:solidFill>
                  <a:schemeClr val="dk1"/>
                </a:solidFill>
              </a:rPr>
              <a:t>Brat, D. J., et al. (2015). Comprehensive, integrative genomic analysis of diffuse lower-grade gliomas. </a:t>
            </a:r>
            <a:r>
              <a:rPr i="1" lang="en-US" sz="2000">
                <a:solidFill>
                  <a:schemeClr val="dk1"/>
                </a:solidFill>
              </a:rPr>
              <a:t>NEJM</a:t>
            </a:r>
            <a:r>
              <a:rPr lang="en-US" sz="2000">
                <a:solidFill>
                  <a:schemeClr val="dk1"/>
                </a:solidFill>
              </a:rPr>
              <a:t>, 372(26), 2481–2498. https</a:t>
            </a:r>
            <a:r>
              <a:rPr lang="en-US" sz="2000">
                <a:solidFill>
                  <a:schemeClr val="dk1"/>
                </a:solidFill>
              </a:rPr>
              <a:t>:</a:t>
            </a:r>
            <a:r>
              <a:rPr lang="en-US" sz="2000">
                <a:solidFill>
                  <a:schemeClr val="dk1"/>
                </a:solidFill>
              </a:rPr>
              <a:t>//doi.org/10.1056/NEJMoa1402121</a:t>
            </a:r>
            <a:endParaRPr sz="2000">
              <a:solidFill>
                <a:schemeClr val="dk1"/>
              </a:solidFill>
            </a:endParaRPr>
          </a:p>
          <a:p>
            <a:pPr indent="-355600" lvl="0" marL="457200" rtl="0" algn="l">
              <a:lnSpc>
                <a:spcPct val="140013"/>
              </a:lnSpc>
              <a:spcBef>
                <a:spcPts val="0"/>
              </a:spcBef>
              <a:spcAft>
                <a:spcPts val="0"/>
              </a:spcAft>
              <a:buClr>
                <a:schemeClr val="dk1"/>
              </a:buClr>
              <a:buSzPts val="2000"/>
              <a:buAutoNum type="arabicPeriod"/>
            </a:pPr>
            <a:r>
              <a:rPr lang="en-US" sz="2000">
                <a:solidFill>
                  <a:schemeClr val="dk1"/>
                </a:solidFill>
              </a:rPr>
              <a:t>Cairncross, J. G., et al. (2014). Benefit of chemotherapy in 1p/19q-codeleted oligodendrogliomas. </a:t>
            </a:r>
            <a:r>
              <a:rPr i="1" lang="en-US" sz="2000">
                <a:solidFill>
                  <a:schemeClr val="dk1"/>
                </a:solidFill>
              </a:rPr>
              <a:t>NEJM</a:t>
            </a:r>
            <a:r>
              <a:rPr lang="en-US" sz="2000">
                <a:solidFill>
                  <a:schemeClr val="dk1"/>
                </a:solidFill>
              </a:rPr>
              <a:t>, 370(18), 1694–1701. https://doi.org/10.1056/NEJMoa1404919</a:t>
            </a:r>
            <a:endParaRPr sz="2000">
              <a:solidFill>
                <a:schemeClr val="dk1"/>
              </a:solidFill>
            </a:endParaRPr>
          </a:p>
          <a:p>
            <a:pPr indent="-355600" lvl="0" marL="457200" rtl="0" algn="l">
              <a:lnSpc>
                <a:spcPct val="140013"/>
              </a:lnSpc>
              <a:spcBef>
                <a:spcPts val="0"/>
              </a:spcBef>
              <a:spcAft>
                <a:spcPts val="0"/>
              </a:spcAft>
              <a:buClr>
                <a:schemeClr val="dk1"/>
              </a:buClr>
              <a:buSzPts val="2000"/>
              <a:buAutoNum type="arabicPeriod"/>
            </a:pPr>
            <a:r>
              <a:rPr lang="en-US" sz="2000">
                <a:solidFill>
                  <a:schemeClr val="dk1"/>
                </a:solidFill>
              </a:rPr>
              <a:t>Gillies, R. J., Kinahan, P. E., &amp; Hricak, H. (2016). Radiomics: Images are more than pictures. </a:t>
            </a:r>
            <a:r>
              <a:rPr i="1" lang="en-US" sz="2000">
                <a:solidFill>
                  <a:schemeClr val="dk1"/>
                </a:solidFill>
              </a:rPr>
              <a:t>Radiology</a:t>
            </a:r>
            <a:r>
              <a:rPr lang="en-US" sz="2000">
                <a:solidFill>
                  <a:schemeClr val="dk1"/>
                </a:solidFill>
              </a:rPr>
              <a:t>, 278(2), 563–577. https://doi.org/10.1148/radiol.2015151169</a:t>
            </a:r>
            <a:endParaRPr sz="2000">
              <a:solidFill>
                <a:schemeClr val="dk1"/>
              </a:solidFill>
            </a:endParaRPr>
          </a:p>
          <a:p>
            <a:pPr indent="-355600" lvl="0" marL="457200" rtl="0" algn="l">
              <a:lnSpc>
                <a:spcPct val="140013"/>
              </a:lnSpc>
              <a:spcBef>
                <a:spcPts val="0"/>
              </a:spcBef>
              <a:spcAft>
                <a:spcPts val="0"/>
              </a:spcAft>
              <a:buClr>
                <a:schemeClr val="dk1"/>
              </a:buClr>
              <a:buSzPts val="2000"/>
              <a:buAutoNum type="arabicPeriod"/>
            </a:pPr>
            <a:r>
              <a:rPr lang="en-US" sz="2000">
                <a:solidFill>
                  <a:schemeClr val="dk1"/>
                </a:solidFill>
              </a:rPr>
              <a:t>Kickingereder, P., et al. (2016). Radiomic profiling of glioblastoma. </a:t>
            </a:r>
            <a:r>
              <a:rPr i="1" lang="en-US" sz="2000">
                <a:solidFill>
                  <a:schemeClr val="dk1"/>
                </a:solidFill>
              </a:rPr>
              <a:t>Neuro-Oncology</a:t>
            </a:r>
            <a:r>
              <a:rPr lang="en-US" sz="2000">
                <a:solidFill>
                  <a:schemeClr val="dk1"/>
                </a:solidFill>
              </a:rPr>
              <a:t>, 18(2), 220–227. https://doi.org/10.1093/neuonc/now128</a:t>
            </a:r>
            <a:endParaRPr sz="2000">
              <a:solidFill>
                <a:schemeClr val="dk1"/>
              </a:solidFill>
            </a:endParaRPr>
          </a:p>
          <a:p>
            <a:pPr indent="0" lvl="0" marL="0" marR="0" rtl="0" algn="l">
              <a:lnSpc>
                <a:spcPct val="140013"/>
              </a:lnSpc>
              <a:spcBef>
                <a:spcPts val="0"/>
              </a:spcBef>
              <a:spcAft>
                <a:spcPts val="0"/>
              </a:spcAft>
              <a:buNone/>
            </a:pPr>
            <a:r>
              <a:t/>
            </a:r>
            <a:endParaRPr sz="1437">
              <a:latin typeface="Poppins"/>
              <a:ea typeface="Poppins"/>
              <a:cs typeface="Poppins"/>
              <a:sym typeface="Poppins"/>
            </a:endParaRPr>
          </a:p>
        </p:txBody>
      </p:sp>
      <p:sp>
        <p:nvSpPr>
          <p:cNvPr id="393" name="Google Shape;393;p14"/>
          <p:cNvSpPr txBox="1"/>
          <p:nvPr/>
        </p:nvSpPr>
        <p:spPr>
          <a:xfrm>
            <a:off x="6132537" y="1150724"/>
            <a:ext cx="6022800" cy="735900"/>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lang="en-US" sz="4780">
                <a:solidFill>
                  <a:srgbClr val="593C8F"/>
                </a:solidFill>
                <a:latin typeface="League Spartan"/>
                <a:ea typeface="League Spartan"/>
                <a:cs typeface="League Spartan"/>
                <a:sym typeface="League Spartan"/>
              </a:rPr>
              <a:t>REFERENCES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1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0309" r="-20309" t="0"/>
            </a:stretch>
          </a:blipFill>
          <a:ln>
            <a:noFill/>
          </a:ln>
        </p:spPr>
      </p:sp>
      <p:sp>
        <p:nvSpPr>
          <p:cNvPr id="399" name="Google Shape;399;p15"/>
          <p:cNvSpPr txBox="1"/>
          <p:nvPr/>
        </p:nvSpPr>
        <p:spPr>
          <a:xfrm>
            <a:off x="4072171" y="4455900"/>
            <a:ext cx="10143600" cy="12393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0" i="0" lang="en-US" sz="8051" u="none" cap="none" strike="noStrike">
                <a:solidFill>
                  <a:srgbClr val="593C8F"/>
                </a:solidFill>
                <a:latin typeface="League Spartan"/>
                <a:ea typeface="League Spartan"/>
                <a:cs typeface="League Spartan"/>
                <a:sym typeface="League Spartan"/>
              </a:rPr>
              <a:t>THANK YOU</a:t>
            </a:r>
            <a:endParaRPr/>
          </a:p>
        </p:txBody>
      </p:sp>
      <p:cxnSp>
        <p:nvCxnSpPr>
          <p:cNvPr id="400" name="Google Shape;400;p15"/>
          <p:cNvCxnSpPr/>
          <p:nvPr/>
        </p:nvCxnSpPr>
        <p:spPr>
          <a:xfrm>
            <a:off x="5897880" y="5676900"/>
            <a:ext cx="6492300" cy="0"/>
          </a:xfrm>
          <a:prstGeom prst="straightConnector1">
            <a:avLst/>
          </a:prstGeom>
          <a:noFill/>
          <a:ln cap="flat" cmpd="sng" w="38100">
            <a:solidFill>
              <a:srgbClr val="000000"/>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